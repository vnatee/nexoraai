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94360"/>
            <a:ext cx="2834640" cy="757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26280" y="1051560"/>
            <a:ext cx="6812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Noto Sans Thai"/>
              </a:defRPr>
            </a:pPr>
            <a:r>
              <a:t>Enterprise AI Agent</a:t>
            </a:r>
            <a:br/>
            <a:r>
              <a:t>&amp; Knowledge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3712" y="2788920"/>
            <a:ext cx="6355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CADBEC"/>
                </a:solidFill>
                <a:latin typeface="Noto Sans Thai"/>
              </a:defRPr>
            </a:pPr>
            <a:r>
              <a:t>เปลี่ยนความรู้และระบบงานขององค์กร</a:t>
            </a:r>
            <a:br/>
            <a:r>
              <a:t>ให้เป็น AI ที่ค้นหา วิเคราะห์ และลงมือทำได้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3712" y="4315968"/>
            <a:ext cx="2057400" cy="50292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4315968"/>
            <a:ext cx="2057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PRODUCT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5074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8CB7E1"/>
                </a:solidFill>
                <a:latin typeface="Noto Sans Thai"/>
              </a:defRPr>
            </a:pPr>
            <a:r>
              <a:t>Private • Governed • Flexible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6080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0A4B8"/>
                </a:solidFill>
                <a:latin typeface="Noto Sans Thai"/>
              </a:defRPr>
            </a:pPr>
            <a:r>
              <a:t>Sales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AI Platform เดียว สำหรับความรู้ คน และระบบงาน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F2A37"/>
                </a:solidFill>
                <a:latin typeface="Noto Sans Thai"/>
              </a:defRPr>
            </a:pPr>
            <a:r>
              <a:t>InsightSphere ช่วยให้องค์กรสร้าง AI Agent ที่ตอบจากข้อมูลจริง เชื่อมต่อระบบเดิม</a:t>
            </a:r>
            <a:br/>
            <a:r>
              <a:t>และควบคุมสิทธิ์ได้ โดยเลือกใช้ Cloud, Local หรือ Hybrid ได้ตามนโยบาย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788920"/>
            <a:ext cx="3474720" cy="21488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788920"/>
            <a:ext cx="82296" cy="214884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3017520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175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KNOW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99008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ค้นหาและอ้างอิงความรู้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2907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RAG พร้อม Citation ระดับไฟล์/หน้า และขอบเขตข้อมูล Personal, Team, Global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2788920"/>
            <a:ext cx="3474720" cy="21488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43983" y="2788920"/>
            <a:ext cx="82296" cy="2148840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0015" y="3017520"/>
            <a:ext cx="566928" cy="36576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5" y="30175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THINK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99008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วิเคราะห์หลายรูปแบบ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1" y="3538728"/>
            <a:ext cx="2907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ข้อความ เอกสาร ภาพ OCR และ Evidence Matrix สำหรับงานตรวจข้อกำหนด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2788920"/>
            <a:ext cx="3474720" cy="21488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6175" y="2788920"/>
            <a:ext cx="82296" cy="2148840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22207" y="301752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7" y="30175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299008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Agent เชื่อมต่อและลงมือทำ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3" y="3538728"/>
            <a:ext cx="2907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เรียก Tool, MCP, Database, API, Mail และ Messaging ภายใต้นโยบายองค์กร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394960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37EDA"/>
                </a:solidFill>
                <a:latin typeface="Noto Sans Thai"/>
              </a:defRPr>
            </a:pPr>
            <a:r>
              <a:t>ผลลัพธ์: จาก “ทดลองใช้ AI” สู่ “ระบบงาน AI ที่บริหารจัดการได้”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CUSTOMER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ความท้าทายที่องค์กรพบเมื่อเริ่มใช้ Generative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3736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37360"/>
            <a:ext cx="82296" cy="112471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196596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ข้อมูลกระจัดกระจาย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เอกสารอยู่หลายทีม หลายระบบ และค้นหาคำตอบที่เชื่อถือได้ยาก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73736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737360"/>
            <a:ext cx="82296" cy="1124712"/>
          </a:xfrm>
          <a:prstGeom prst="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1384" y="1965960"/>
            <a:ext cx="566928" cy="365760"/>
          </a:xfrm>
          <a:prstGeom prst="round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9659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193852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คำตอบไม่มีหลักฐาน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8716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AI ตอบได้ แต่ผู้ใช้ตรวจสอบแหล่งข้อมูลและหน้าที่อ้างอิงไม่ได้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15468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154680"/>
            <a:ext cx="82296" cy="1124712"/>
          </a:xfrm>
          <a:prstGeom prst="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3383280"/>
            <a:ext cx="566928" cy="365760"/>
          </a:xfrm>
          <a:prstGeom prst="round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3832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35584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สิทธิ์เข้าถึงซับซ้อน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0448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ข้อมูลแต่ละทีมมีระดับความลับต่างกัน และต้องป้องกันการเห็นข้อมูลข้ามทีม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15468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3154680"/>
            <a:ext cx="82296" cy="112471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01384" y="338328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33832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335584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เชื่อมต่อระบบยาก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90448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AI ที่ตอบอย่างเดียวไม่ลดขั้นตอน หากยังเรียก API, Database หรือ Tool ไม่ได้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457200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" y="4572000"/>
            <a:ext cx="82296" cy="112471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7824" y="480060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8006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77316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Vendor Lock-in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2180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ข้อกำหนดด้านต้นทุน ข้อมูล และโมเดลเปลี่ยนเร็ว แต่ระบบผูกกับผู้ให้บริการรายเดียว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457200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45352" y="4572000"/>
            <a:ext cx="82296" cy="1124712"/>
          </a:xfrm>
          <a:prstGeom prst="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01384" y="4800600"/>
            <a:ext cx="566928" cy="365760"/>
          </a:xfrm>
          <a:prstGeom prst="round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1384" y="48006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6328" y="477316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Production 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32180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ขาด Audit, Policy, Usage และวิธีบริหาร Agent/Model แบบศูนย์กลาง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2C6DA"/>
                </a:solidFill>
                <a:latin typeface="Noto Sans Thai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Thai"/>
              </a:defRPr>
            </a:pPr>
            <a:r>
              <a:t>แพลตฟอร์มที่รวม Knowledge, Agent และ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2C6DA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BBDE"/>
                </a:solidFill>
                <a:latin typeface="Noto Sans Thai"/>
              </a:defRPr>
            </a:pPr>
            <a:r>
              <a:t>USER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627632"/>
            <a:ext cx="9098280" cy="685800"/>
          </a:xfrm>
          <a:prstGeom prst="roundRect">
            <a:avLst/>
          </a:prstGeom>
          <a:solidFill>
            <a:srgbClr val="1D3753"/>
          </a:solidFill>
          <a:ln>
            <a:solidFill>
              <a:srgbClr val="1D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773936"/>
            <a:ext cx="8732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Chat &amp; Ask  •  File / Image / Clipboard  •  Citation Viewer  •  Admin 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1508760" cy="56692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508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AI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606040"/>
            <a:ext cx="9098280" cy="566928"/>
          </a:xfrm>
          <a:prstGeom prst="roundRect">
            <a:avLst/>
          </a:prstGeom>
          <a:solidFill>
            <a:srgbClr val="182F48"/>
          </a:solidFill>
          <a:ln>
            <a:solidFill>
              <a:srgbClr val="18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270662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7E3EF"/>
                </a:solidFill>
                <a:latin typeface="Noto Sans Thai"/>
              </a:defRPr>
            </a:pPr>
            <a:r>
              <a:t>Per-Agent Model • Prompt • RAG Policy • Tool Policy • LangGraph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10712"/>
            <a:ext cx="1508760" cy="566928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1508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KNOWLEDGE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3410712"/>
            <a:ext cx="9098280" cy="566928"/>
          </a:xfrm>
          <a:prstGeom prst="roundRect">
            <a:avLst/>
          </a:prstGeom>
          <a:solidFill>
            <a:srgbClr val="182F48"/>
          </a:solidFill>
          <a:ln>
            <a:solidFill>
              <a:srgbClr val="18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3511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7E3EF"/>
                </a:solidFill>
                <a:latin typeface="Noto Sans Thai"/>
              </a:defRPr>
            </a:pPr>
            <a:r>
              <a:t>Document Processing • OCR Routing • Vector Search • Evidence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15384"/>
            <a:ext cx="1508760" cy="566928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15384"/>
            <a:ext cx="1508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INTEGRATIONS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4215384"/>
            <a:ext cx="9098280" cy="566928"/>
          </a:xfrm>
          <a:prstGeom prst="roundRect">
            <a:avLst/>
          </a:prstGeom>
          <a:solidFill>
            <a:srgbClr val="182F48"/>
          </a:solidFill>
          <a:ln>
            <a:solidFill>
              <a:srgbClr val="18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2" y="431596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7E3EF"/>
                </a:solidFill>
                <a:latin typeface="Noto Sans Thai"/>
              </a:defRPr>
            </a:pPr>
            <a:r>
              <a:t>MCP • REST API • Database • Mail • Messaging • Sub-Agent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20056"/>
            <a:ext cx="1508760" cy="566928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20056"/>
            <a:ext cx="1508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GOVERNANCE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5020056"/>
            <a:ext cx="9098280" cy="566928"/>
          </a:xfrm>
          <a:prstGeom prst="roundRect">
            <a:avLst/>
          </a:prstGeom>
          <a:solidFill>
            <a:srgbClr val="182F48"/>
          </a:solidFill>
          <a:ln>
            <a:solidFill>
              <a:srgbClr val="18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0592" y="51206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7E3EF"/>
                </a:solidFill>
                <a:latin typeface="Noto Sans Thai"/>
              </a:defRPr>
            </a:pPr>
            <a:r>
              <a:t>Local + Entra ID • Team/Data Group ACL • Audit • Usage • Secrets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9893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BBDE"/>
                </a:solidFill>
                <a:latin typeface="Noto Sans Thai"/>
              </a:defRPr>
            </a:pPr>
            <a: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943600"/>
            <a:ext cx="9098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Azure  |  Local Containers  |  Hybrid Providers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6AEC6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KNOWLEDGE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Enterprise Knowledge ที่ตอบได้และตรวจสอบได้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64792"/>
            <a:ext cx="3456432" cy="16002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64792"/>
            <a:ext cx="82296" cy="160020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รับข้อมูลหลายขอบเขต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8895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Personal สำหรับผู้ใช้, Team + Data Group สำหรับงานร่วมกัน และ Global สำหรับความรู้ส่วนกลาง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64792"/>
            <a:ext cx="3456432" cy="1600200"/>
          </a:xfrm>
          <a:prstGeom prst="roundRect">
            <a:avLst/>
          </a:prstGeom>
          <a:solidFill>
            <a:srgbClr val="E6FA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764792"/>
            <a:ext cx="82296" cy="1600200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Document Processing &amp; 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28895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Routing ตามชนิดไฟล์ ทีม และลำดับความสำคัญ พร้อม Local parser, Docling และผู้ให้บริการ OCR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64792"/>
            <a:ext cx="3456432" cy="16002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764792"/>
            <a:ext cx="82296" cy="1600200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Citation และ Page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28895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คำตอบเชื่อมกลับไปยังไฟล์และหน้าต้นทาง พร้อม authorization ก่อนเปิดเอกสารทุกครั้ง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วงจรข้อมูลที่ควบคุมได้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15968"/>
            <a:ext cx="1737360" cy="65836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4015" y="43982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315968"/>
            <a:ext cx="1737360" cy="658368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EXTRACT / 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3982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93792" y="4315968"/>
            <a:ext cx="1737360" cy="658368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3792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EMBED +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3982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1504" y="4315968"/>
            <a:ext cx="1737360" cy="658368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RETRIEVE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43982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9216" y="4315968"/>
            <a:ext cx="1737360" cy="65836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9216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CITE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4406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7EDA"/>
                </a:solidFill>
                <a:latin typeface="Noto Sans Thai"/>
              </a:defRPr>
            </a:pPr>
            <a:r>
              <a:t>Benefit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394960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A37"/>
                </a:solidFill>
                <a:latin typeface="Noto Sans Thai"/>
              </a:defRPr>
            </a:pPr>
            <a:r>
              <a:t>ลดเวลาค้นหา • เพิ่มความน่าเชื่อถือ • รักษาสิทธิ์ข้อมูล • รองรับการตรวจสอบย้อนหลัง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AI Agent ที่ไม่ได้แค่ตอบ แต่ทำงานร่วมกับระบบองค์กร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190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F2A37"/>
                </a:solidFill>
                <a:latin typeface="Noto Sans Thai"/>
              </a:defRPr>
            </a:pPr>
            <a:r>
              <a:t>กำหนด Agent แยกตามบทบาท พร้อม Model, Prompt, Data Scope และ Tool ที่เหมาะกับงาน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578608"/>
            <a:ext cx="249631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770632"/>
            <a:ext cx="457200" cy="45720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7706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614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A37"/>
                </a:solidFill>
                <a:latin typeface="Noto Sans Thai"/>
              </a:defRPr>
            </a:pPr>
            <a:r>
              <a:t>HR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456432"/>
            <a:ext cx="20391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ตอบนโยบายพนักงาน</a:t>
            </a:r>
            <a:br/>
            <a:r>
              <a:t>จากเอกสารที่ได้รับสิทธิ์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2578608"/>
            <a:ext cx="249631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4" y="2770632"/>
            <a:ext cx="457200" cy="45720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7706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27614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A37"/>
                </a:solidFill>
                <a:latin typeface="Noto Sans Thai"/>
              </a:defRPr>
            </a:pPr>
            <a:r>
              <a:t>Presales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456432"/>
            <a:ext cx="20391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ค้นข้อมูลผลิตภัณฑ์</a:t>
            </a:r>
            <a:br/>
            <a:r>
              <a:t>และสร้างคำตอบเชิงหลักฐาน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578608"/>
            <a:ext cx="249631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2770632"/>
            <a:ext cx="457200" cy="45720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7706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7614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A37"/>
                </a:solidFill>
                <a:latin typeface="Noto Sans Thai"/>
              </a:defRPr>
            </a:pPr>
            <a:r>
              <a:t>Operations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456432"/>
            <a:ext cx="20391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ตรวจ Monitor / Log</a:t>
            </a:r>
            <a:br/>
            <a:r>
              <a:t>ผ่าน MCP และสรุปเหตุการณ์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578608"/>
            <a:ext cx="249631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2770632"/>
            <a:ext cx="457200" cy="457200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7706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27614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A37"/>
                </a:solidFill>
                <a:latin typeface="Noto Sans Thai"/>
              </a:defRPr>
            </a:pPr>
            <a:r>
              <a:t>Data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3456432"/>
            <a:ext cx="20391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Query ฐานข้อมูลแบบ read-only</a:t>
            </a:r>
            <a:br/>
            <a:r>
              <a:t>และสร้าง Chart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00176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4892040"/>
            <a:ext cx="10561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Tool policy จำกัดจำนวนครั้ง เวลา และแหล่งที่เรียกใช้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6752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257800"/>
            <a:ext cx="10561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Sub-agent delegation พร้อมป้องกัน cycle และ depth เกินกำหนด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73328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23560"/>
            <a:ext cx="10561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Audit event เชื่อม model, tool และ trace โดยไม่เก็บ raw secrets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จากเอกสารข้อกำหนด สู่ Evidence Matrix ที่ตรวจสอบได้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64792"/>
            <a:ext cx="2880360" cy="3611880"/>
          </a:xfrm>
          <a:prstGeom prst="round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7BBDE"/>
                </a:solidFill>
                <a:latin typeface="Noto Sans Thai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2240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Thai"/>
              </a:defRPr>
            </a:pPr>
            <a:r>
              <a:t>ข้อกำหนดงาน</a:t>
            </a:r>
            <a:br/>
            <a:r>
              <a:t>TOR / RFP / Policy</a:t>
            </a:r>
            <a:br/>
            <a:r>
              <a:t>Checklist /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ED2E6"/>
                </a:solidFill>
                <a:latin typeface="Noto Sans Thai"/>
              </a:defRPr>
            </a:pPr>
            <a:r>
              <a:t>รองรับเอกสารแนบชั่วคราว</a:t>
            </a:r>
            <a:br/>
            <a:r>
              <a:t>หรือ Knowledge ที่องค์กรจัดเก็บ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320040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237EDA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64792"/>
            <a:ext cx="7269480" cy="3611880"/>
          </a:xfrm>
          <a:prstGeom prst="roundRect">
            <a:avLst/>
          </a:prstGeom>
          <a:solidFill>
            <a:srgbClr val="F4F8FC"/>
          </a:solidFill>
          <a:ln>
            <a:solidFill>
              <a:srgbClr val="D2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2057400"/>
            <a:ext cx="1874519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148840"/>
            <a:ext cx="178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Requirement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2057400"/>
            <a:ext cx="960120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148840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1192" y="2057400"/>
            <a:ext cx="1874519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2148840"/>
            <a:ext cx="178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712" y="2057400"/>
            <a:ext cx="1143000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14884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68712" y="2057400"/>
            <a:ext cx="1051560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14432" y="2148840"/>
            <a:ext cx="9601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Confidence /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2587752"/>
            <a:ext cx="187451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9704" y="2724912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ระบบต้องมี Audit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2587752"/>
            <a:ext cx="960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724912"/>
            <a:ext cx="813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พบ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51192" y="2587752"/>
            <a:ext cx="187451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24344" y="2724912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Agent audit event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2" y="2587752"/>
            <a:ext cx="1143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2724912"/>
            <a:ext cx="996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Guide.pdf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68712" y="2587752"/>
            <a:ext cx="1051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41864" y="2724912"/>
            <a:ext cx="905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6552" y="3300984"/>
            <a:ext cx="1874519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438144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รองรับ Local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3300984"/>
            <a:ext cx="960120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3438144"/>
            <a:ext cx="813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พบ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51192" y="3300984"/>
            <a:ext cx="1874519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24344" y="3438144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Compose runtime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25712" y="3300984"/>
            <a:ext cx="1143000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3438144"/>
            <a:ext cx="996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Arch.pdf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68712" y="3300984"/>
            <a:ext cx="1051560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41864" y="3438144"/>
            <a:ext cx="905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16552" y="4014216"/>
            <a:ext cx="187451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9704" y="4151376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ข้อกำหนดเฉพาะ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4014216"/>
            <a:ext cx="960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64224" y="4151376"/>
            <a:ext cx="813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C33737"/>
                </a:solidFill>
                <a:latin typeface="Noto Sans Thai"/>
              </a:defRPr>
            </a:pPr>
            <a:r>
              <a:t>ไม่พบ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51192" y="4014216"/>
            <a:ext cx="187451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24344" y="4151376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25712" y="4014216"/>
            <a:ext cx="1143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98864" y="4151376"/>
            <a:ext cx="996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68712" y="4014216"/>
            <a:ext cx="1051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41864" y="4151376"/>
            <a:ext cx="905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C33737"/>
                </a:solidFill>
                <a:latin typeface="Noto Sans Thai"/>
              </a:defRPr>
            </a:pPr>
            <a:r>
              <a:t>Gap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715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37EDA"/>
                </a:solidFill>
                <a:latin typeface="Noto Sans Thai"/>
              </a:defRPr>
            </a:pPr>
            <a:r>
              <a:t>Benefit: ตรวจข้อกำหนดได้เป็นระบบ เห็นทั้งหลักฐานและช่องว่าง ลดความเสี่ยงจากคำตอบที่ไม่มีข้อมูลรองรับ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2C6DA"/>
                </a:solidFill>
                <a:latin typeface="Noto Sans Thai"/>
              </a:defRPr>
            </a:pPr>
            <a: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Thai"/>
              </a:defRPr>
            </a:pPr>
            <a:r>
              <a:t>Security &amp; Governance เป็นส่วนหนึ่งของ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2C6DA"/>
                </a:solidFill>
                <a:latin typeface="Noto Sans Thai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64792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1"/>
            <a:ext cx="566928" cy="34747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7802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Local User + Microsoft Entra ID</a:t>
            </a:r>
            <a:br/>
            <a:r>
              <a:t>รองรับ bootstrap super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764792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59" y="1993391"/>
            <a:ext cx="566928" cy="347472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99339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47802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Team, Data Group, Personal/Global ACL</a:t>
            </a:r>
            <a:br/>
            <a:r>
              <a:t>ตรวจสิทธิ์ทั้งค้นหาและเปิด Citation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764792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31352" y="1993391"/>
            <a:ext cx="566928" cy="347472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199339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47802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Fernet encryption สำหรับ provider key</a:t>
            </a:r>
            <a:br/>
            <a:r>
              <a:t>ไม่ส่ง secret กลับ frontend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39311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3867911"/>
            <a:ext cx="566928" cy="347472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86791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35254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Allowlist, timeout, call limit</a:t>
            </a:r>
            <a:br/>
            <a:r>
              <a:t>read-only database enforcement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639311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9159" y="3867911"/>
            <a:ext cx="566928" cy="34747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86791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35254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Trace model/tool activity</a:t>
            </a:r>
            <a:br/>
            <a:r>
              <a:t>พร้อม metadata โดยไม่เก็บ raw prompt/output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639311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31352" y="3867911"/>
            <a:ext cx="566928" cy="347472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386791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ISOLATION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35254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History และ attachment แยกตาม user</a:t>
            </a:r>
            <a:br/>
            <a:r>
              <a:t>conversation และ data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704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Designed for enterprise control — ไม่ลดทอน Security Contract เพื่อความสะดวก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6AEC6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MODEL FLEXIBILITY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เลือก Model และ Provider ให้เหมาะกับแต่ละ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F2A37"/>
                </a:solidFill>
                <a:latin typeface="Noto Sans Thai"/>
              </a:defRPr>
            </a:pPr>
            <a:r>
              <a:t>ไม่บังคับให้ทุกงานใช้โมเดลเดียว — แยก Chat Model, Embedding และ Processing Provider 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3456432" cy="2240280"/>
          </a:xfrm>
          <a:prstGeom prst="roundRect">
            <a:avLst/>
          </a:prstGeom>
          <a:solidFill>
            <a:srgbClr val="E8F3FF"/>
          </a:solidFill>
          <a:ln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24912"/>
            <a:ext cx="2999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EDA"/>
                </a:solidFill>
                <a:latin typeface="Noto Sans Thai"/>
              </a:defRPr>
            </a:pPr>
            <a:r>
              <a:t>Cloud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7614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Azure OpenAI</a:t>
            </a:r>
            <a:br/>
            <a:r>
              <a:t>OpenAI</a:t>
            </a:r>
            <a:br/>
            <a:r>
              <a:t>Gemini</a:t>
            </a:r>
            <a:br/>
            <a:r>
              <a:t>Anthropic</a:t>
            </a:r>
            <a:br/>
            <a:r>
              <a:t>OpenRouter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468880"/>
            <a:ext cx="3456432" cy="2240280"/>
          </a:xfrm>
          <a:prstGeom prst="roundRect">
            <a:avLst/>
          </a:prstGeom>
          <a:solidFill>
            <a:srgbClr val="E9F8F0"/>
          </a:solidFill>
          <a:ln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724912"/>
            <a:ext cx="2999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C8E5B"/>
                </a:solidFill>
                <a:latin typeface="Noto Sans Thai"/>
              </a:defRPr>
            </a:pPr>
            <a:r>
              <a:t>Local /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3246120"/>
            <a:ext cx="27614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Ollama</a:t>
            </a:r>
            <a:br/>
            <a:r>
              <a:t>vLLM</a:t>
            </a:r>
            <a:br/>
            <a:r>
              <a:t>LocalAI</a:t>
            </a:r>
            <a:br/>
            <a:r>
              <a:t>OpenAI-compatible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2468880"/>
            <a:ext cx="3456432" cy="2240280"/>
          </a:xfrm>
          <a:prstGeom prst="roundRect">
            <a:avLst/>
          </a:prstGeom>
          <a:solidFill>
            <a:srgbClr val="FFF4E5"/>
          </a:solidFill>
          <a:ln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724912"/>
            <a:ext cx="2999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8218"/>
                </a:solidFill>
                <a:latin typeface="Noto Sans Thai"/>
              </a:defRPr>
            </a:pPr>
            <a:r>
              <a:t>Specialized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3246120"/>
            <a:ext cx="27614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Groq</a:t>
            </a:r>
            <a:br/>
            <a:r>
              <a:t>Mistral</a:t>
            </a:r>
            <a:br/>
            <a:r>
              <a:t>DeepSeek</a:t>
            </a:r>
            <a:br/>
            <a:r>
              <a:t>Together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18464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51560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Portal ทดสอบ Tool Calling และ Vision capability ก่อนเปิดใช้งาน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53516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25440"/>
            <a:ext cx="1051560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กำหนด Model ต่อ Agent เพื่อสมดุล Cost, Latency, Privacy และ Quality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8568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75960"/>
            <a:ext cx="1051560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เปลี่ยน provider ได้โดยรักษา Agent, ACL และ Knowledge architecture เดิม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Deployment ที่ยืดหยุ่น: Azure, Local หรือ Hybrid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33375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3337560" cy="65836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337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Thai"/>
              </a:defRPr>
            </a:pPr>
            <a:r>
              <a:t>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834640"/>
            <a:ext cx="264261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1F2A37"/>
                </a:solidFill>
                <a:latin typeface="Noto Sans Thai"/>
              </a:defRPr>
            </a:pPr>
            <a:r>
              <a:t>Azure OpenAI</a:t>
            </a:r>
            <a:br/>
            <a:r>
              <a:t>Azure AI Search</a:t>
            </a:r>
            <a:br/>
            <a:r>
              <a:t>Blob / Cosmos-compatible</a:t>
            </a:r>
            <a:br/>
            <a:r>
              <a:t>Entra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828800"/>
            <a:ext cx="33375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07992" y="1828800"/>
            <a:ext cx="3337560" cy="658368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828800"/>
            <a:ext cx="3337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Thai"/>
              </a:defRPr>
            </a:pPr>
            <a:r>
              <a:t>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2834640"/>
            <a:ext cx="264261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1F2A37"/>
                </a:solidFill>
                <a:latin typeface="Noto Sans Thai"/>
              </a:defRPr>
            </a:pPr>
            <a:r>
              <a:t>Docker Compose</a:t>
            </a:r>
            <a:br/>
            <a:r>
              <a:t>MongoDB + MinIO</a:t>
            </a:r>
            <a:br/>
            <a:r>
              <a:t>Qdrant + Ollama/BGE-M3</a:t>
            </a:r>
            <a:br/>
            <a:r>
              <a:t>Local 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828800"/>
            <a:ext cx="33375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2752" y="1828800"/>
            <a:ext cx="3337560" cy="658368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28800"/>
            <a:ext cx="3337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Thai"/>
              </a:defRPr>
            </a:pPr>
            <a:r>
              <a:t>HYBRID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2834640"/>
            <a:ext cx="264261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1F2A37"/>
                </a:solidFill>
                <a:latin typeface="Noto Sans Thai"/>
              </a:defRPr>
            </a:pPr>
            <a:r>
              <a:t>Local data plane</a:t>
            </a:r>
            <a:br/>
            <a:r>
              <a:t>เลือก Cloud LLM</a:t>
            </a:r>
            <a:br/>
            <a:r>
              <a:t>หรือ Local Model</a:t>
            </a:r>
            <a:br/>
            <a:r>
              <a:t>ตาม Agent /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349240"/>
            <a:ext cx="10744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37EDA"/>
                </a:solidFill>
                <a:latin typeface="Noto Sans Thai"/>
              </a:defRPr>
            </a:pPr>
            <a:r>
              <a:t>แยก Provider Interface ชัดเจน — รักษา Azure behavior พร้อมเปิดทางสู่ Self-hosted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ตัวอย่าง Use Case ที่สร้างมูลค่าได้เร็ว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55648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55648"/>
            <a:ext cx="82296" cy="1627632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1984248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8424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Enterprise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05456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ตอบคำถามนโยบาย คู่มือ และความรู้ภายใน พร้อม Citation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755648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3" y="1755648"/>
            <a:ext cx="82296" cy="162763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0015" y="1984248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198424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195681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RFP /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2505456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เปรียบเทียบข้อกำหนดกับหลักฐานใน Knowledge และแสดง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755648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1755648"/>
            <a:ext cx="82296" cy="1627632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22207" y="1984248"/>
            <a:ext cx="566928" cy="36576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198424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1" y="195681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IT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3" y="2505456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ค้น Monitor/Log ผ่าน MCP สรุปเหตุการณ์ และแนะนำขั้นตอนแก้ไข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749039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" y="3749039"/>
            <a:ext cx="82296" cy="1627632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" y="3977639"/>
            <a:ext cx="566928" cy="365760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977639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950207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Data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98847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Query ฐานข้อมูลแบบควบคุมสิทธิ์ สรุปและสร้างกราฟ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3" y="3749039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3983" y="3749039"/>
            <a:ext cx="82296" cy="1627632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00015" y="3977639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0015" y="3977639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59" y="3950207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Presales Copilot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1" y="4498847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ค้น Product Knowledge สร้างคำตอบที่ตรวจสอบแหล่งข้อมูลได้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66175" y="3749039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66175" y="3749039"/>
            <a:ext cx="82296" cy="162763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22207" y="3977639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7" y="3977639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1" y="3950207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Workflow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3" y="4498847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เรียก API, Mail, Messaging และ Sub-agent ตาม Tool policy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2C6DA"/>
                </a:solidFill>
                <a:latin typeface="Noto Sans Thai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Thai"/>
              </a:defRPr>
            </a:pPr>
            <a:r>
              <a:t>Business Benefits ที่เชื่อมโยงกับการวัดผล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2C6DA"/>
                </a:solidFill>
                <a:latin typeface="Noto Sans Thai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64792"/>
            <a:ext cx="1965960" cy="71323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1965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PRODUCTIVITY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10512"/>
            <a:ext cx="5120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ลดเวลาค้นหา สรุป และจัดทำคำตอบซ้ำ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82880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AFCCE7"/>
                </a:solidFill>
                <a:latin typeface="Noto Sans Thai"/>
              </a:defRPr>
            </a:pPr>
            <a:r>
              <a:t>วัด: เวลาเฉลี่ยต่อเคส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43784"/>
            <a:ext cx="1965960" cy="713232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43784"/>
            <a:ext cx="1965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89503"/>
            <a:ext cx="5120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คำตอบมีหลักฐานและเห็นช่องว่างข้อมูล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907791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AFCCE7"/>
                </a:solidFill>
                <a:latin typeface="Noto Sans Thai"/>
              </a:defRPr>
            </a:pPr>
            <a:r>
              <a:t>วัด: acceptance / rework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22776"/>
            <a:ext cx="1965960" cy="713232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1965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68496"/>
            <a:ext cx="5120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สิทธิ์ Agent Tool และข้อมูลบริหารจากศูนย์กลาง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986784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AFCCE7"/>
                </a:solidFill>
                <a:latin typeface="Noto Sans Thai"/>
              </a:defRPr>
            </a:pPr>
            <a:r>
              <a:t>วัด: policy violation / audit coverage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01768"/>
            <a:ext cx="1965960" cy="713232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01768"/>
            <a:ext cx="1965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FLEXIBILITY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047488"/>
            <a:ext cx="5120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เปลี่ยน Model และ Deployment ตามงานได้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065776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AFCCE7"/>
                </a:solidFill>
                <a:latin typeface="Noto Sans Thai"/>
              </a:defRPr>
            </a:pPr>
            <a:r>
              <a:t>วัด: cost per task /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7BBDE"/>
                </a:solidFill>
                <a:latin typeface="Noto Sans Thai"/>
              </a:defRPr>
            </a:pPr>
            <a:r>
              <a:t>เริ่มจาก Baseline ของลูกค้า แล้ววัดผล Pilot ก่อนสรุป ROI — ไม่ใช้ตัวเลขสมมติ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6AEC6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แนวทางเริ่มใช้งานแบบลดความเสี่ยง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248716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7048" y="2267712"/>
            <a:ext cx="749808" cy="74980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" y="226771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37EDA"/>
                </a:solidFill>
                <a:latin typeface="Noto Sans Thai"/>
              </a:defRPr>
            </a:pPr>
            <a: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886200"/>
            <a:ext cx="193852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เลือก 1–2 Use Case</a:t>
            </a:r>
            <a:br/>
            <a:r>
              <a:t>กำหนด Data/ACL/KPI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3072384"/>
            <a:ext cx="338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1965960"/>
            <a:ext cx="248716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1688" y="2267712"/>
            <a:ext cx="749808" cy="749808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26771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3101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7BBDE"/>
                </a:solidFill>
                <a:latin typeface="Noto Sans Thai"/>
              </a:defRPr>
            </a:pPr>
            <a: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886200"/>
            <a:ext cx="193852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เชื่อมข้อมูลจริง</a:t>
            </a:r>
            <a:br/>
            <a:r>
              <a:t>ตั้ง Agent และ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3072384"/>
            <a:ext cx="338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965960"/>
            <a:ext cx="248716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96328" y="2267712"/>
            <a:ext cx="749808" cy="749808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6328" y="226771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101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8218"/>
                </a:solidFill>
                <a:latin typeface="Noto Sans Thai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886200"/>
            <a:ext cx="193852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User Acceptance</a:t>
            </a:r>
            <a:br/>
            <a:r>
              <a:t>Security &amp; KPI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3072384"/>
            <a:ext cx="338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1965960"/>
            <a:ext cx="248716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30968" y="2267712"/>
            <a:ext cx="749808" cy="749808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226771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3101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C8E5B"/>
                </a:solidFill>
                <a:latin typeface="Noto Sans Thai"/>
              </a:defRPr>
            </a:pPr>
            <a: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3886200"/>
            <a:ext cx="193852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Production hardening</a:t>
            </a:r>
            <a:br/>
            <a:r>
              <a:t>Operations &amp; Enablement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545896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" y="5349240"/>
            <a:ext cx="10469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Pilot ใช้ข้อมูลจริงในขอบเขตจำกัด พร้อมผู้รับผิดชอบข้อมูล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5788152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678424"/>
            <a:ext cx="10469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Production scope รวม TLS, Backup/Restore, Monitoring, Capacity และ Support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ทำไม InsightSphere เหมาะกับ Enterprise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64792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64792"/>
            <a:ext cx="82296" cy="109728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93392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1965960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Evidence-first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14600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Citation, Page, Evidence และ Gap ถูกออกแบบเป็น workflow ไม่ใช่ส่วนเสริม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764792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764792"/>
            <a:ext cx="82296" cy="1097280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1993392"/>
            <a:ext cx="566928" cy="365760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93392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1965960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Access-aware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514600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Team/Data Group ACL อยู่ใน ingestion, retrieval และ citation authorization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54680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154680"/>
            <a:ext cx="82296" cy="1097280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38328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832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3355848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Agentic but governed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3904488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Agent เรียก Tool ได้จริงภายใต้ policy, permission และ audit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3154680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8" y="3154680"/>
            <a:ext cx="82296" cy="1097280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3383280"/>
            <a:ext cx="566928" cy="36576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3832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3355848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Provider-neutral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3904488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Cloud, Local และ Hybrid เปลี่ยนตามข้อกำหนดโดยไม่เขียน platform ใหม่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44568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44568"/>
            <a:ext cx="82296" cy="109728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4773168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77316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9344" y="4745736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Built for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" y="5294376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Admin Portal, model capability test, persistent jobs และ recovery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8" y="4544568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4544568"/>
            <a:ext cx="82296" cy="1097280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37960" y="4773168"/>
            <a:ext cx="566928" cy="365760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77316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4745736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Expandable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4536" y="5294376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MCP, LangGraph, sub-agent และ provider adapter รองรับการเติบโต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943600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EDA"/>
                </a:solidFill>
                <a:latin typeface="Noto Sans Thai"/>
              </a:defRPr>
            </a:pPr>
            <a:r>
              <a:t>One platform. Your data. Your model choice. Your governance.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743200" cy="7326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1645920"/>
            <a:ext cx="8138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Noto Sans Thai"/>
              </a:defRPr>
            </a:pPr>
            <a:r>
              <a:t>เริ่มจาก Use Case ที่เห็นผล</a:t>
            </a:r>
            <a:br/>
            <a:r>
              <a:t>แล้วขยายเป็น Enterprise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7BBDE"/>
                </a:solidFill>
                <a:latin typeface="Noto Sans Thai"/>
              </a:defRPr>
            </a:pPr>
            <a:r>
              <a:t>ข้อเสนอสำหรับ Next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3904488"/>
            <a:ext cx="100584" cy="100584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3794760"/>
            <a:ext cx="7543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Noto Sans Thai"/>
              </a:defRPr>
            </a:pPr>
            <a:r>
              <a:t>Workshop: Use Case, Data Scope, Security และ 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407408"/>
            <a:ext cx="100584" cy="100584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4297680"/>
            <a:ext cx="7543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Noto Sans Thai"/>
              </a:defRPr>
            </a:pPr>
            <a:r>
              <a:t>Technical Assessment: Deployment และ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4910328"/>
            <a:ext cx="100584" cy="100584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800600"/>
            <a:ext cx="7543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Noto Sans Thai"/>
              </a:defRPr>
            </a:pPr>
            <a:r>
              <a:t>Pilot Plan: ขอบเขต ผู้ใช้ ระยะเวลา และเกณฑ์ความสำเร็จ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874519"/>
            <a:ext cx="2103120" cy="210312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874519"/>
            <a:ext cx="21031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Thai"/>
              </a:defRPr>
            </a:pPr>
            <a:r>
              <a:t>LET'S</a:t>
            </a:r>
            <a:br/>
            <a:r>
              <a:t>BUILD</a:t>
            </a:r>
            <a:br/>
            <a:r>
              <a:t>TRUSTED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9893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A8C2DB"/>
                </a:solidFill>
                <a:latin typeface="Noto Sans Tha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BACKUP |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การประเมิน Capacity ต้องเริ่มจาก Concurrent Workload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09928"/>
            <a:ext cx="10835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F2A37"/>
                </a:solidFill>
                <a:latin typeface="Noto Sans Thai"/>
              </a:defRPr>
            </a:pPr>
            <a:r>
              <a:t>จำนวน Account ไม่เท่ากับจำนวนงาน AI ที่ประมวลผลพร้อมกัน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2496312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706624"/>
            <a:ext cx="1005840" cy="34747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06624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REGISTERED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461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2A37"/>
                </a:solidFill>
                <a:latin typeface="Noto Sans Thai"/>
              </a:defRPr>
            </a:pPr>
            <a:r>
              <a:t>ผู้ใช้ทั้งหมด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749039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07080"/>
                </a:solidFill>
                <a:latin typeface="Noto Sans Thai"/>
              </a:defRPr>
            </a:pPr>
            <a:r>
              <a:t>ใช้วางแผน Identity</a:t>
            </a:r>
            <a:br/>
            <a:r>
              <a:t>และข้อมูลระยะยาว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2487168"/>
            <a:ext cx="2496312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706624"/>
            <a:ext cx="1005840" cy="347472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706624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461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2A37"/>
                </a:solidFill>
                <a:latin typeface="Noto Sans Thai"/>
              </a:defRPr>
            </a:pPr>
            <a:r>
              <a:t>ผู้ใช้ที่ใช้งานจริง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49039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07080"/>
                </a:solidFill>
                <a:latin typeface="Noto Sans Thai"/>
              </a:defRPr>
            </a:pPr>
            <a:r>
              <a:t>ดู Daily/Monthly Active</a:t>
            </a:r>
            <a:br/>
            <a:r>
              <a:t>และรูปแบบการใช้งาน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487168"/>
            <a:ext cx="2496312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3952" y="2706624"/>
            <a:ext cx="1005840" cy="347472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706624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CONCURRENT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461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2A37"/>
                </a:solidFill>
                <a:latin typeface="Noto Sans Thai"/>
              </a:defRPr>
            </a:pPr>
            <a:r>
              <a:t>คำขอที่กำลังทำงาน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749039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07080"/>
                </a:solidFill>
                <a:latin typeface="Noto Sans Thai"/>
              </a:defRPr>
            </a:pPr>
            <a:r>
              <a:t>กำหนด App replicas,</a:t>
            </a:r>
            <a:br/>
            <a:r>
              <a:t>connection และ 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487168"/>
            <a:ext cx="2496312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0304" y="2706624"/>
            <a:ext cx="1005840" cy="347472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2706624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2461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2A37"/>
                </a:solidFill>
                <a:latin typeface="Noto Sans Thai"/>
              </a:defRPr>
            </a:pPr>
            <a:r>
              <a:t>LLM ที่สร้างคำตอบพร้อมกัน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3749039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07080"/>
                </a:solidFill>
                <a:latin typeface="Noto Sans Thai"/>
              </a:defRPr>
            </a:pPr>
            <a:r>
              <a:t>กำหนด GPU slots</a:t>
            </a:r>
            <a:br/>
            <a:r>
              <a:t>หรือ Cloud quota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56048"/>
            <a:ext cx="10835640" cy="841248"/>
          </a:xfrm>
          <a:prstGeom prst="roundRect">
            <a:avLst/>
          </a:prstGeom>
          <a:solidFill>
            <a:srgbClr val="E8F3FF"/>
          </a:solidFill>
          <a:ln>
            <a:solidFill>
              <a:srgbClr val="C1D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14807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37EDA"/>
                </a:solidFill>
                <a:latin typeface="Noto Sans Thai"/>
              </a:defRPr>
            </a:pPr>
            <a:r>
              <a:t>Capacity โดยประมาณ = Peak concurrent requests × เวลาประมวลผล × ขนาด Context / Tool workload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25312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07080"/>
                </a:solidFill>
                <a:latin typeface="Noto Sans Thai"/>
              </a:defRPr>
            </a:pPr>
            <a:r>
              <a:t>ตัวเลขในเอกสารนี้เป็น Planning baseline — ต้องยืนยันด้วย Load Test จาก use case และ model จริง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BACKUP |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Hardware Sizing Baseline สำหรับ Local / Hybrid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1600200" cy="530352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73936"/>
            <a:ext cx="1453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ระดับ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1664208"/>
            <a:ext cx="2834640" cy="530352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773936"/>
            <a:ext cx="2688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Compute / Memory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1768" y="1664208"/>
            <a:ext cx="2971800" cy="530352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773936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Storage / GPU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664208"/>
            <a:ext cx="3749039" cy="530352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773936"/>
            <a:ext cx="36027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แนวทางรองรับเบื้องต้น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94560"/>
            <a:ext cx="1600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313432"/>
            <a:ext cx="13807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7EDA"/>
                </a:solidFill>
                <a:latin typeface="Noto Sans Thai"/>
              </a:defRPr>
            </a:pPr>
            <a:r>
              <a:t>Dev / 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7128" y="2194560"/>
            <a:ext cx="283464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76856" y="2313432"/>
            <a:ext cx="2615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4–8 vCPU</a:t>
            </a:r>
            <a:br/>
            <a:r>
              <a:t>RAM 16 GB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1768" y="2194560"/>
            <a:ext cx="29718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1496" y="2313432"/>
            <a:ext cx="27523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SSD 200 GB</a:t>
            </a:r>
            <a:br/>
            <a:r>
              <a:t>ไม่บังคับ GPU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2194560"/>
            <a:ext cx="3749039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313432"/>
            <a:ext cx="352958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1–5 ผู้ใช้พร้อมกัน</a:t>
            </a:r>
            <a:br/>
            <a:r>
              <a:t>เหมาะกับทดสอบและสาธิต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090672"/>
            <a:ext cx="160020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209544"/>
            <a:ext cx="13807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7EDA"/>
                </a:solidFill>
                <a:latin typeface="Noto Sans Thai"/>
              </a:defRPr>
            </a:pPr>
            <a:r>
              <a:t>Pilot</a:t>
            </a:r>
            <a:br/>
            <a:r>
              <a:t>Cloud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7128" y="3090672"/>
            <a:ext cx="283464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76856" y="3209544"/>
            <a:ext cx="2615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8 vCPU</a:t>
            </a:r>
            <a:br/>
            <a:r>
              <a:t>RAM 32 GB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1768" y="3090672"/>
            <a:ext cx="297180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1496" y="3209544"/>
            <a:ext cx="27523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NVMe 500 GB</a:t>
            </a:r>
            <a:br/>
            <a:r>
              <a:t>LLM ใช้ Cloud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3090672"/>
            <a:ext cx="3749039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3209544"/>
            <a:ext cx="352958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ประมาณ 10–30 concurrent Chat</a:t>
            </a:r>
            <a:br/>
            <a:r>
              <a:t>ขึ้นกับ provider quota และ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986783"/>
            <a:ext cx="1600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4105655"/>
            <a:ext cx="13807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7EDA"/>
                </a:solidFill>
                <a:latin typeface="Noto Sans Thai"/>
              </a:defRPr>
            </a:pPr>
            <a:r>
              <a:t>Pilot</a:t>
            </a:r>
            <a:br/>
            <a:r>
              <a:t>Local LLM 8B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3986783"/>
            <a:ext cx="283464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76856" y="4105655"/>
            <a:ext cx="2615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8–16 vCPU</a:t>
            </a:r>
            <a:br/>
            <a:r>
              <a:t>RAM 32–64 GB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1768" y="3986783"/>
            <a:ext cx="29718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1496" y="4105655"/>
            <a:ext cx="27523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NVMe 500 GB+</a:t>
            </a:r>
            <a:br/>
            <a:r>
              <a:t>GPU VRAM 16–24 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73568" y="3986783"/>
            <a:ext cx="3749039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4105655"/>
            <a:ext cx="352958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1–2 local generations พร้อมกัน</a:t>
            </a:r>
            <a:br/>
            <a:r>
              <a:t>เหมาะกับ light / staggered usage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882896"/>
            <a:ext cx="160020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5001768"/>
            <a:ext cx="13807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7EDA"/>
                </a:solidFill>
                <a:latin typeface="Noto Sans Thai"/>
              </a:defRPr>
            </a:pPr>
            <a:r>
              <a:t>Department / HA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7128" y="4882896"/>
            <a:ext cx="283464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76856" y="5001768"/>
            <a:ext cx="2615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App 2+ nodes</a:t>
            </a:r>
            <a:br/>
            <a:r>
              <a:t>node ละ 4–8 vCPU / 16 GB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1768" y="4882896"/>
            <a:ext cx="297180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11496" y="5001768"/>
            <a:ext cx="27523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แยก Stateful services</a:t>
            </a:r>
            <a:br/>
            <a:r>
              <a:t>และ GPU inference node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73568" y="4882896"/>
            <a:ext cx="3749039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3296" y="5001768"/>
            <a:ext cx="352958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ประมาณ 30–100 concurrent users</a:t>
            </a:r>
            <a:br/>
            <a:r>
              <a:t>หลังผ่าน Load Test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961888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07080"/>
                </a:solidFill>
                <a:latin typeface="Noto Sans Thai"/>
              </a:defRPr>
            </a:pPr>
            <a:r>
              <a:t>หมายเหตุ: พื้นที่จัดเก็บต้องคำนวณเพิ่มจากเอกสารต้นฉบับ + vector index + chat/attachment retention + backup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2C6DA"/>
                </a:solidFill>
                <a:latin typeface="Noto Sans Thai"/>
              </a:defRPr>
            </a:pPr>
            <a:r>
              <a:t>BACKUP |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Thai"/>
              </a:defRPr>
            </a:pPr>
            <a:r>
              <a:t>จาก Single-node Pilot สู่ Production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2C6DA"/>
                </a:solidFill>
                <a:latin typeface="Noto Sans Thai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7BBDE"/>
                </a:solidFill>
                <a:latin typeface="Noto Sans Thai"/>
              </a:defRPr>
            </a:pPr>
            <a:r>
              <a:t>CURRENT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3886200" cy="324612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50592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Compose เครื่องเดียว — ไม่มี automatic failover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81528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971800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Hypercorn application process เดียว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02736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93008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Ollama parallel = 1 เป็นคอขวด Local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23944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14216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MongoDB, MinIO และ Qdrant เป็น single instance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45152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535424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Ingestion อยู่ใน App และจำกัด 3 งานต่อ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29184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27BBDE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17373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7BBDE"/>
                </a:solidFill>
                <a:latin typeface="Noto Sans Thai"/>
              </a:defRPr>
            </a:pPr>
            <a:r>
              <a:t>TARGET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13248" y="2148840"/>
            <a:ext cx="2697480" cy="1353312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96128" y="2331720"/>
            <a:ext cx="91440" cy="987552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4728" y="233172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oto Sans Thai"/>
              </a:defRPr>
            </a:pPr>
            <a:r>
              <a:t>INGRESS +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277063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5D8EA"/>
                </a:solidFill>
                <a:latin typeface="Noto Sans Thai"/>
              </a:defRPr>
            </a:pPr>
            <a:r>
              <a:t>Load balancer และ App 2+ replicas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5048" y="2148840"/>
            <a:ext cx="2697480" cy="1353312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67928" y="2331720"/>
            <a:ext cx="91440" cy="98755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33172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oto Sans Thai"/>
              </a:defRPr>
            </a:pPr>
            <a:r>
              <a:t>ASYNC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77063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5D8EA"/>
                </a:solidFill>
                <a:latin typeface="Noto Sans Thai"/>
              </a:defRPr>
            </a:pPr>
            <a:r>
              <a:t>Queue แยก OCR / ingestion / cleanup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13248" y="3776472"/>
            <a:ext cx="2697480" cy="1353312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6128" y="3959352"/>
            <a:ext cx="91440" cy="987552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24728" y="395935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oto Sans Thai"/>
              </a:defRPr>
            </a:pPr>
            <a:r>
              <a:t>SHARED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4728" y="4398264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5D8EA"/>
                </a:solidFill>
                <a:latin typeface="Noto Sans Thai"/>
              </a:defRPr>
            </a:pPr>
            <a:r>
              <a:t>Mongo replica, Object storage, Qdrant replication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85048" y="3776472"/>
            <a:ext cx="2697480" cy="1353312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67928" y="3959352"/>
            <a:ext cx="91440" cy="987552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395935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oto Sans Thai"/>
              </a:defRPr>
            </a:pPr>
            <a:r>
              <a:t>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398264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5D8EA"/>
                </a:solidFill>
                <a:latin typeface="Noto Sans Thai"/>
              </a:defRPr>
            </a:pPr>
            <a:r>
              <a:t>Cloud quota หรือ GPU pool / vLLM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58704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7BBDE"/>
                </a:solidFill>
                <a:latin typeface="Noto Sans Thai"/>
              </a:defRPr>
            </a:pPr>
            <a:r>
              <a:t>Scale trigger: p95 latency, queue depth, provider throttling, GPU utilization และ ingestion backlog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6AEC6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