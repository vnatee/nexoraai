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12243A"/>
          </a:solidFill>
          <a:ln>
            <a:solidFill>
              <a:srgbClr val="12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94360"/>
            <a:ext cx="2834640" cy="7570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26280" y="1051560"/>
            <a:ext cx="68122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Noto Sans Thai"/>
              </a:defRPr>
            </a:pPr>
            <a:r>
              <a:t>Enterprise AI Agent</a:t>
            </a:r>
            <a:br/>
            <a:r>
              <a:t>&amp; Knowledge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53712" y="2788920"/>
            <a:ext cx="63550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0">
                <a:solidFill>
                  <a:srgbClr val="CADBEC"/>
                </a:solidFill>
                <a:latin typeface="Noto Sans Thai"/>
              </a:defRPr>
            </a:pPr>
            <a:r>
              <a:t>เปลี่ยนความรู้และระบบงานขององค์กร</a:t>
            </a:r>
            <a:br/>
            <a:r>
              <a:t>ให้เป็น AI ที่ค้นหา วิเคราะห์ และลงมือทำได้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53712" y="4315968"/>
            <a:ext cx="2057400" cy="50292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4315968"/>
            <a:ext cx="2057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PRODUCT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50749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8CB7E1"/>
                </a:solidFill>
                <a:latin typeface="Noto Sans Thai"/>
              </a:defRPr>
            </a:pPr>
            <a:r>
              <a:t>Private • Governed • Flexible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6080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90A4B8"/>
                </a:solidFill>
                <a:latin typeface="Noto Sans Thai"/>
              </a:defRPr>
            </a:pPr>
            <a:r>
              <a:t>Sales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t>AI Platform เดียว สำหรับความรู้ คน และระบบงาน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698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F2A37"/>
                </a:solidFill>
                <a:latin typeface="Noto Sans Thai"/>
              </a:defRPr>
            </a:pPr>
            <a:r>
              <a:t>InsightSphere ช่วยให้องค์กรสร้าง AI Agent ที่ตอบจากข้อมูลจริง เชื่อมต่อระบบเดิม</a:t>
            </a:r>
            <a:br/>
            <a:r>
              <a:t>และควบคุมสิทธิ์ได้ โดยเลือกใช้ Cloud, Local หรือ Hybrid ได้ตามนโยบาย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788920"/>
            <a:ext cx="3474720" cy="214884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2788920"/>
            <a:ext cx="82296" cy="2148840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" y="3017520"/>
            <a:ext cx="566928" cy="36576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017520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KNOW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990088"/>
            <a:ext cx="23317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ค้นหาและอ้างอิงความรู้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38728"/>
            <a:ext cx="2907792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RAG พร้อม Citation ระดับไฟล์/หน้า และขอบเขตข้อมูล Personal, Team, Global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3983" y="2788920"/>
            <a:ext cx="3474720" cy="214884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43983" y="2788920"/>
            <a:ext cx="82296" cy="2148840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00015" y="3017520"/>
            <a:ext cx="566928" cy="365760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0015" y="3017520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THINK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9" y="2990088"/>
            <a:ext cx="23317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วิเคราะห์หลายรูปแบบ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1" y="3538728"/>
            <a:ext cx="2907792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ข้อความ เอกสาร ภาพ OCR และ Evidence Matrix สำหรับงานตรวจข้อกำหนด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5" y="2788920"/>
            <a:ext cx="3474720" cy="214884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5" y="2788920"/>
            <a:ext cx="82296" cy="2148840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522207" y="3017520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22207" y="3017520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1" y="2990088"/>
            <a:ext cx="23317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Agent เชื่อมต่อและลงมือทำ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58783" y="3538728"/>
            <a:ext cx="2907792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เรียก Tool, MCP, Database, API, Mail และ Messaging ภายใต้นโยบายองค์กร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5394960"/>
            <a:ext cx="10927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237EDA"/>
                </a:solidFill>
                <a:latin typeface="Noto Sans Thai"/>
              </a:defRPr>
            </a:pPr>
            <a:r>
              <a:t>ผลลัพธ์: จาก “ทดลองใช้ AI” สู่ “ระบบงาน AI ที่บริหารจัดการได้”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t>CUSTOMER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t>ความท้าทายที่องค์กรพบเมื่อเริ่มใช้ Generative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737360"/>
            <a:ext cx="52578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737360"/>
            <a:ext cx="82296" cy="1124712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1965960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965960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938528"/>
            <a:ext cx="41148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ข้อมูลกระจัดกระจาย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87168"/>
            <a:ext cx="469087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เอกสารอยู่หลายทีม หลายระบบ และค้นหาคำตอบที่เชื่อถือได้ยาก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737360"/>
            <a:ext cx="52578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737360"/>
            <a:ext cx="82296" cy="1124712"/>
          </a:xfrm>
          <a:prstGeom prst="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01384" y="1965960"/>
            <a:ext cx="566928" cy="365760"/>
          </a:xfrm>
          <a:prstGeom prst="round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965960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96328" y="1938528"/>
            <a:ext cx="41148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คำตอบไม่มีหลักฐาน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487168"/>
            <a:ext cx="469087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AI ตอบได้ แต่ผู้ใช้ตรวจสอบแหล่งข้อมูลและหน้าที่อ้างอิงไม่ได้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3154680"/>
            <a:ext cx="52578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" y="3154680"/>
            <a:ext cx="82296" cy="1124712"/>
          </a:xfrm>
          <a:prstGeom prst="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383280"/>
            <a:ext cx="566928" cy="365760"/>
          </a:xfrm>
          <a:prstGeom prst="round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383280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355848"/>
            <a:ext cx="41148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สิทธิ์เข้าถึงซับซ้อน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904488"/>
            <a:ext cx="469087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ข้อมูลแต่ละทีมมีระดับความลับต่างกัน และต้องป้องกันการเห็นข้อมูลข้ามทีม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3154680"/>
            <a:ext cx="52578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3154680"/>
            <a:ext cx="82296" cy="1124712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01384" y="3383280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1384" y="3383280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3355848"/>
            <a:ext cx="41148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เชื่อมต่อระบบยาก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904488"/>
            <a:ext cx="469087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AI ที่ตอบอย่างเดียวไม่ลดขั้นตอน หากยังเรียก API, Database หรือ Tool ไม่ได้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" y="4572000"/>
            <a:ext cx="52578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" y="4572000"/>
            <a:ext cx="82296" cy="1124712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77824" y="4800600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800600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773168"/>
            <a:ext cx="41148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Vendor Lock-in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321808"/>
            <a:ext cx="469087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ข้อกำหนดด้านต้นทุน ข้อมูล และโมเดลเปลี่ยนเร็ว แต่ระบบผูกกับผู้ให้บริการรายเดียว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5352" y="4572000"/>
            <a:ext cx="52578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45352" y="4572000"/>
            <a:ext cx="82296" cy="1124712"/>
          </a:xfrm>
          <a:prstGeom prst="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01384" y="4800600"/>
            <a:ext cx="566928" cy="365760"/>
          </a:xfrm>
          <a:prstGeom prst="roundRect">
            <a:avLst/>
          </a:prstGeom>
          <a:solidFill>
            <a:srgbClr val="C33737"/>
          </a:solidFill>
          <a:ln>
            <a:solidFill>
              <a:srgbClr val="C3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01384" y="4800600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96328" y="4773168"/>
            <a:ext cx="41148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Production Governance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5321808"/>
            <a:ext cx="469087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ขาด Audit, Policy, Usage และวิธีบริหาร Agent/Model แบบศูนย์กลาง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B2C6DA"/>
                </a:solidFill>
                <a:latin typeface="Noto Sans Thai"/>
              </a:defRPr>
            </a:pPr>
            <a: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Noto Sans Thai"/>
              </a:defRPr>
            </a:pPr>
            <a:r>
              <a:t>แพลตฟอร์มที่รวม Knowledge, Agent และ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B2C6DA"/>
                </a:solidFill>
                <a:latin typeface="Noto Sans Thai"/>
              </a:defRPr>
            </a:pPr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1508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7BBDE"/>
                </a:solidFill>
                <a:latin typeface="Noto Sans Thai"/>
              </a:defRPr>
            </a:pPr>
            <a:r>
              <a:t>USER EXPERIENCE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1627632"/>
            <a:ext cx="9098280" cy="685800"/>
          </a:xfrm>
          <a:prstGeom prst="roundRect">
            <a:avLst/>
          </a:prstGeom>
          <a:solidFill>
            <a:srgbClr val="1D3753"/>
          </a:solidFill>
          <a:ln>
            <a:solidFill>
              <a:srgbClr val="1D3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773936"/>
            <a:ext cx="8732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 Thai"/>
              </a:defRPr>
            </a:pPr>
            <a:r>
              <a:t>Chat &amp; Ask  •  File / Image / Clipboard  •  Citation Viewer  •  Admin Portal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06040"/>
            <a:ext cx="1508760" cy="566928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1508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AI AGENTS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40280" y="2606040"/>
            <a:ext cx="9098280" cy="566928"/>
          </a:xfrm>
          <a:prstGeom prst="roundRect">
            <a:avLst/>
          </a:prstGeom>
          <a:solidFill>
            <a:srgbClr val="182F48"/>
          </a:solidFill>
          <a:ln>
            <a:solidFill>
              <a:srgbClr val="18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2706624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D7E3EF"/>
                </a:solidFill>
                <a:latin typeface="Noto Sans Thai"/>
              </a:defRPr>
            </a:pPr>
            <a:r>
              <a:t>Per-Agent Model • Prompt • RAG Policy • Tool Policy • LangGraph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10712"/>
            <a:ext cx="1508760" cy="566928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410712"/>
            <a:ext cx="1508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KNOWLEDGE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40280" y="3410712"/>
            <a:ext cx="9098280" cy="566928"/>
          </a:xfrm>
          <a:prstGeom prst="roundRect">
            <a:avLst/>
          </a:prstGeom>
          <a:solidFill>
            <a:srgbClr val="182F48"/>
          </a:solidFill>
          <a:ln>
            <a:solidFill>
              <a:srgbClr val="18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50592" y="3511296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D7E3EF"/>
                </a:solidFill>
                <a:latin typeface="Noto Sans Thai"/>
              </a:defRPr>
            </a:pPr>
            <a:r>
              <a:t>Document Processing • OCR Routing • Vector Search • Evidence Matrix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215384"/>
            <a:ext cx="1508760" cy="566928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215384"/>
            <a:ext cx="1508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INTEGRATIONS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4215384"/>
            <a:ext cx="9098280" cy="566928"/>
          </a:xfrm>
          <a:prstGeom prst="roundRect">
            <a:avLst/>
          </a:prstGeom>
          <a:solidFill>
            <a:srgbClr val="182F48"/>
          </a:solidFill>
          <a:ln>
            <a:solidFill>
              <a:srgbClr val="18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50592" y="4315968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D7E3EF"/>
                </a:solidFill>
                <a:latin typeface="Noto Sans Thai"/>
              </a:defRPr>
            </a:pPr>
            <a:r>
              <a:t>MCP • REST API • Database • Mail • Messaging • Sub-Agent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020056"/>
            <a:ext cx="1508760" cy="566928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20056"/>
            <a:ext cx="1508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GOVERNANCE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40280" y="5020056"/>
            <a:ext cx="9098280" cy="566928"/>
          </a:xfrm>
          <a:prstGeom prst="roundRect">
            <a:avLst/>
          </a:prstGeom>
          <a:solidFill>
            <a:srgbClr val="182F48"/>
          </a:solidFill>
          <a:ln>
            <a:solidFill>
              <a:srgbClr val="182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50592" y="512064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D7E3EF"/>
                </a:solidFill>
                <a:latin typeface="Noto Sans Thai"/>
              </a:defRPr>
            </a:pPr>
            <a:r>
              <a:t>Local + Entra ID • Team/Data Group ACL • Audit • Usage • Secrets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989320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7BBDE"/>
                </a:solidFill>
                <a:latin typeface="Noto Sans Thai"/>
              </a:defRPr>
            </a:pPr>
            <a:r>
              <a:t>DEPLOYMENT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5943600"/>
            <a:ext cx="9098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 Thai"/>
              </a:defRPr>
            </a:pPr>
            <a:r>
              <a:t>Azure  |  Local Containers  |  Hybrid Providers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6AEC6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t>KNOWLEDGE &amp;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t>Enterprise Knowledge ที่ตอบได้และตรวจสอบได้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764792"/>
            <a:ext cx="3456432" cy="1600200"/>
          </a:xfrm>
          <a:prstGeom prst="roundRect">
            <a:avLst/>
          </a:prstGeom>
          <a:solidFill>
            <a:srgbClr val="E8F3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764792"/>
            <a:ext cx="82296" cy="1600200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29077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รับข้อมูลหลายขอบเขต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14600"/>
            <a:ext cx="288950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Personal สำหรับผู้ใช้, Team + Data Group สำหรับงานร่วมกัน และ Global สำหรับความรู้ส่วนกลาง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764792"/>
            <a:ext cx="3456432" cy="1600200"/>
          </a:xfrm>
          <a:prstGeom prst="roundRect">
            <a:avLst/>
          </a:prstGeom>
          <a:solidFill>
            <a:srgbClr val="E6FA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764792"/>
            <a:ext cx="82296" cy="1600200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965960"/>
            <a:ext cx="29077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Document Processing &amp; OCR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14600"/>
            <a:ext cx="288950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Routing ตามชนิดไฟล์ ทีม และลำดับความสำคัญ พร้อม Local parser, Docling และผู้ให้บริการ OCR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1764792"/>
            <a:ext cx="3456432" cy="1600200"/>
          </a:xfrm>
          <a:prstGeom prst="roundRect">
            <a:avLst/>
          </a:prstGeom>
          <a:solidFill>
            <a:srgbClr val="FFF4E5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1764792"/>
            <a:ext cx="82296" cy="1600200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965960"/>
            <a:ext cx="29077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Citation และ Page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514600"/>
            <a:ext cx="288950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คำตอบเชื่อมกลับไปยังไฟล์และหน้าต้นทาง พร้อม authorization ก่อนเปิดเอกสารทุกครั้ง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74903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วงจรข้อมูลที่ควบคุมได้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315968"/>
            <a:ext cx="1737360" cy="658368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315968"/>
            <a:ext cx="17373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UPLOAD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4398264"/>
            <a:ext cx="43891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26080" y="4315968"/>
            <a:ext cx="1737360" cy="658368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26080" y="4315968"/>
            <a:ext cx="17373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EXTRACT / OCR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1728" y="4398264"/>
            <a:ext cx="43891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93792" y="4315968"/>
            <a:ext cx="1737360" cy="658368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3792" y="4315968"/>
            <a:ext cx="17373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EMBED +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398264"/>
            <a:ext cx="43891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61504" y="4315968"/>
            <a:ext cx="1737360" cy="658368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4" y="4315968"/>
            <a:ext cx="17373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RETRIEVE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7152" y="4398264"/>
            <a:ext cx="43891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29216" y="4315968"/>
            <a:ext cx="1737360" cy="658368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29216" y="4315968"/>
            <a:ext cx="17373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CITE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44068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237EDA"/>
                </a:solidFill>
                <a:latin typeface="Noto Sans Thai"/>
              </a:defRPr>
            </a:pPr>
            <a:r>
              <a:t>Benefit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5394960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F2A37"/>
                </a:solidFill>
                <a:latin typeface="Noto Sans Thai"/>
              </a:defRPr>
            </a:pPr>
            <a:r>
              <a:t>ลดเวลาค้นหา • เพิ่มความน่าเชื่อถือ • รักษาสิทธิ์ข้อมูล • รองรับการตรวจสอบย้อนหลัง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t>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t>AI Agent ที่ไม่ได้แค่ตอบ แต่ทำงานร่วมกับระบบองค์กร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1">
                <a:solidFill>
                  <a:srgbClr val="1F2A37"/>
                </a:solidFill>
                <a:latin typeface="Noto Sans Thai"/>
              </a:defRPr>
            </a:pPr>
            <a:r>
              <a:t>กำหนด Agent แยกตามบทบาท พร้อม Model, Prompt, Data Scope และ Tool ที่เหมาะกับงาน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578608"/>
            <a:ext cx="2496312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770632"/>
            <a:ext cx="457200" cy="45720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77063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761488"/>
            <a:ext cx="1554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2A37"/>
                </a:solidFill>
                <a:latin typeface="Noto Sans Thai"/>
              </a:defRPr>
            </a:pPr>
            <a:r>
              <a:t>HR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456432"/>
            <a:ext cx="203911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ตอบนโยบายพนักงาน</a:t>
            </a:r>
            <a:br/>
            <a:r>
              <a:t>จากเอกสารที่ได้รับสิทธิ์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8144" y="2578608"/>
            <a:ext cx="2496312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21024" y="2770632"/>
            <a:ext cx="457200" cy="457200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277063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7952" y="2761488"/>
            <a:ext cx="1554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2A37"/>
                </a:solidFill>
                <a:latin typeface="Noto Sans Thai"/>
              </a:defRPr>
            </a:pPr>
            <a:r>
              <a:t>Presales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6744" y="3456432"/>
            <a:ext cx="203911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ค้นข้อมูลผลิตภัณฑ์</a:t>
            </a:r>
            <a:br/>
            <a:r>
              <a:t>และสร้างคำตอบเชิงหลักฐาน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2578608"/>
            <a:ext cx="2496312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37376" y="2770632"/>
            <a:ext cx="457200" cy="45720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7376" y="277063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4304" y="2761488"/>
            <a:ext cx="1554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2A37"/>
                </a:solidFill>
                <a:latin typeface="Noto Sans Thai"/>
              </a:defRPr>
            </a:pPr>
            <a:r>
              <a:t>Operations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3456432"/>
            <a:ext cx="203911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ตรวจ Monitor / Log</a:t>
            </a:r>
            <a:br/>
            <a:r>
              <a:t>ผ่าน MCP และสรุปเหตุการณ์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0848" y="2578608"/>
            <a:ext cx="2496312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53728" y="2770632"/>
            <a:ext cx="457200" cy="457200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53728" y="277063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0656" y="2761488"/>
            <a:ext cx="1554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2A37"/>
                </a:solidFill>
                <a:latin typeface="Noto Sans Thai"/>
              </a:defRPr>
            </a:pPr>
            <a:r>
              <a:t>Data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448" y="3456432"/>
            <a:ext cx="203911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Query ฐานข้อมูลแบบ read-only</a:t>
            </a:r>
            <a:br/>
            <a:r>
              <a:t>และสร้าง Chart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001768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" y="4892040"/>
            <a:ext cx="10561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1F2A37"/>
                </a:solidFill>
                <a:latin typeface="Noto Sans Thai"/>
              </a:defRPr>
            </a:pPr>
            <a:r>
              <a:t>Tool policy จำกัดจำนวนครั้ง เวลา และแหล่งที่เรียกใช้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367528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968" y="5257800"/>
            <a:ext cx="10561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1F2A37"/>
                </a:solidFill>
                <a:latin typeface="Noto Sans Thai"/>
              </a:defRPr>
            </a:pPr>
            <a:r>
              <a:t>Sub-agent delegation พร้อมป้องกัน cycle และ depth เกินกำหนด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733288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5623560"/>
            <a:ext cx="10561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1F2A37"/>
                </a:solidFill>
                <a:latin typeface="Noto Sans Thai"/>
              </a:defRPr>
            </a:pPr>
            <a:r>
              <a:t>Audit event เชื่อม model, tool และ trace โดยไม่เก็บ raw secrets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t>DOCUMENT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t>จากเอกสารข้อกำหนด สู่ Evidence Matrix ที่ตรวจสอบได้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64792"/>
            <a:ext cx="2880360" cy="3611880"/>
          </a:xfrm>
          <a:prstGeom prst="roundRect">
            <a:avLst/>
          </a:prstGeom>
          <a:solidFill>
            <a:srgbClr val="12243A"/>
          </a:solidFill>
          <a:ln>
            <a:solidFill>
              <a:srgbClr val="12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574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27BBDE"/>
                </a:solidFill>
                <a:latin typeface="Noto Sans Thai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2402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Noto Sans Thai"/>
              </a:defRPr>
            </a:pPr>
            <a:r>
              <a:t>ข้อกำหนดงาน</a:t>
            </a:r>
            <a:br/>
            <a:r>
              <a:t>TOR / RFP / Policy</a:t>
            </a:r>
            <a:br/>
            <a:r>
              <a:t>Checklist / 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60520"/>
            <a:ext cx="2148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ED2E6"/>
                </a:solidFill>
                <a:latin typeface="Noto Sans Thai"/>
              </a:defRPr>
            </a:pPr>
            <a:r>
              <a:t>รองรับเอกสารแนบชั่วคราว</a:t>
            </a:r>
            <a:br/>
            <a:r>
              <a:t>หรือ Knowledge ที่องค์กรจัดเก็บ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3200400"/>
            <a:ext cx="502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700" b="1">
                <a:solidFill>
                  <a:srgbClr val="237EDA"/>
                </a:solidFill>
                <a:latin typeface="Noto Sans Tha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764792"/>
            <a:ext cx="7269480" cy="3611880"/>
          </a:xfrm>
          <a:prstGeom prst="roundRect">
            <a:avLst/>
          </a:prstGeom>
          <a:solidFill>
            <a:srgbClr val="F4F8FC"/>
          </a:solidFill>
          <a:ln>
            <a:solidFill>
              <a:srgbClr val="D2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6552" y="2057400"/>
            <a:ext cx="1874519" cy="530352"/>
          </a:xfrm>
          <a:prstGeom prst="rect">
            <a:avLst/>
          </a:prstGeom>
          <a:solidFill>
            <a:srgbClr val="E8F3FF"/>
          </a:solidFill>
          <a:ln>
            <a:solidFill>
              <a:srgbClr val="C3D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2148840"/>
            <a:ext cx="1783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t>Requirement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2057400"/>
            <a:ext cx="960120" cy="530352"/>
          </a:xfrm>
          <a:prstGeom prst="rect">
            <a:avLst/>
          </a:prstGeom>
          <a:solidFill>
            <a:srgbClr val="E8F3FF"/>
          </a:solidFill>
          <a:ln>
            <a:solidFill>
              <a:srgbClr val="C3D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868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t>Result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51192" y="2057400"/>
            <a:ext cx="1874519" cy="530352"/>
          </a:xfrm>
          <a:prstGeom prst="rect">
            <a:avLst/>
          </a:prstGeom>
          <a:solidFill>
            <a:srgbClr val="E8F3FF"/>
          </a:solidFill>
          <a:ln>
            <a:solidFill>
              <a:srgbClr val="C3D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2148840"/>
            <a:ext cx="1783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t>Evidence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25712" y="2057400"/>
            <a:ext cx="1143000" cy="530352"/>
          </a:xfrm>
          <a:prstGeom prst="rect">
            <a:avLst/>
          </a:prstGeom>
          <a:solidFill>
            <a:srgbClr val="E8F3FF"/>
          </a:solidFill>
          <a:ln>
            <a:solidFill>
              <a:srgbClr val="C3D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1432" y="2148840"/>
            <a:ext cx="1051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t>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68712" y="2057400"/>
            <a:ext cx="1051560" cy="530352"/>
          </a:xfrm>
          <a:prstGeom prst="rect">
            <a:avLst/>
          </a:prstGeom>
          <a:solidFill>
            <a:srgbClr val="E8F3FF"/>
          </a:solidFill>
          <a:ln>
            <a:solidFill>
              <a:srgbClr val="C3D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14432" y="2148840"/>
            <a:ext cx="96011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t>Confidence / Gap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6552" y="2587752"/>
            <a:ext cx="1874519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9704" y="2724912"/>
            <a:ext cx="17282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t>ระบบต้องมี Audit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2587752"/>
            <a:ext cx="96012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2724912"/>
            <a:ext cx="813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t>พบ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51192" y="2587752"/>
            <a:ext cx="1874519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24344" y="2724912"/>
            <a:ext cx="17282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t>Agent audit event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2" y="2587752"/>
            <a:ext cx="114300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64" y="2724912"/>
            <a:ext cx="996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t>Guide.pdf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268712" y="2587752"/>
            <a:ext cx="105156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41864" y="2724912"/>
            <a:ext cx="905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t>High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16552" y="3300984"/>
            <a:ext cx="1874519" cy="713232"/>
          </a:xfrm>
          <a:prstGeom prst="rect">
            <a:avLst/>
          </a:prstGeom>
          <a:solidFill>
            <a:srgbClr val="F7FAFD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89704" y="3438144"/>
            <a:ext cx="17282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t>รองรับ Local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3300984"/>
            <a:ext cx="960120" cy="713232"/>
          </a:xfrm>
          <a:prstGeom prst="rect">
            <a:avLst/>
          </a:prstGeom>
          <a:solidFill>
            <a:srgbClr val="F7FAFD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4224" y="3438144"/>
            <a:ext cx="813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t>พบ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51192" y="3300984"/>
            <a:ext cx="1874519" cy="713232"/>
          </a:xfrm>
          <a:prstGeom prst="rect">
            <a:avLst/>
          </a:prstGeom>
          <a:solidFill>
            <a:srgbClr val="F7FAFD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24344" y="3438144"/>
            <a:ext cx="17282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t>Compose runtime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25712" y="3300984"/>
            <a:ext cx="1143000" cy="713232"/>
          </a:xfrm>
          <a:prstGeom prst="rect">
            <a:avLst/>
          </a:prstGeom>
          <a:solidFill>
            <a:srgbClr val="F7FAFD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98864" y="3438144"/>
            <a:ext cx="996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t>Arch.pdf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268712" y="3300984"/>
            <a:ext cx="1051560" cy="713232"/>
          </a:xfrm>
          <a:prstGeom prst="rect">
            <a:avLst/>
          </a:prstGeom>
          <a:solidFill>
            <a:srgbClr val="F7FAFD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341864" y="3438144"/>
            <a:ext cx="905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1F2A37"/>
                </a:solidFill>
                <a:latin typeface="Noto Sans Thai"/>
              </a:defRPr>
            </a:pPr>
            <a:r>
              <a:t>High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16552" y="4014216"/>
            <a:ext cx="1874519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89704" y="4151376"/>
            <a:ext cx="17282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t>ข้อกำหนดเฉพาะ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91072" y="4014216"/>
            <a:ext cx="96012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4151376"/>
            <a:ext cx="813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C33737"/>
                </a:solidFill>
                <a:latin typeface="Noto Sans Thai"/>
              </a:defRPr>
            </a:pPr>
            <a:r>
              <a:t>ไม่พบ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51192" y="4014216"/>
            <a:ext cx="1874519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24344" y="4151376"/>
            <a:ext cx="17282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25712" y="4014216"/>
            <a:ext cx="114300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98864" y="4151376"/>
            <a:ext cx="996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1F2A37"/>
                </a:solidFill>
                <a:latin typeface="Noto Sans Thai"/>
              </a:defRPr>
            </a:pPr>
            <a: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268712" y="4014216"/>
            <a:ext cx="105156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41864" y="4151376"/>
            <a:ext cx="905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C33737"/>
                </a:solidFill>
                <a:latin typeface="Noto Sans Thai"/>
              </a:defRPr>
            </a:pPr>
            <a:r>
              <a:t>Gap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1500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237EDA"/>
                </a:solidFill>
                <a:latin typeface="Noto Sans Thai"/>
              </a:defRPr>
            </a:pPr>
            <a:r>
              <a:t>Benefit: ตรวจข้อกำหนดได้เป็นระบบ เห็นทั้งหลักฐานและช่องว่าง ลดความเสี่ยงจากคำตอบที่ไม่มีข้อมูลรองรับ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B2C6DA"/>
                </a:solidFill>
                <a:latin typeface="Noto Sans Thai"/>
              </a:defRPr>
            </a:pPr>
            <a: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Noto Sans Thai"/>
              </a:defRPr>
            </a:pPr>
            <a:r>
              <a:t>Security &amp; Governance เป็นส่วนหนึ่งของ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B2C6DA"/>
                </a:solidFill>
                <a:latin typeface="Noto Sans Thai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64792"/>
            <a:ext cx="3456432" cy="155448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6968" y="1993391"/>
            <a:ext cx="566928" cy="347472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93391"/>
            <a:ext cx="5669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t>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478024"/>
            <a:ext cx="2999232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DAE6F1"/>
                </a:solidFill>
                <a:latin typeface="Noto Sans Thai"/>
              </a:defRPr>
            </a:pPr>
            <a:r>
              <a:t>Local User + Microsoft Entra ID</a:t>
            </a:r>
            <a:br/>
            <a:r>
              <a:t>รองรับ bootstrap super 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1764792"/>
            <a:ext cx="3456432" cy="155448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09159" y="1993391"/>
            <a:ext cx="566928" cy="347472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1993391"/>
            <a:ext cx="5669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t>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2478024"/>
            <a:ext cx="2999232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DAE6F1"/>
                </a:solidFill>
                <a:latin typeface="Noto Sans Thai"/>
              </a:defRPr>
            </a:pPr>
            <a:r>
              <a:t>Team, Data Group, Personal/Global ACL</a:t>
            </a:r>
            <a:br/>
            <a:r>
              <a:t>ตรวจสิทธิ์ทั้งค้นหาและเปิด Citation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752" y="1764792"/>
            <a:ext cx="3456432" cy="155448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31352" y="1993391"/>
            <a:ext cx="566928" cy="347472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1993391"/>
            <a:ext cx="5669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t>SECRETS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478024"/>
            <a:ext cx="2999232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DAE6F1"/>
                </a:solidFill>
                <a:latin typeface="Noto Sans Thai"/>
              </a:defRPr>
            </a:pPr>
            <a:r>
              <a:t>Fernet encryption สำหรับ provider key</a:t>
            </a:r>
            <a:br/>
            <a:r>
              <a:t>ไม่ส่ง secret กลับ frontend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39311"/>
            <a:ext cx="3456432" cy="155448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6968" y="3867911"/>
            <a:ext cx="566928" cy="347472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3867911"/>
            <a:ext cx="5669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t>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4352544"/>
            <a:ext cx="2999232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DAE6F1"/>
                </a:solidFill>
                <a:latin typeface="Noto Sans Thai"/>
              </a:defRPr>
            </a:pPr>
            <a:r>
              <a:t>Allowlist, timeout, call limit</a:t>
            </a:r>
            <a:br/>
            <a:r>
              <a:t>read-only database enforcement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59" y="3639311"/>
            <a:ext cx="3456432" cy="155448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709159" y="3867911"/>
            <a:ext cx="566928" cy="347472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59" y="3867911"/>
            <a:ext cx="5669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t>AUDIT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4352544"/>
            <a:ext cx="2999232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DAE6F1"/>
                </a:solidFill>
                <a:latin typeface="Noto Sans Thai"/>
              </a:defRPr>
            </a:pPr>
            <a:r>
              <a:t>Trace model/tool activity</a:t>
            </a:r>
            <a:br/>
            <a:r>
              <a:t>พร้อม metadata โดยไม่เก็บ raw prompt/output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02752" y="3639311"/>
            <a:ext cx="3456432" cy="155448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31352" y="3867911"/>
            <a:ext cx="566928" cy="347472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31352" y="3867911"/>
            <a:ext cx="5669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t>ISOLATION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1352" y="4352544"/>
            <a:ext cx="2999232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DAE6F1"/>
                </a:solidFill>
                <a:latin typeface="Noto Sans Thai"/>
              </a:defRPr>
            </a:pPr>
            <a:r>
              <a:t>History และ attachment แยกตาม user</a:t>
            </a:r>
            <a:br/>
            <a:r>
              <a:t>conversation และ data 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87044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 Thai"/>
              </a:defRPr>
            </a:pPr>
            <a:r>
              <a:t>Designed for enterprise control — ไม่ลดทอน Security Contract เพื่อความสะดวก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6AEC6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t>MODEL FLEXIBILITY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t>เลือก Model และ Provider ให้เหมาะกับแต่ละ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19072"/>
            <a:ext cx="10835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1">
                <a:solidFill>
                  <a:srgbClr val="1F2A37"/>
                </a:solidFill>
                <a:latin typeface="Noto Sans Thai"/>
              </a:defRPr>
            </a:pPr>
            <a:r>
              <a:t>ไม่บังคับให้ทุกงานใช้โมเดลเดียว — แยก Chat Model, Embedding และ Processing Provider 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68880"/>
            <a:ext cx="3456432" cy="2240280"/>
          </a:xfrm>
          <a:prstGeom prst="roundRect">
            <a:avLst/>
          </a:prstGeom>
          <a:solidFill>
            <a:srgbClr val="E8F3FF"/>
          </a:solidFill>
          <a:ln>
            <a:solidFill>
              <a:srgbClr val="D8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24912"/>
            <a:ext cx="29992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EDA"/>
                </a:solidFill>
                <a:latin typeface="Noto Sans Thai"/>
              </a:defRPr>
            </a:pPr>
            <a:r>
              <a:t>Cloud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46120"/>
            <a:ext cx="2761488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t>Azure OpenAI</a:t>
            </a:r>
            <a:br/>
            <a:r>
              <a:t>OpenAI</a:t>
            </a:r>
            <a:br/>
            <a:r>
              <a:t>Gemini</a:t>
            </a:r>
            <a:br/>
            <a:r>
              <a:t>Anthropic</a:t>
            </a:r>
            <a:br/>
            <a:r>
              <a:t>OpenRouter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468880"/>
            <a:ext cx="3456432" cy="2240280"/>
          </a:xfrm>
          <a:prstGeom prst="roundRect">
            <a:avLst/>
          </a:prstGeom>
          <a:solidFill>
            <a:srgbClr val="E9F8F0"/>
          </a:solidFill>
          <a:ln>
            <a:solidFill>
              <a:srgbClr val="D8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9" y="2724912"/>
            <a:ext cx="29992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1C8E5B"/>
                </a:solidFill>
                <a:latin typeface="Noto Sans Thai"/>
              </a:defRPr>
            </a:pPr>
            <a:r>
              <a:t>Local / Private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1" y="3246120"/>
            <a:ext cx="2761488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t>Ollama</a:t>
            </a:r>
            <a:br/>
            <a:r>
              <a:t>vLLM</a:t>
            </a:r>
            <a:br/>
            <a:r>
              <a:t>LocalAI</a:t>
            </a:r>
            <a:br/>
            <a:r>
              <a:t>OpenAI-compatible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02752" y="2468880"/>
            <a:ext cx="3456432" cy="2240280"/>
          </a:xfrm>
          <a:prstGeom prst="roundRect">
            <a:avLst/>
          </a:prstGeom>
          <a:solidFill>
            <a:srgbClr val="FFF4E5"/>
          </a:solidFill>
          <a:ln>
            <a:solidFill>
              <a:srgbClr val="D8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31352" y="2724912"/>
            <a:ext cx="29992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FF8218"/>
                </a:solidFill>
                <a:latin typeface="Noto Sans Thai"/>
              </a:defRPr>
            </a:pPr>
            <a:r>
              <a:t>Specialized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0224" y="3246120"/>
            <a:ext cx="2761488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t>Groq</a:t>
            </a:r>
            <a:br/>
            <a:r>
              <a:t>Mistral</a:t>
            </a:r>
            <a:br/>
            <a:r>
              <a:t>DeepSeek</a:t>
            </a:r>
            <a:br/>
            <a:r>
              <a:t>Together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184648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10515600" cy="350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1F2A37"/>
                </a:solidFill>
                <a:latin typeface="Noto Sans Thai"/>
              </a:defRPr>
            </a:pPr>
            <a:r>
              <a:t>Portal ทดสอบ Tool Calling และ Vision capability ก่อนเปิดใช้งาน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35168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5440"/>
            <a:ext cx="10515600" cy="350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1F2A37"/>
                </a:solidFill>
                <a:latin typeface="Noto Sans Thai"/>
              </a:defRPr>
            </a:pPr>
            <a:r>
              <a:t>กำหนด Model ต่อ Agent เพื่อสมดุล Cost, Latency, Privacy และ Quality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85688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775960"/>
            <a:ext cx="10515600" cy="350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1F2A37"/>
                </a:solidFill>
                <a:latin typeface="Noto Sans Thai"/>
              </a:defRPr>
            </a:pPr>
            <a:r>
              <a:t>เปลี่ยน provider ได้โดยรักษา Agent, ACL และ Knowledge architecture เดิม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t>Deployment ที่ยืดหยุ่น: Azure, Local หรือ Hybrid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828800"/>
            <a:ext cx="333756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CF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828800"/>
            <a:ext cx="3337560" cy="658368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28800"/>
            <a:ext cx="33375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Noto Sans Thai"/>
              </a:defRPr>
            </a:pPr>
            <a:r>
              <a:t>AZURE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34640"/>
            <a:ext cx="2642616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1F2A37"/>
                </a:solidFill>
                <a:latin typeface="Noto Sans Thai"/>
              </a:defRPr>
            </a:pPr>
            <a:r>
              <a:t>Azure OpenAI</a:t>
            </a:r>
            <a:br/>
            <a:r>
              <a:t>Azure AI Search</a:t>
            </a:r>
            <a:br/>
            <a:r>
              <a:t>Blob / Cosmos-compatible</a:t>
            </a:r>
            <a:br/>
            <a:r>
              <a:t>Entra 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7992" y="1828800"/>
            <a:ext cx="333756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CF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07992" y="1828800"/>
            <a:ext cx="3337560" cy="658368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828800"/>
            <a:ext cx="33375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Noto Sans Thai"/>
              </a:defRPr>
            </a:pPr>
            <a:r>
              <a:t>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5464" y="2834640"/>
            <a:ext cx="2642616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1F2A37"/>
                </a:solidFill>
                <a:latin typeface="Noto Sans Thai"/>
              </a:defRPr>
            </a:pPr>
            <a:r>
              <a:t>Docker Compose</a:t>
            </a:r>
            <a:br/>
            <a:r>
              <a:t>MongoDB + MinIO</a:t>
            </a:r>
            <a:br/>
            <a:r>
              <a:t>Qdrant + Ollama/BGE-M3</a:t>
            </a:r>
            <a:br/>
            <a:r>
              <a:t>Local Authentication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752" y="1828800"/>
            <a:ext cx="333756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CF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02752" y="1828800"/>
            <a:ext cx="3337560" cy="658368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1828800"/>
            <a:ext cx="33375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Noto Sans Thai"/>
              </a:defRPr>
            </a:pPr>
            <a:r>
              <a:t>HYBRID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50224" y="2834640"/>
            <a:ext cx="2642616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1F2A37"/>
                </a:solidFill>
                <a:latin typeface="Noto Sans Thai"/>
              </a:defRPr>
            </a:pPr>
            <a:r>
              <a:t>Local data plane</a:t>
            </a:r>
            <a:br/>
            <a:r>
              <a:t>เลือก Cloud LLM</a:t>
            </a:r>
            <a:br/>
            <a:r>
              <a:t>หรือ Local Model</a:t>
            </a:r>
            <a:br/>
            <a:r>
              <a:t>ตาม Agent / Policy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5349240"/>
            <a:ext cx="10744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237EDA"/>
                </a:solidFill>
                <a:latin typeface="Noto Sans Thai"/>
              </a:defRPr>
            </a:pPr>
            <a:r>
              <a:t>แยก Provider Interface ชัดเจน — รักษา Azure behavior พร้อมเปิดทางสู่ Self-hosted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t>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t>ตัวอย่าง Use Case ที่สร้างมูลค่าได้เร็ว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755648"/>
            <a:ext cx="3474720" cy="1627632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755648"/>
            <a:ext cx="82296" cy="1627632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1984248"/>
            <a:ext cx="566928" cy="36576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984248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956816"/>
            <a:ext cx="23317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Enterprise Q&amp;A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05456"/>
            <a:ext cx="290779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ตอบคำถามนโยบาย คู่มือ และความรู้ภายใน พร้อม Citation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3" y="1755648"/>
            <a:ext cx="3474720" cy="1627632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3" y="1755648"/>
            <a:ext cx="82296" cy="1627632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00015" y="1984248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5" y="1984248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9" y="1956816"/>
            <a:ext cx="23317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RFP /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2505456"/>
            <a:ext cx="290779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เปรียบเทียบข้อกำหนดกับหลักฐานใน Knowledge และแสดง Gap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66175" y="1755648"/>
            <a:ext cx="3474720" cy="1627632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66175" y="1755648"/>
            <a:ext cx="82296" cy="1627632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22207" y="1984248"/>
            <a:ext cx="566928" cy="365760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7" y="1984248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7151" y="1956816"/>
            <a:ext cx="23317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IT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8783" y="2505456"/>
            <a:ext cx="290779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ค้น Monitor/Log ผ่าน MCP สรุปเหตุการณ์ และแนะนำขั้นตอนแก้ไข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3749039"/>
            <a:ext cx="3474720" cy="1627632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" y="3749039"/>
            <a:ext cx="82296" cy="1627632"/>
          </a:xfrm>
          <a:prstGeom prst="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77824" y="3977639"/>
            <a:ext cx="566928" cy="365760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3977639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950207"/>
            <a:ext cx="23317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Data Assistant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498847"/>
            <a:ext cx="290779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Query ฐานข้อมูลแบบควบคุมสิทธิ์ สรุปและสร้างกราฟ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3983" y="3749039"/>
            <a:ext cx="3474720" cy="1627632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43983" y="3749039"/>
            <a:ext cx="82296" cy="1627632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700015" y="3977639"/>
            <a:ext cx="566928" cy="36576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0015" y="3977639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59" y="3950207"/>
            <a:ext cx="23317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Presales Copilot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36591" y="4498847"/>
            <a:ext cx="290779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ค้น Product Knowledge สร้างคำตอบที่ตรวจสอบแหล่งข้อมูลได้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66175" y="3749039"/>
            <a:ext cx="3474720" cy="1627632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66175" y="3749039"/>
            <a:ext cx="82296" cy="1627632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22207" y="3977639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22207" y="3977639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1" y="3950207"/>
            <a:ext cx="23317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Workflow Agent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8783" y="4498847"/>
            <a:ext cx="290779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เรียก API, Mail, Messaging และ Sub-agent ตาม Tool policy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B2C6DA"/>
                </a:solidFill>
                <a:latin typeface="Noto Sans Thai"/>
              </a:defRPr>
            </a:pPr>
            <a: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Noto Sans Thai"/>
              </a:defRPr>
            </a:pPr>
            <a:r>
              <a:t>Business Benefits ที่เชื่อมโยงกับการวัดผล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B2C6DA"/>
                </a:solidFill>
                <a:latin typeface="Noto Sans Thai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64792"/>
            <a:ext cx="1965960" cy="713232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64792"/>
            <a:ext cx="1965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PRODUCTIVITY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810512"/>
            <a:ext cx="51206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Noto Sans Thai"/>
              </a:defRPr>
            </a:pPr>
            <a:r>
              <a:t>ลดเวลาค้นหา สรุป และจัดทำคำตอบซ้ำ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1828800"/>
            <a:ext cx="3291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0">
                <a:solidFill>
                  <a:srgbClr val="AFCCE7"/>
                </a:solidFill>
                <a:latin typeface="Noto Sans Thai"/>
              </a:defRPr>
            </a:pPr>
            <a:r>
              <a:t>วัด: เวลาเฉลี่ยต่อเคส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43784"/>
            <a:ext cx="1965960" cy="713232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43784"/>
            <a:ext cx="1965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889503"/>
            <a:ext cx="51206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Noto Sans Thai"/>
              </a:defRPr>
            </a:pPr>
            <a:r>
              <a:t>คำตอบมีหลักฐานและเห็นช่องว่างข้อมูล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907791"/>
            <a:ext cx="3291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0">
                <a:solidFill>
                  <a:srgbClr val="AFCCE7"/>
                </a:solidFill>
                <a:latin typeface="Noto Sans Thai"/>
              </a:defRPr>
            </a:pPr>
            <a:r>
              <a:t>วัด: acceptance / rework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22776"/>
            <a:ext cx="1965960" cy="713232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1965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968496"/>
            <a:ext cx="51206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Noto Sans Thai"/>
              </a:defRPr>
            </a:pPr>
            <a:r>
              <a:t>สิทธิ์ Agent Tool และข้อมูลบริหารจากศูนย์กลาง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986784"/>
            <a:ext cx="3291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0">
                <a:solidFill>
                  <a:srgbClr val="AFCCE7"/>
                </a:solidFill>
                <a:latin typeface="Noto Sans Thai"/>
              </a:defRPr>
            </a:pPr>
            <a:r>
              <a:t>วัด: policy violation / audit coverage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001768"/>
            <a:ext cx="1965960" cy="713232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001768"/>
            <a:ext cx="1965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FLEXIBILITY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047488"/>
            <a:ext cx="51206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Noto Sans Thai"/>
              </a:defRPr>
            </a:pPr>
            <a:r>
              <a:t>เปลี่ยน Model และ Deployment ตามงานได้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5065776"/>
            <a:ext cx="3291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0">
                <a:solidFill>
                  <a:srgbClr val="AFCCE7"/>
                </a:solidFill>
                <a:latin typeface="Noto Sans Thai"/>
              </a:defRPr>
            </a:pPr>
            <a:r>
              <a:t>วัด: cost per task / latency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9893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27BBDE"/>
                </a:solidFill>
                <a:latin typeface="Noto Sans Thai"/>
              </a:defRPr>
            </a:pPr>
            <a:r>
              <a:t>เริ่มจาก Baseline ของลูกค้า แล้ววัดผล Pilot ก่อนสรุป ROI — ไม่ใช้ตัวเลขสมมติ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6AEC6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t>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t>แนวทางเริ่มใช้งานแบบลดความเสี่ยง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65960"/>
            <a:ext cx="2487168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27048" y="2267712"/>
            <a:ext cx="749808" cy="749808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27048" y="2267712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Noto Sans Tha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10128"/>
            <a:ext cx="19751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237EDA"/>
                </a:solidFill>
                <a:latin typeface="Noto Sans Thai"/>
              </a:defRPr>
            </a:pPr>
            <a:r>
              <a:t>DISCOVER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886200"/>
            <a:ext cx="193852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t>เลือก 1–2 Use Case</a:t>
            </a:r>
            <a:br/>
            <a:r>
              <a:t>กำหนด Data/ACL/KPI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3072384"/>
            <a:ext cx="3383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1965960"/>
            <a:ext cx="2487168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1688" y="2267712"/>
            <a:ext cx="749808" cy="749808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2267712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Noto Sans Thai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3310128"/>
            <a:ext cx="19751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27BBDE"/>
                </a:solidFill>
                <a:latin typeface="Noto Sans Thai"/>
              </a:defRPr>
            </a:pPr>
            <a:r>
              <a:t>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3886200"/>
            <a:ext cx="193852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t>เชื่อมข้อมูลจริง</a:t>
            </a:r>
            <a:br/>
            <a:r>
              <a:t>ตั้ง Agent และ Guardrails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6" y="3072384"/>
            <a:ext cx="3383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7648" y="1965960"/>
            <a:ext cx="2487168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96328" y="2267712"/>
            <a:ext cx="749808" cy="749808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267712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Noto Sans Thai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310128"/>
            <a:ext cx="19751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FF8218"/>
                </a:solidFill>
                <a:latin typeface="Noto Sans Thai"/>
              </a:defRPr>
            </a:pPr>
            <a:r>
              <a:t>VALIDATE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1968" y="3886200"/>
            <a:ext cx="193852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t>User Acceptance</a:t>
            </a:r>
            <a:br/>
            <a:r>
              <a:t>Security &amp; KPI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4816" y="3072384"/>
            <a:ext cx="33832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607080"/>
                </a:solidFill>
                <a:latin typeface="Noto Sans Tha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62288" y="1965960"/>
            <a:ext cx="2487168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30968" y="2267712"/>
            <a:ext cx="749808" cy="749808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30968" y="2267712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Noto Sans Thai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310128"/>
            <a:ext cx="19751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C8E5B"/>
                </a:solidFill>
                <a:latin typeface="Noto Sans Thai"/>
              </a:defRPr>
            </a:pPr>
            <a:r>
              <a:t>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36608" y="3886200"/>
            <a:ext cx="193852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t>Production hardening</a:t>
            </a:r>
            <a:br/>
            <a:r>
              <a:t>Operations &amp; Enablement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4944" y="5458968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349240"/>
            <a:ext cx="10469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t>Pilot ใช้ข้อมูลจริงในขอบเขตจำกัด พร้อมผู้รับผิดชอบข้อมูล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" y="5788152"/>
            <a:ext cx="100584" cy="10058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678424"/>
            <a:ext cx="10469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2A37"/>
                </a:solidFill>
                <a:latin typeface="Noto Sans Thai"/>
              </a:defRPr>
            </a:pPr>
            <a:r>
              <a:t>Production scope รวม TLS, Backup/Restore, Monitoring, Capacity และ Support 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t>DIFFERENTIATORS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t>ทำไม InsightSphere เหมาะกับ Enterprise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64792"/>
            <a:ext cx="5230368" cy="10972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764792"/>
            <a:ext cx="82296" cy="1097280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93392"/>
            <a:ext cx="566928" cy="36576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4" y="1965960"/>
            <a:ext cx="408736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Evidence-first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514600"/>
            <a:ext cx="4663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Citation, Page, Evidence และ Gap ถูกออกแบบเป็น workflow ไม่ใช่ส่วนเสริม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1764792"/>
            <a:ext cx="5230368" cy="10972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1928" y="1764792"/>
            <a:ext cx="82296" cy="1097280"/>
          </a:xfrm>
          <a:prstGeom prst="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37960" y="1993392"/>
            <a:ext cx="566928" cy="365760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993392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1965960"/>
            <a:ext cx="408736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Access-aware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4536" y="2514600"/>
            <a:ext cx="4663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Team/Data Group ACL อยู่ใน ingestion, retrieval และ citation authorization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154680"/>
            <a:ext cx="5230368" cy="10972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154680"/>
            <a:ext cx="82296" cy="1097280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3383280"/>
            <a:ext cx="566928" cy="365760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3355848"/>
            <a:ext cx="408736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Agentic but governed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3904488"/>
            <a:ext cx="4663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Agent เรียก Tool ได้จริงภายใต้ policy, permission และ audit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81928" y="3154680"/>
            <a:ext cx="5230368" cy="10972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81928" y="3154680"/>
            <a:ext cx="82296" cy="1097280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37960" y="3383280"/>
            <a:ext cx="566928" cy="365760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383280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2904" y="3355848"/>
            <a:ext cx="408736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Provider-neutral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4536" y="3904488"/>
            <a:ext cx="4663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Cloud, Local และ Hybrid เปลี่ยนตามข้อกำหนดโดยไม่เขียน platform ใหม่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544568"/>
            <a:ext cx="5230368" cy="10972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544568"/>
            <a:ext cx="82296" cy="1097280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4400" y="4773168"/>
            <a:ext cx="566928" cy="36576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773168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9344" y="4745736"/>
            <a:ext cx="408736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Built for operations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" y="5294376"/>
            <a:ext cx="4663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Admin Portal, model capability test, persistent jobs และ recovery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81928" y="4544568"/>
            <a:ext cx="5230368" cy="10972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81928" y="4544568"/>
            <a:ext cx="82296" cy="1097280"/>
          </a:xfrm>
          <a:prstGeom prst="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37960" y="4773168"/>
            <a:ext cx="566928" cy="365760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60" y="4773168"/>
            <a:ext cx="56692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Thai"/>
              </a:defRPr>
            </a:pPr>
            <a: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4745736"/>
            <a:ext cx="408736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F2A37"/>
                </a:solidFill>
                <a:latin typeface="Noto Sans Thai"/>
              </a:defRPr>
            </a:pPr>
            <a:r>
              <a:t>Expandable architecture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4536" y="5294376"/>
            <a:ext cx="4663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Noto Sans Thai"/>
              </a:defRPr>
            </a:pPr>
            <a:r>
              <a:t>MCP, LangGraph, sub-agent และ provider adapter รองรับการเติบโต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943600"/>
            <a:ext cx="10835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EDA"/>
                </a:solidFill>
                <a:latin typeface="Noto Sans Thai"/>
              </a:defRPr>
            </a:pPr>
            <a:r>
              <a:t>One platform. Your data. Your model choice. Your governance.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2743200" cy="7326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1645920"/>
            <a:ext cx="81381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100" b="1">
                <a:solidFill>
                  <a:srgbClr val="FFFFFF"/>
                </a:solidFill>
                <a:latin typeface="Noto Sans Thai"/>
              </a:defRPr>
            </a:pPr>
            <a:r>
              <a:t>เริ่มจาก Use Case ที่เห็นผล</a:t>
            </a:r>
            <a:br/>
            <a:r>
              <a:t>แล้วขยายเป็น Enterprise AI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2461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7BBDE"/>
                </a:solidFill>
                <a:latin typeface="Noto Sans Thai"/>
              </a:defRPr>
            </a:pPr>
            <a:r>
              <a:t>ข้อเสนอสำหรับ Next 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3904488"/>
            <a:ext cx="100584" cy="100584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3794760"/>
            <a:ext cx="7543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Noto Sans Thai"/>
              </a:defRPr>
            </a:pPr>
            <a:r>
              <a:t>Workshop: Use Case, Data Scope, Security และ KPI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" y="4407408"/>
            <a:ext cx="100584" cy="100584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4297680"/>
            <a:ext cx="7543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Noto Sans Thai"/>
              </a:defRPr>
            </a:pPr>
            <a:r>
              <a:t>Technical Assessment: Deployment และ Integration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" y="4910328"/>
            <a:ext cx="100584" cy="100584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800600"/>
            <a:ext cx="7543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Noto Sans Thai"/>
              </a:defRPr>
            </a:pPr>
            <a:r>
              <a:t>Pilot Plan: ขอบเขต ผู้ใช้ ระยะเวลา และเกณฑ์ความสำเร็จ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874519"/>
            <a:ext cx="2103120" cy="2103120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1874519"/>
            <a:ext cx="21031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Thai"/>
              </a:defRPr>
            </a:pPr>
            <a:r>
              <a:t>LET'S</a:t>
            </a:r>
            <a:br/>
            <a:r>
              <a:t>BUILD</a:t>
            </a:r>
            <a:br/>
            <a:r>
              <a:t>TRUSTED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9893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A8C2DB"/>
                </a:solidFill>
                <a:latin typeface="Noto Sans Tha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t>BACKUP |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t>การประเมิน Capacity ต้องเริ่มจาก Concurrent Workload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09928"/>
            <a:ext cx="108356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1F2A37"/>
                </a:solidFill>
                <a:latin typeface="Noto Sans Thai"/>
              </a:defRPr>
            </a:pPr>
            <a:r>
              <a:t>จำนวน Account ไม่เท่ากับจำนวนงาน AI ที่ประมวลผลพร้อมกัน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487168"/>
            <a:ext cx="2496312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2706624"/>
            <a:ext cx="1005840" cy="347472"/>
          </a:xfrm>
          <a:prstGeom prst="round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706624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t>REGISTERED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46120"/>
            <a:ext cx="2057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F2A37"/>
                </a:solidFill>
                <a:latin typeface="Noto Sans Thai"/>
              </a:defRPr>
            </a:pPr>
            <a:r>
              <a:t>ผู้ใช้ทั้งหมด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749039"/>
            <a:ext cx="20574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607080"/>
                </a:solidFill>
                <a:latin typeface="Noto Sans Thai"/>
              </a:defRPr>
            </a:pPr>
            <a:r>
              <a:t>ใช้วางแผน Identity</a:t>
            </a:r>
            <a:br/>
            <a:r>
              <a:t>และข้อมูลระยะยาว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8144" y="2487168"/>
            <a:ext cx="2496312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0" y="2706624"/>
            <a:ext cx="1005840" cy="347472"/>
          </a:xfrm>
          <a:prstGeom prst="round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706624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t>ACTIVE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246120"/>
            <a:ext cx="2057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F2A37"/>
                </a:solidFill>
                <a:latin typeface="Noto Sans Thai"/>
              </a:defRPr>
            </a:pPr>
            <a:r>
              <a:t>ผู้ใช้ที่ใช้งานจริง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49039"/>
            <a:ext cx="20574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607080"/>
                </a:solidFill>
                <a:latin typeface="Noto Sans Thai"/>
              </a:defRPr>
            </a:pPr>
            <a:r>
              <a:t>ดู Daily/Monthly Active</a:t>
            </a:r>
            <a:br/>
            <a:r>
              <a:t>และรูปแบบการใช้งาน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2487168"/>
            <a:ext cx="2496312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73952" y="2706624"/>
            <a:ext cx="1005840" cy="347472"/>
          </a:xfrm>
          <a:prstGeom prst="round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2706624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t>CONCURRENT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246120"/>
            <a:ext cx="2057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F2A37"/>
                </a:solidFill>
                <a:latin typeface="Noto Sans Thai"/>
              </a:defRPr>
            </a:pPr>
            <a:r>
              <a:t>คำขอที่กำลังทำงาน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749039"/>
            <a:ext cx="20574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607080"/>
                </a:solidFill>
                <a:latin typeface="Noto Sans Thai"/>
              </a:defRPr>
            </a:pPr>
            <a:r>
              <a:t>กำหนด App replicas,</a:t>
            </a:r>
            <a:br/>
            <a:r>
              <a:t>connection และ queue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0848" y="2487168"/>
            <a:ext cx="2496312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D8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90304" y="2706624"/>
            <a:ext cx="1005840" cy="347472"/>
          </a:xfrm>
          <a:prstGeom prst="round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0304" y="2706624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Thai"/>
              </a:defRPr>
            </a:pPr>
            <a:r>
              <a:t>GENERATION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4" y="3246120"/>
            <a:ext cx="2057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F2A37"/>
                </a:solidFill>
                <a:latin typeface="Noto Sans Thai"/>
              </a:defRPr>
            </a:pPr>
            <a:r>
              <a:t>LLM ที่สร้างคำตอบพร้อมกัน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0304" y="3749039"/>
            <a:ext cx="20574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607080"/>
                </a:solidFill>
                <a:latin typeface="Noto Sans Thai"/>
              </a:defRPr>
            </a:pPr>
            <a:r>
              <a:t>กำหนด GPU slots</a:t>
            </a:r>
            <a:br/>
            <a:r>
              <a:t>หรือ Cloud quota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956048"/>
            <a:ext cx="10835640" cy="841248"/>
          </a:xfrm>
          <a:prstGeom prst="roundRect">
            <a:avLst/>
          </a:prstGeom>
          <a:solidFill>
            <a:srgbClr val="E8F3FF"/>
          </a:solidFill>
          <a:ln>
            <a:solidFill>
              <a:srgbClr val="C1D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5148072"/>
            <a:ext cx="103327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237EDA"/>
                </a:solidFill>
                <a:latin typeface="Noto Sans Thai"/>
              </a:defRPr>
            </a:pPr>
            <a:r>
              <a:t>Capacity โดยประมาณ = Peak concurrent requests × เวลาประมวลผล × ขนาด Context / Tool workload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925312"/>
            <a:ext cx="10698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0">
                <a:solidFill>
                  <a:srgbClr val="607080"/>
                </a:solidFill>
                <a:latin typeface="Noto Sans Thai"/>
              </a:defRPr>
            </a:pPr>
            <a:r>
              <a:t>ตัวเลขในเอกสารนี้เป็น Planning baseline — ต้องยืนยันด้วย Load Test จาก use case และ model 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607080"/>
                </a:solidFill>
                <a:latin typeface="Noto Sans Thai"/>
              </a:defRPr>
            </a:pPr>
            <a:r>
              <a:t>BACKUP | SIZING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F2A37"/>
                </a:solidFill>
                <a:latin typeface="Noto Sans Thai"/>
              </a:defRPr>
            </a:pPr>
            <a:r>
              <a:t>Hardware Sizing Baseline สำหรับ Local / Hybrid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607080"/>
                </a:solidFill>
                <a:latin typeface="Noto Sans Thai"/>
              </a:defRPr>
            </a:pPr>
            <a: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64208"/>
            <a:ext cx="1600200" cy="530352"/>
          </a:xfrm>
          <a:prstGeom prst="rect">
            <a:avLst/>
          </a:prstGeom>
          <a:solidFill>
            <a:srgbClr val="12243A"/>
          </a:solidFill>
          <a:ln>
            <a:solidFill>
              <a:srgbClr val="12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73936"/>
            <a:ext cx="1453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ระดับ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7128" y="1664208"/>
            <a:ext cx="2834640" cy="530352"/>
          </a:xfrm>
          <a:prstGeom prst="rect">
            <a:avLst/>
          </a:prstGeom>
          <a:solidFill>
            <a:srgbClr val="12243A"/>
          </a:solidFill>
          <a:ln>
            <a:solidFill>
              <a:srgbClr val="12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1773936"/>
            <a:ext cx="268833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Compute / Memory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1768" y="1664208"/>
            <a:ext cx="2971800" cy="530352"/>
          </a:xfrm>
          <a:prstGeom prst="rect">
            <a:avLst/>
          </a:prstGeom>
          <a:solidFill>
            <a:srgbClr val="12243A"/>
          </a:solidFill>
          <a:ln>
            <a:solidFill>
              <a:srgbClr val="12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773936"/>
            <a:ext cx="28254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Storage / GPU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3568" y="1664208"/>
            <a:ext cx="3749039" cy="530352"/>
          </a:xfrm>
          <a:prstGeom prst="rect">
            <a:avLst/>
          </a:prstGeom>
          <a:solidFill>
            <a:srgbClr val="12243A"/>
          </a:solidFill>
          <a:ln>
            <a:solidFill>
              <a:srgbClr val="12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773936"/>
            <a:ext cx="360273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Thai"/>
              </a:defRPr>
            </a:pPr>
            <a:r>
              <a:t>แนวทางรองรับเบื้องต้น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94560"/>
            <a:ext cx="1600200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313432"/>
            <a:ext cx="138074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t>Dev /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67128" y="2194560"/>
            <a:ext cx="2834640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76856" y="2313432"/>
            <a:ext cx="26151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t>4–8 vCPU</a:t>
            </a:r>
            <a:br/>
            <a:r>
              <a:t>RAM 16 GB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1768" y="2194560"/>
            <a:ext cx="2971800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1496" y="2313432"/>
            <a:ext cx="275234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t>SSD 200 GB</a:t>
            </a:r>
            <a:br/>
            <a:r>
              <a:t>ไม่บังคับ GPU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73568" y="2194560"/>
            <a:ext cx="3749039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83296" y="2313432"/>
            <a:ext cx="352958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t>1–5 ผู้ใช้พร้อมกัน</a:t>
            </a:r>
            <a:br/>
            <a:r>
              <a:t>เหมาะกับทดสอบและสาธิต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090672"/>
            <a:ext cx="1600200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209544"/>
            <a:ext cx="138074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t>Pilot</a:t>
            </a:r>
            <a:br/>
            <a:r>
              <a:t>Cloud LLM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3090672"/>
            <a:ext cx="2834640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3209544"/>
            <a:ext cx="26151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t>8 vCPU</a:t>
            </a:r>
            <a:br/>
            <a:r>
              <a:t>RAM 32 GB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01768" y="3090672"/>
            <a:ext cx="2971800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1496" y="3209544"/>
            <a:ext cx="275234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t>NVMe 500 GB</a:t>
            </a:r>
            <a:br/>
            <a:r>
              <a:t>LLM ใช้ Cloud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3568" y="3090672"/>
            <a:ext cx="3749039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3296" y="3209544"/>
            <a:ext cx="352958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t>ประมาณ 10–30 concurrent Chat</a:t>
            </a:r>
            <a:br/>
            <a:r>
              <a:t>ขึ้นกับ provider quota และ tools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986783"/>
            <a:ext cx="1600200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" y="4105655"/>
            <a:ext cx="138074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t>Pilot</a:t>
            </a:r>
            <a:br/>
            <a:r>
              <a:t>Local LLM 8B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67128" y="3986783"/>
            <a:ext cx="2834640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76856" y="4105655"/>
            <a:ext cx="26151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t>8–16 vCPU</a:t>
            </a:r>
            <a:br/>
            <a:r>
              <a:t>RAM 32–64 GB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01768" y="3986783"/>
            <a:ext cx="2971800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11496" y="4105655"/>
            <a:ext cx="275234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t>NVMe 500 GB+</a:t>
            </a:r>
            <a:br/>
            <a:r>
              <a:t>GPU VRAM 16–24 GB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73568" y="3986783"/>
            <a:ext cx="3749039" cy="896112"/>
          </a:xfrm>
          <a:prstGeom prst="rect">
            <a:avLst/>
          </a:prstGeom>
          <a:solidFill>
            <a:srgbClr val="FFFFFF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83296" y="4105655"/>
            <a:ext cx="352958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t>1–2 local generations พร้อมกัน</a:t>
            </a:r>
            <a:br/>
            <a:r>
              <a:t>เหมาะกับ light / staggered usage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4882896"/>
            <a:ext cx="1600200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5001768"/>
            <a:ext cx="138074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237EDA"/>
                </a:solidFill>
                <a:latin typeface="Noto Sans Thai"/>
              </a:defRPr>
            </a:pPr>
            <a:r>
              <a:t>Department / HA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67128" y="4882896"/>
            <a:ext cx="2834640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76856" y="5001768"/>
            <a:ext cx="26151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t>App 2+ nodes</a:t>
            </a:r>
            <a:br/>
            <a:r>
              <a:t>node ละ 4–8 vCPU / 16 GB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01768" y="4882896"/>
            <a:ext cx="2971800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11496" y="5001768"/>
            <a:ext cx="275234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t>แยก Stateful services</a:t>
            </a:r>
            <a:br/>
            <a:r>
              <a:t>และ GPU inference node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73568" y="4882896"/>
            <a:ext cx="3749039" cy="896112"/>
          </a:xfrm>
          <a:prstGeom prst="rect">
            <a:avLst/>
          </a:prstGeom>
          <a:solidFill>
            <a:srgbClr val="F4F8FC"/>
          </a:solidFill>
          <a:ln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83296" y="5001768"/>
            <a:ext cx="352958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1F2A37"/>
                </a:solidFill>
                <a:latin typeface="Noto Sans Thai"/>
              </a:defRPr>
            </a:pPr>
            <a:r>
              <a:t>ประมาณ 30–100 concurrent users</a:t>
            </a:r>
            <a:br/>
            <a:r>
              <a:t>หลังผ่าน Load Test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5961888"/>
            <a:ext cx="10835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0">
                <a:solidFill>
                  <a:srgbClr val="607080"/>
                </a:solidFill>
                <a:latin typeface="Noto Sans Thai"/>
              </a:defRPr>
            </a:pPr>
            <a:r>
              <a:t>หมายเหตุ: พื้นที่จัดเก็บต้องคำนวณเพิ่มจากเอกสารต้นฉบับ + vector index + chat/attachment retention + backup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794A0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sight_spher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2057400" cy="5494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464040" y="28346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00" b="1">
                <a:solidFill>
                  <a:srgbClr val="B2C6DA"/>
                </a:solidFill>
                <a:latin typeface="Noto Sans Thai"/>
              </a:defRPr>
            </a:pPr>
            <a:r>
              <a:t>BACKUP |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Noto Sans Thai"/>
              </a:defRPr>
            </a:pPr>
            <a:r>
              <a:t>จาก Single-node Pilot สู่ Production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685800" cy="54864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37392" y="644652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B2C6DA"/>
                </a:solidFill>
                <a:latin typeface="Noto Sans Thai"/>
              </a:defRPr>
            </a:pPr>
            <a: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27BBDE"/>
                </a:solidFill>
                <a:latin typeface="Noto Sans Thai"/>
              </a:defRPr>
            </a:pPr>
            <a:r>
              <a:t>CURRENT PILOT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3886200" cy="3246120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560320"/>
            <a:ext cx="100584" cy="100584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450592"/>
            <a:ext cx="315468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Noto Sans Thai"/>
              </a:defRPr>
            </a:pPr>
            <a:r>
              <a:t>Compose เครื่องเดียว — ไม่มี automatic failover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081528"/>
            <a:ext cx="100584" cy="100584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971800"/>
            <a:ext cx="315468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Noto Sans Thai"/>
              </a:defRPr>
            </a:pPr>
            <a:r>
              <a:t>Hypercorn application process เดียว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602736"/>
            <a:ext cx="100584" cy="100584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493008"/>
            <a:ext cx="315468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Noto Sans Thai"/>
              </a:defRPr>
            </a:pPr>
            <a:r>
              <a:t>Ollama parallel = 1 เป็นคอขวด Local 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23944"/>
            <a:ext cx="100584" cy="100584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014216"/>
            <a:ext cx="315468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Noto Sans Thai"/>
              </a:defRPr>
            </a:pPr>
            <a:r>
              <a:t>MongoDB, MinIO และ Qdrant เป็น single instance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45152"/>
            <a:ext cx="100584" cy="100584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535424"/>
            <a:ext cx="315468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Noto Sans Thai"/>
              </a:defRPr>
            </a:pPr>
            <a:r>
              <a:t>Ingestion อยู่ใน App และจำกัด 3 งานต่อ 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3291840"/>
            <a:ext cx="502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800" b="1">
                <a:solidFill>
                  <a:srgbClr val="27BBDE"/>
                </a:solidFill>
                <a:latin typeface="Noto Sans Thai"/>
              </a:defRPr>
            </a:pPr>
            <a: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248" y="1737360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27BBDE"/>
                </a:solidFill>
                <a:latin typeface="Noto Sans Thai"/>
              </a:defRPr>
            </a:pPr>
            <a:r>
              <a:t>TARGET PRODUCTION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13248" y="2148840"/>
            <a:ext cx="2697480" cy="1353312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96128" y="2331720"/>
            <a:ext cx="91440" cy="987552"/>
          </a:xfrm>
          <a:prstGeom prst="rect">
            <a:avLst/>
          </a:prstGeom>
          <a:solidFill>
            <a:srgbClr val="237EDA"/>
          </a:solidFill>
          <a:ln>
            <a:solidFill>
              <a:srgbClr val="237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24728" y="233172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t>INGRESS + 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4728" y="2770632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5D8EA"/>
                </a:solidFill>
                <a:latin typeface="Noto Sans Thai"/>
              </a:defRPr>
            </a:pPr>
            <a:r>
              <a:t>Load balancer และ App 2+ replicas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5048" y="2148840"/>
            <a:ext cx="2697480" cy="1353312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67928" y="2331720"/>
            <a:ext cx="91440" cy="987552"/>
          </a:xfrm>
          <a:prstGeom prst="rect">
            <a:avLst/>
          </a:prstGeom>
          <a:solidFill>
            <a:srgbClr val="FF8218"/>
          </a:solidFill>
          <a:ln>
            <a:solidFill>
              <a:srgbClr val="FF82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96528" y="233172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t>ASYNC WORKERS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96528" y="2770632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5D8EA"/>
                </a:solidFill>
                <a:latin typeface="Noto Sans Thai"/>
              </a:defRPr>
            </a:pPr>
            <a:r>
              <a:t>Queue แยก OCR / ingestion / cleanup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13248" y="3776472"/>
            <a:ext cx="2697480" cy="1353312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96128" y="3959352"/>
            <a:ext cx="91440" cy="987552"/>
          </a:xfrm>
          <a:prstGeom prst="rect">
            <a:avLst/>
          </a:prstGeom>
          <a:solidFill>
            <a:srgbClr val="1C8E5B"/>
          </a:solidFill>
          <a:ln>
            <a:solidFill>
              <a:srgbClr val="1C8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24728" y="3959352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t>SHARED 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4728" y="4398264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5D8EA"/>
                </a:solidFill>
                <a:latin typeface="Noto Sans Thai"/>
              </a:defRPr>
            </a:pPr>
            <a:r>
              <a:t>Mongo replica, Object storage, Qdrant replication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85048" y="3776472"/>
            <a:ext cx="2697480" cy="1353312"/>
          </a:xfrm>
          <a:prstGeom prst="roundRect">
            <a:avLst/>
          </a:prstGeom>
          <a:solidFill>
            <a:srgbClr val="182F48"/>
          </a:solidFill>
          <a:ln>
            <a:solidFill>
              <a:srgbClr val="304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67928" y="3959352"/>
            <a:ext cx="91440" cy="987552"/>
          </a:xfrm>
          <a:prstGeom prst="rect">
            <a:avLst/>
          </a:prstGeom>
          <a:solidFill>
            <a:srgbClr val="27BBDE"/>
          </a:solidFill>
          <a:ln>
            <a:solidFill>
              <a:srgbClr val="27BB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96528" y="3959352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Noto Sans Thai"/>
              </a:defRPr>
            </a:pPr>
            <a:r>
              <a:t>INFERENCE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6528" y="4398264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5D8EA"/>
                </a:solidFill>
                <a:latin typeface="Noto Sans Thai"/>
              </a:defRPr>
            </a:pPr>
            <a:r>
              <a:t>Cloud quota หรือ GPU pool / vLLM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" y="58704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27BBDE"/>
                </a:solidFill>
                <a:latin typeface="Noto Sans Thai"/>
              </a:defRPr>
            </a:pPr>
            <a:r>
              <a:t>Scale trigger: p95 latency, queue depth, provider throttling, GPU utilization และ ingestion backlog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1908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6AEC6"/>
                </a:solidFill>
                <a:latin typeface="Noto Sans Thai"/>
              </a:defRPr>
            </a:pPr>
            <a:r>
              <a:t>InsightSphere | Enterprise AI Agent &amp; Knowledge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