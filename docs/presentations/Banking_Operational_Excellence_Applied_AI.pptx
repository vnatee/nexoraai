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 — เปิดเรื่อง (1 นาที)</a:t>
            </a:r>
          </a:p>
          <a:p/>
          <a:p>
            <a:r>
              <a:t>- วันนี้ไม่ใช่การบรรยายว่า AI เก่งแค่ไหน แต่จะคุยว่า AI ทำให้ทีม IT ทำงานดีขึ้นอย่างไร</a:t>
            </a:r>
          </a:p>
          <a:p>
            <a:r>
              <a:t>- กลุ่มผู้ฟังมีทั้งผู้บริหารและทีมปฏิบัติการ จึงจะเชื่อม Business Outcome กับ Technical Evidence</a:t>
            </a:r>
          </a:p>
          <a:p>
            <a:r>
              <a:t>- ช่วงท้ายมีเกม 15 ข้อจากเนื้อหาที่พูด ขอให้สังเกตคำว่า Evidence, Context และ Guardrail</a:t>
            </a:r>
          </a:p>
          <a:p/>
          <a:p>
            <a:r>
              <a:t>Transition: เริ่มจากปัญหาที่ทุกทีม IT เคยเจอร่วมกัน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 — Agenda (1 นาที)</a:t>
            </a:r>
          </a:p>
          <a:p/>
          <a:p>
            <a:r>
              <a:t>- บอกผู้ฟังว่าจะมีทั้งมุมผู้บริหาร สถาปัตยกรรม และ demo</a:t>
            </a:r>
          </a:p>
          <a:p>
            <a:r>
              <a:t>- เนื้อหาไม่ได้พยายามแทนที่เครื่องมือเดิม แต่เพิ่มความสามารถในการเชื่อมข้อมูลและตัดสินใจ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 — Opening poll (2 นาที)</a:t>
            </a:r>
          </a:p>
          <a:p/>
          <a:p>
            <a:r>
              <a:t>- ให้ยกมือเลือกได้มากกว่าหนึ่งข้อ หรือให้แต่ละโต๊ะเลือกข้อหลัก</a:t>
            </a:r>
          </a:p>
          <a:p>
            <a:r>
              <a:t>- เฉลยเชิงแนวคิดคือทุกข้อเกี่ยวข้องกัน ปัญหาไม่ได้อยู่ที่ไม่มีข้อมูล แต่อยู่ที่ข้อมูลไม่เชื่อมเป็นเรื่องเดียว</a:t>
            </a:r>
          </a:p>
          <a:p>
            <a:r>
              <a:t>- ใช้คำตอบของผู้ฟังอ้างกลับในช่วง demo</a:t>
            </a:r>
          </a:p>
          <a:p/>
          <a:p>
            <a:r>
              <a:t>Transition: Applied AI ต้องลดเวลาทั้ง Signal, Context, Knowledge และ Coordination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4 — Business outcome (2 นาที)</a:t>
            </a:r>
          </a:p>
          <a:p/>
          <a:p>
            <a:r>
              <a:t>- ผู้บริหารสนใจ reliability, risk และ capacity มากกว่า model benchmark</a:t>
            </a:r>
          </a:p>
          <a:p>
            <a:r>
              <a:t>- AI use case ทุกตัวควรผูกกับตัววัด เช่น MTTR, false escalation, repeat incident และเวลาทำรายงาน</a:t>
            </a:r>
          </a:p>
          <a:p>
            <a:r>
              <a:t>- คำว่า Capacity หมายถึงเพิ่มกำลังทีม ไม่ใช่ลดจำนวนคน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5 — Banking reality (2 นาที)</a:t>
            </a:r>
          </a:p>
          <a:p/>
          <a:p>
            <a:r>
              <a:t>- เน้นว่าความท้าทายไม่ใช่เฉพาะเทคโนโลยี แต่รวม operating model และ regulatory evidence</a:t>
            </a:r>
          </a:p>
          <a:p>
            <a:r>
              <a:t>- ระบบธนาคารมี dependency สูง การมอง signal แยกส่วนจึงทำให้ diagnosis ช้า</a:t>
            </a:r>
          </a:p>
          <a:p>
            <a:r>
              <a:t>- Applied AI เหมาะกับงานที่ต้องอ่านข้อมูลหลายชนิดและเชื่อมบริบท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6 — AI evolution (2 นาที)</a:t>
            </a:r>
          </a:p>
          <a:p/>
          <a:p>
            <a:r>
              <a:t>- Chat เป็นเพียง interface; คุณค่าจริงเกิดเมื่อ AI เข้าถึง Knowledge และเครื่องมือที่ได้รับอนุญาต</a:t>
            </a:r>
          </a:p>
          <a:p>
            <a:r>
              <a:t>- คำว่า Act ไม่ได้แปลว่าให้ AI เปลี่ยน production ทันที การอนุมัติยังเป็น policy ขององค์กร</a:t>
            </a:r>
          </a:p>
          <a:p>
            <a:r>
              <a:t>- Learn คือทำให้ผลการแก้ปัญหากลับมาเป็น Knowledge ที่ใช้ซ้ำได้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7 — Applied AI in plain language (2 นาที)</a:t>
            </a:r>
          </a:p>
          <a:p/>
          <a:p>
            <a:r>
              <a:t>- ใช้สี่คำนี้เป็น mental model ตลอดการนำเสนอ</a:t>
            </a:r>
          </a:p>
          <a:p>
            <a:r>
              <a:t>- Sense มาจากระบบจริง เช่น Datadog; Understand ต้องมี business/technical context</a:t>
            </a:r>
          </a:p>
          <a:p>
            <a:r>
              <a:t>- Recommend ต้องอ้าง evidence; Orchestrate ต้องผ่านสิทธิ์และ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8 — Platform concept (3 นาที)</a:t>
            </a:r>
          </a:p>
          <a:p/>
          <a:p>
            <a:r>
              <a:t>- อธิบายแพลตฟอร์มโดยไม่เริ่มจากชื่อเทคโนโลยี: เป็นชั้นกลางที่เชื่อมคน ความรู้ และระบบ</a:t>
            </a:r>
          </a:p>
          <a:p>
            <a:r>
              <a:t>- Datadog, Service Desk, CMDB และ Knowledge ยังเป็นเจ้าของข้อมูลของตนเอง</a:t>
            </a:r>
          </a:p>
          <a:p>
            <a:r>
              <a:t>- AI ต้องเรียกใช้ข้อมูลตามสิทธิ์ของทีมและบันทึก audit metadata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9 — Platform capabilities (2 นาที)</a:t>
            </a:r>
          </a:p>
          <a:p/>
          <a:p>
            <a:r>
              <a:t>- เน้นว่าการมี model อย่างเดียวไม่เท่ากับมี enterprise platform</a:t>
            </a:r>
          </a:p>
          <a:p>
            <a:r>
              <a:t>- RAG ต้องรักษา ACL และ citation; Integration ต้องจำกัด connection/tool ตามทีม</a:t>
            </a:r>
          </a:p>
          <a:p>
            <a:r>
              <a:t>- Guardrail และ Audit เป็น capability ของ platform ไม่ควรฝากไว้กับ prompt เพียงอย่างเดียว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10 — Responsibility (2 นาที)</a:t>
            </a:r>
          </a:p>
          <a:p/>
          <a:p>
            <a:r>
              <a:t>- ใช้สไลด์นี้ลดความกังวลว่า AI จะเข้ามาแทนระบบหรือผู้รับผิดชอบ</a:t>
            </a:r>
          </a:p>
          <a:p>
            <a:r>
              <a:t>- AI ไม่ควรเปลี่ยนข้อมูลสำคัญโดยข้าม validation ของ system of record</a:t>
            </a:r>
          </a:p>
          <a:p>
            <a:r>
              <a:t>- เริ่มจาก read-only recommendation แล้วค่อยเพิ่ม action เมื่อ control พร้อม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11 — Maturity (2 นาที)</a:t>
            </a:r>
          </a:p>
          <a:p/>
          <a:p>
            <a:r>
              <a:t>- Pilot ที่ดีควรเริ่มระดับ Analyze/Recommend ซึ่งให้คุณค่าสูงและความเสี่ยงต่ำกว่า write automation</a:t>
            </a:r>
          </a:p>
          <a:p>
            <a:r>
              <a:t>- แต่ละขั้นต้องมี acceptance criteria และ owner ชัดเจน</a:t>
            </a:r>
          </a:p>
          <a:p>
            <a:r>
              <a:t>- Demo วันนี้อยู่ระดับ Analyze และ Recommend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12 — Use-case portfolio (2 นาที)</a:t>
            </a:r>
          </a:p>
          <a:p/>
          <a:p>
            <a:r>
              <a:t>- นี่คือกรอบให้คะแนนภายในที่เปิดเผยวิธีคิด ไม่ใช่ผลสำรวจหรือ benchmark ของอุตสาหกรรมธนาคาร</a:t>
            </a:r>
          </a:p>
          <a:p>
            <a:r>
              <a:t>- ให้ทีมลูกค้าให้คะแนนแต่ละเกณฑ์ 1–5 ใน discovery workshop; น้ำหนัก 35/30/20/15 เป็นค่าเริ่มต้นที่เสนอและปรับได้เมื่อเจ้าของบริการเห็นชอบ</a:t>
            </a:r>
          </a:p>
          <a:p>
            <a:r>
              <a:t>- คะแนนตัวอย่างสมมติว่ามี Datadog telemetry แบบ read-only; ความพร้อมของ Knowledge, Change และ approval ต้องตรวจสอบกับข้อมูลจริง</a:t>
            </a:r>
          </a:p>
          <a:p>
            <a:r>
              <a:t>- NIST AI RMF ใช้อ้างอิงแนวคิด risk/control และ Google SRE ใช้อ้างอิงแนวคิด incident response/operational outcomes; ทั้งสองแหล่งไม่ได้กำหนดสูตรหรือน้ำหนักนี้</a:t>
            </a:r>
          </a:p>
          <a:p>
            <a:r>
              <a:t>- ก่อนนำไปใช้ตัดสินใจจริง ให้บันทึกเจ้าของคะแนน หลักฐาน วันที่ประเมิน และเหตุผลของคะแนนทุกช่อง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13 — Morning briefing (2 นาที)</a:t>
            </a:r>
          </a:p>
          <a:p/>
          <a:p>
            <a:r>
              <a:t>- แทนที่จะเปิด dashboard หลายหน้า ผู้บริหารได้ summary ที่มี link กลับไปยัง evidence</a:t>
            </a:r>
          </a:p>
          <a:p>
            <a:r>
              <a:t>- AI ไม่ควรซ่อน uncertainty ต้องระบุข้อมูลที่ยังขาด</a:t>
            </a:r>
          </a:p>
          <a:p>
            <a:r>
              <a:t>- เหมาะเป็น use case แรกเพราะเป็น read-only และวัดเวลาที่ประหยัดได้ง่าย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14 — Incident story (2 นาที)</a:t>
            </a:r>
          </a:p>
          <a:p/>
          <a:p>
            <a:r>
              <a:t>- ให้ผู้ฟังจินตนาการเหตุการณ์ที่คุ้นเคย ไม่ต้องใช้ข้อมูลลูกค้าจริง</a:t>
            </a:r>
          </a:p>
          <a:p>
            <a:r>
              <a:t>- ประเด็นสำคัญคือ user symptom ไม่ได้บอก root cause</a:t>
            </a:r>
          </a:p>
          <a:p>
            <a:r>
              <a:t>- AI ที่ดีต้องแตกคำถามและรู้ว่าควรเรียก evidence ใด</a:t>
            </a:r>
          </a:p>
          <a:p/>
          <a:p>
            <a:r>
              <a:t>Transition: ต่อไปคือภาพการเชื่อม evidence ที่เป็นหัวใจของ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15 — Correlation visual (3 นาที)</a:t>
            </a:r>
          </a:p>
          <a:p/>
          <a:p>
            <a:r>
              <a:t>- Datadog ให้ telemetry ที่ละเอียด ส่วน Knowledge/Change เติมบริบทที่ telemetry อย่างเดียวไม่มี</a:t>
            </a:r>
          </a:p>
          <a:p>
            <a:r>
              <a:t>- Agent ไม่ควรเดา root cause จาก alert เดียว แต่ต้องจัดลำดับ hypothesis พร้อมหลักฐานสนับสนุนและหลักฐานที่ขัดแย้ง</a:t>
            </a:r>
          </a:p>
          <a:p>
            <a:r>
              <a:t>- ผลลัพธ์สุดท้ายต้องบอก gap และ confidence ไม่ใช่ตอบอย่างมั่นใจเกินจริง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16 — Demo flow (1 นาที)</a:t>
            </a:r>
          </a:p>
          <a:p/>
          <a:p>
            <a:r>
              <a:t>- แจ้งว่าจะใช้ข้อมูลสาธิตและ Agent แบบ read-only</a:t>
            </a:r>
          </a:p>
          <a:p>
            <a:r>
              <a:t>- ถ้า live connection ไม่พร้อม ให้ใช้ screenshot/video fallback โดยบอกผู้ฟังอย่างตรงไปตรงมา</a:t>
            </a:r>
          </a:p>
          <a:p>
            <a:r>
              <a:t>- จับเวลารวม demo ไม่เกิน 8 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17 — Demo 1 — เริ่มจากสถานการณ์ปัจจุบัน (1–2 นาที)</a:t>
            </a:r>
          </a:p>
          <a:p/>
          <a:p>
            <a:r>
              <a:t>- อ่าน prompt ให้ผู้ฟังเห็นว่าเป็นภาษาธรรมดา ไม่ต้องรู้ชื่อ query หรือ dashboard</a:t>
            </a:r>
          </a:p>
          <a:p>
            <a:r>
              <a:t>- ชี้ผลลัพธ์ที่คาดหวัง: Executive summary, time window, affected service และ evidence links</a:t>
            </a:r>
          </a:p>
          <a:p>
            <a:r>
              <a:t>- ชี้แหล่งหลักฐาน: Datadog monitor/event results พร้อม timestamp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18 — Demo 2 — เปลี่ยนข้อมูลเป็นภาพ (1–2 นาที)</a:t>
            </a:r>
          </a:p>
          <a:p/>
          <a:p>
            <a:r>
              <a:t>- อ่าน prompt ให้ผู้ฟังเห็นว่าเป็นภาษาธรรมดา ไม่ต้องรู้ชื่อ query หรือ dashboard</a:t>
            </a:r>
          </a:p>
          <a:p>
            <a:r>
              <a:t>- ชี้ผลลัพธ์ที่คาดหวัง: กราฟที่อ่านง่ายและไม่มีตัวเลขที่ model สร้างเอง</a:t>
            </a:r>
          </a:p>
          <a:p>
            <a:r>
              <a:t>- ชี้แหล่งหลักฐาน: Exact successful Datadog tool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19 — Demo 3 — เชื่อม Datadog กับ Knowledge (1–2 นาที)</a:t>
            </a:r>
          </a:p>
          <a:p/>
          <a:p>
            <a:r>
              <a:t>- อ่าน prompt ให้ผู้ฟังเห็นว่าเป็นภาษาธรรมดา ไม่ต้องรู้ชื่อ query หรือ dashboard</a:t>
            </a:r>
          </a:p>
          <a:p>
            <a:r>
              <a:t>- ชี้ผลลัพธ์ที่คาดหวัง: Ranked hypotheses, confidence, gap, owner และ approval boundary</a:t>
            </a:r>
          </a:p>
          <a:p>
            <a:r>
              <a:t>- ชี้แหล่งหลักฐาน: Datadog evidence + authorized Change/Runbook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20 — Demo result (2 นาที)</a:t>
            </a:r>
          </a:p>
          <a:p/>
          <a:p>
            <a:r>
              <a:t>- ตัวเลขบนสไลด์เป็นตัวอย่างรูปแบบผลลัพธ์ ไม่ใช่ข้อมูลจริงของธนาคาร</a:t>
            </a:r>
          </a:p>
          <a:p>
            <a:r>
              <a:t>- ชี้ว่าคำแนะนำผูกกับ evidence chain และมี confidence/gap</a:t>
            </a:r>
          </a:p>
          <a:p>
            <a:r>
              <a:t>- Action ที่เปลี่ยน production ต้องมี owner และ approval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21 — More banking use cases (2 นาที)</a:t>
            </a:r>
          </a:p>
          <a:p/>
          <a:p>
            <a:r>
              <a:t>- แต่ละ use case ใช้ platform capability เดิม แต่เปลี่ยน Agent, Knowledge และ Integration</a:t>
            </a:r>
          </a:p>
          <a:p>
            <a:r>
              <a:t>- เริ่มจาก use case ที่ read-only และมีข้อมูลพร้อม</a:t>
            </a:r>
          </a:p>
          <a:p>
            <a:r>
              <a:t>- ไม่ควรสร้าง agent จำนวนมากโดยไม่มี owner, metric และ lifecycle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22 — Governance (3 นาที)</a:t>
            </a:r>
          </a:p>
          <a:p/>
          <a:p>
            <a:r>
              <a:t>- อธิบาย defense in depth ตั้งแต่ใครเรียก ไปจนถึง action ใดได้รับอนุญาต</a:t>
            </a:r>
          </a:p>
          <a:p>
            <a:r>
              <a:t>- Audit ที่ดีเก็บ metadata ที่จำเป็น โดยไม่เก็บ raw prompt, credential หรือ tool output ที่อ่อนไหว</a:t>
            </a:r>
          </a:p>
          <a:p>
            <a:r>
              <a:t>- สำหรับธนาคารควรเริ่ม read-only, least privilege และ segregation of duties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23 — Pilot roadmap (2 นาที)</a:t>
            </a:r>
          </a:p>
          <a:p/>
          <a:p>
            <a:r>
              <a:t>- จำกัด pilot ให้หนึ่ง critical service และหนึ่งทีม owner</a:t>
            </a:r>
          </a:p>
          <a:p>
            <a:r>
              <a:t>- เก็บ baseline ก่อนเริ่ม เช่น investigation time, MTTR, repeat incident และเวลาเตรียม briefing</a:t>
            </a:r>
          </a:p>
          <a:p>
            <a:r>
              <a:t>- Scale decision ต้องดูทั้ง value, accuracy, adoption และ control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24 — Takeaways (1 นาที)</a:t>
            </a:r>
          </a:p>
          <a:p/>
          <a:p>
            <a:r>
              <a:t>- ทวนสามคำสำคัญ: Layer, Evidence, Control</a:t>
            </a:r>
          </a:p>
          <a:p>
            <a:r>
              <a:t>- บอกผู้ฟังว่าคำถามในเกมทั้งหมดมาจากหลักการเหล่านี้และ demo</a:t>
            </a:r>
          </a:p>
          <a:p/>
          <a:p>
            <a:r>
              <a:t>Transition: เข้าสู่เกม 15 ข้อ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25 — Game instructions (1 นาที)</a:t>
            </a:r>
          </a:p>
          <a:p/>
          <a:p>
            <a:r>
              <a:t>- หากไม่มีระบบตอบคำถาม ใช้วิธีให้แต่ละโต๊ะยกกระดาษ A/B/C/D</a:t>
            </a:r>
          </a:p>
          <a:p>
            <a:r>
              <a:t>- เฉลยอยู่ใน Speaker Notes ของแต่ละข้อ</a:t>
            </a:r>
          </a:p>
          <a:p>
            <a:r>
              <a:t>- ควรใช้เวลาอ่าน 20 วินาที ตอบ 15 วินาที และเฉลยสั้น 10–15 วินาที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26 — Quiz 1 (45–60 วินาที)</a:t>
            </a:r>
          </a:p>
          <a:p/>
          <a:p>
            <a:r>
              <a:t>- คำตอบ: B</a:t>
            </a:r>
          </a:p>
          <a:p>
            <a:r>
              <a:t>- เหตุผล: Applied AI เน้น Faster understanding, safer decision และ repeatable operation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27 — Quiz 2 (45–60 วินาที)</a:t>
            </a:r>
          </a:p>
          <a:p/>
          <a:p>
            <a:r>
              <a:t>- คำตอบ: C</a:t>
            </a:r>
          </a:p>
          <a:p>
            <a:r>
              <a:t>- เหตุผล: ระบบเดิมยังเป็นเจ้าของข้อมูลจริง ส่วน AI เชื่อม context และ workflow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28 — Quiz 3 (45–60 วินาที)</a:t>
            </a:r>
          </a:p>
          <a:p/>
          <a:p>
            <a:r>
              <a:t>- คำตอบ: B</a:t>
            </a:r>
          </a:p>
          <a:p>
            <a:r>
              <a:t>- เหตุผล: เป็น mental model สี่ขั้นที่ใช้ตลอดการนำเสนอ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29 — Quiz 4 (45–60 วินาที)</a:t>
            </a:r>
          </a:p>
          <a:p/>
          <a:p>
            <a:r>
              <a:t>- คำตอบ: C</a:t>
            </a:r>
          </a:p>
          <a:p>
            <a:r>
              <a:t>- เหตุผล: ต้องเริ่มจากหลักฐานและขอบเขตเหตุการณ์ก่อนแนะนำ action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30 — Quiz 5 (45–60 วินาที)</a:t>
            </a:r>
          </a:p>
          <a:p/>
          <a:p>
            <a:r>
              <a:t>- คำตอบ: A</a:t>
            </a:r>
          </a:p>
          <a:p>
            <a:r>
              <a:t>- เหตุผล: Datadog ให้ RUM, APM, logs, infrastructure/database signals และ events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31 — Quiz 6 (45–60 วินาที)</a:t>
            </a:r>
          </a:p>
          <a:p/>
          <a:p>
            <a:r>
              <a:t>- คำตอบ: B</a:t>
            </a:r>
          </a:p>
          <a:p>
            <a:r>
              <a:t>- เหตุผล: KM เติม operational context และวิธีปฏิบัติที่ผ่านการรับรอง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32 — Quiz 7 (45–60 วินาที)</a:t>
            </a:r>
          </a:p>
          <a:p/>
          <a:p>
            <a:r>
              <a:t>- คำตอบ: C</a:t>
            </a:r>
          </a:p>
          <a:p>
            <a:r>
              <a:t>- เหตุผล: ผลลัพธ์ต้องตรวจสอบย้อนกลับและแสดง uncertainty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33 — Quiz 8 (45–60 วินาที)</a:t>
            </a:r>
          </a:p>
          <a:p/>
          <a:p>
            <a:r>
              <a:t>- คำตอบ: B</a:t>
            </a:r>
          </a:p>
          <a:p>
            <a:r>
              <a:t>- เหตุผล: Analyze/Recommend ให้คุณค่าสูงโดยยังไม่เสี่ยงกับ production write action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34 — Quiz 9 (45–60 วินาที)</a:t>
            </a:r>
          </a:p>
          <a:p/>
          <a:p>
            <a:r>
              <a:t>- คำตอบ: A</a:t>
            </a:r>
          </a:p>
          <a:p>
            <a:r>
              <a:t>- เหตุผล: สิทธิ์และ tool policy ต้องจำกัดตามผู้ใช้ ทีม และ use case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35 — Quiz 10 (45–60 วินาที)</a:t>
            </a:r>
          </a:p>
          <a:p/>
          <a:p>
            <a:r>
              <a:t>- คำตอบ: B</a:t>
            </a:r>
          </a:p>
          <a:p>
            <a:r>
              <a:t>- เหตุผล: Server-side enforcement เป็น security boundary ที่ตรวจสอบได้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36 — Quiz 11 (45–60 วินาที)</a:t>
            </a:r>
          </a:p>
          <a:p/>
          <a:p>
            <a:r>
              <a:t>- คำตอบ: B</a:t>
            </a:r>
          </a:p>
          <a:p>
            <a:r>
              <a:t>- เหตุผล: Mean Time to Restore/Resolve สะท้อนความเร็วในการกู้บริการ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37 — Quiz 12 (45–60 วินาที)</a:t>
            </a:r>
          </a:p>
          <a:p/>
          <a:p>
            <a:r>
              <a:t>- คำตอบ: B</a:t>
            </a:r>
          </a:p>
          <a:p>
            <a:r>
              <a:t>- เหตุผล: Visualization ต้อง trace กลับไปยังผลลัพธ์จากระบบจริง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38 — Quiz 13 (45–60 วินาที)</a:t>
            </a:r>
          </a:p>
          <a:p/>
          <a:p>
            <a:r>
              <a:t>- คำตอบ: B</a:t>
            </a:r>
          </a:p>
          <a:p>
            <a:r>
              <a:t>- เหตุผล: ข้อมูลพร้อม วัดผลได้ และความเสี่ยงต่ำกว่า write automation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39 — Quiz 14 (45–60 วินาที)</a:t>
            </a:r>
          </a:p>
          <a:p/>
          <a:p>
            <a:r>
              <a:t>- คำตอบ: C</a:t>
            </a:r>
          </a:p>
          <a:p>
            <a:r>
              <a:t>- เหตุผล: เก็บ metadata ที่จำเป็นโดยไม่สร้างแหล่งข้อมูลอ่อนไหวใหม่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40 — Quiz 15 (45–60 วินาที)</a:t>
            </a:r>
          </a:p>
          <a:p/>
          <a:p>
            <a:r>
              <a:t>- คำตอบ: B</a:t>
            </a:r>
          </a:p>
          <a:p>
            <a:r>
              <a:t>- เหตุผล: เป็น core message ของ Operational Excellence Through Applied AI</a:t>
            </a:r>
          </a:p>
          <a:p>
            <a:r>
              <a:t>- ให้คะแนนก่อนเลื่อนไปข้อถัดไป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 41 — Closing (1 นาที)</a:t>
            </a:r>
          </a:p>
          <a:p/>
          <a:p>
            <a:r>
              <a:t>- ประกาศทีมชนะและเชื่อมกลับไปยัง 90-day pilot</a:t>
            </a:r>
          </a:p>
          <a:p>
            <a:r>
              <a:t>- ปิดด้วยข้อเสนอให้เลือกหนึ่ง critical service สำหรับ workshop ถัดไป</a:t>
            </a:r>
          </a:p>
          <a:p>
            <a:r>
              <a:t>- หากต้องการขายแพลตฟอร์ม ให้เปลี่ยน Next Conversation เป็นชื่อ workshop และช่องทางติดต่อจริงก่อนนำเสนอ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21792"/>
            <a:ext cx="5120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22B5C1"/>
                </a:solidFill>
                <a:latin typeface="Arial"/>
              </a:defRPr>
            </a:pPr>
            <a:r>
              <a:t>BANKING IT OUTING • APPLIED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07592"/>
            <a:ext cx="6492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rial"/>
              </a:defRPr>
            </a:pPr>
            <a:r>
              <a:t>Operational Excellence</a:t>
            </a:r>
            <a:br/>
            <a:r>
              <a:t>Through Applied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61264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100" b="0">
                <a:solidFill>
                  <a:srgbClr val="C5D9EA"/>
                </a:solidFill>
                <a:latin typeface="Arial"/>
              </a:defRPr>
            </a:pPr>
            <a:r>
              <a:t>to New IT Operational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22191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31335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22B5C1"/>
                </a:solidFill>
                <a:latin typeface="Arial"/>
              </a:defRPr>
            </a:pPr>
            <a:r>
              <a:t>45 MIN TALK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3822191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3831335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15 MIN GAME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07408"/>
            <a:ext cx="6035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จากข้อมูลกระจัดกระจาย → หลักฐานที่เชื่อมโยง → การตัดสินใจที่เร็วและปลอดภัย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3410712"/>
            <a:ext cx="3310129" cy="0"/>
          </a:xfrm>
          <a:prstGeom prst="line">
            <a:avLst/>
          </a:prstGeom>
          <a:ln w="27940">
            <a:solidFill>
              <a:srgbClr val="537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903720" y="2898648"/>
            <a:ext cx="1005840" cy="1005840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907791"/>
            <a:ext cx="1005840" cy="9875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4" name="Oval 13"/>
          <p:cNvSpPr/>
          <p:nvPr/>
        </p:nvSpPr>
        <p:spPr>
          <a:xfrm>
            <a:off x="8631936" y="2414016"/>
            <a:ext cx="1993392" cy="1993392"/>
          </a:xfrm>
          <a:prstGeom prst="ellipse">
            <a:avLst/>
          </a:prstGeom>
          <a:solidFill>
            <a:srgbClr val="132B4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6" y="2953512"/>
            <a:ext cx="199339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800" b="1">
                <a:solidFill>
                  <a:srgbClr val="F57F22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16" name="Oval 15"/>
          <p:cNvSpPr/>
          <p:nvPr/>
        </p:nvSpPr>
        <p:spPr>
          <a:xfrm>
            <a:off x="10497312" y="2898648"/>
            <a:ext cx="1005840" cy="1005840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97312" y="2907791"/>
            <a:ext cx="1005840" cy="9875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4160520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BACCDD"/>
                </a:solidFill>
                <a:latin typeface="Arial"/>
              </a:defRPr>
            </a:pPr>
            <a:r>
              <a:t>Datadog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457200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BACCDD"/>
                </a:solidFill>
                <a:latin typeface="Arial"/>
              </a:defRPr>
            </a:pPr>
            <a:r>
              <a:t>Applied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160520"/>
            <a:ext cx="1371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BACCDD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36208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0">
                <a:solidFill>
                  <a:srgbClr val="91A9BF"/>
                </a:solidFill>
                <a:latin typeface="Arial"/>
              </a:defRPr>
            </a:pPr>
            <a:r>
              <a:t>For Banking Technology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SESSION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วันนี้เราจะเดินทางอย่างไร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267712"/>
            <a:ext cx="685800" cy="685800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1F6FD6"/>
                </a:solidFill>
                <a:latin typeface="Arial"/>
              </a:defRPr>
            </a:pPr>
            <a: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Operational pressure</a:t>
            </a:r>
            <a:br/>
            <a:r>
              <a:t>in banking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3200400"/>
            <a:ext cx="274320" cy="0"/>
          </a:xfrm>
          <a:prstGeom prst="line">
            <a:avLst/>
          </a:prstGeom>
          <a:ln w="2540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44368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79" y="2267712"/>
            <a:ext cx="685800" cy="685800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22B5C1"/>
                </a:solidFill>
                <a:latin typeface="Arial"/>
              </a:defRPr>
            </a:pPr>
            <a:r>
              <a:t>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Applied AI Platform</a:t>
            </a:r>
            <a:br/>
            <a:r>
              <a:t>แบบเข้าใจง่าย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56048" y="3200400"/>
            <a:ext cx="274320" cy="0"/>
          </a:xfrm>
          <a:prstGeom prst="line">
            <a:avLst/>
          </a:prstGeom>
          <a:ln w="2540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30368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97879" y="2267712"/>
            <a:ext cx="685800" cy="685800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79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F57F22"/>
                </a:solidFill>
                <a:latin typeface="Arial"/>
              </a:defRPr>
            </a:pPr>
            <a:r>
              <a:t>SHOW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Datadog + AI</a:t>
            </a:r>
            <a:br/>
            <a:r>
              <a:t>incident demo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42048" y="3200400"/>
            <a:ext cx="274319" cy="0"/>
          </a:xfrm>
          <a:prstGeom prst="line">
            <a:avLst/>
          </a:prstGeom>
          <a:ln w="2540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16367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83879" y="2267712"/>
            <a:ext cx="685800" cy="685800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229967"/>
                </a:solidFill>
                <a:latin typeface="Arial"/>
              </a:defRPr>
            </a:pPr>
            <a: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7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Security, governance</a:t>
            </a:r>
            <a:br/>
            <a:r>
              <a:t>and human approval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28047" y="3200400"/>
            <a:ext cx="274320" cy="0"/>
          </a:xfrm>
          <a:prstGeom prst="line">
            <a:avLst/>
          </a:prstGeom>
          <a:ln w="25400">
            <a:solidFill>
              <a:srgbClr val="229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02367" y="1965960"/>
            <a:ext cx="20116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69880" y="2267712"/>
            <a:ext cx="685800" cy="685800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2423160"/>
            <a:ext cx="685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9" y="3127248"/>
            <a:ext cx="168249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6F4FC4"/>
                </a:solidFill>
                <a:latin typeface="Arial"/>
              </a:defRPr>
            </a:pPr>
            <a:r>
              <a:t>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7" y="3611880"/>
            <a:ext cx="1645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596978"/>
                </a:solidFill>
                <a:latin typeface="Arial"/>
              </a:defRPr>
            </a:pPr>
            <a:r>
              <a:t>15-question</a:t>
            </a:r>
            <a:br/>
            <a:r>
              <a:t>team challenge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5449824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5596128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45 นาทีแรก: เข้าใจและเห็นของจริง  |  15 นาทีท้าย: เล่นเกมและทบทวน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เวลาเกิด Incident อะไรทำให้เราเสียเวลามากที่สุด?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066543"/>
            <a:ext cx="658368" cy="65836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75687"/>
            <a:ext cx="65836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011679"/>
            <a:ext cx="37490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600" b="1">
                <a:solidFill>
                  <a:srgbClr val="182635"/>
                </a:solidFill>
                <a:latin typeface="Arial"/>
              </a:defRPr>
            </a:pPr>
            <a:r>
              <a:t>หา Signal ที่ใช่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505456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Alert, log และ metric มีจำนวนมาก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52120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066543"/>
            <a:ext cx="658368" cy="658368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75687"/>
            <a:ext cx="65836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6" y="2011679"/>
            <a:ext cx="37490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600" b="1">
                <a:solidFill>
                  <a:srgbClr val="182635"/>
                </a:solidFill>
                <a:latin typeface="Arial"/>
              </a:defRPr>
            </a:pPr>
            <a:r>
              <a:t>หา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6" y="2505456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ไม่รู้ว่าเพิ่งเปลี่ยนอะไร ใครเป็น owner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52120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4215384"/>
            <a:ext cx="658368" cy="65836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224528"/>
            <a:ext cx="65836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160520"/>
            <a:ext cx="37490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600" b="1">
                <a:solidFill>
                  <a:srgbClr val="182635"/>
                </a:solidFill>
                <a:latin typeface="Arial"/>
              </a:defRPr>
            </a:pPr>
            <a:r>
              <a:t>หา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654296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Runbook อยู่หลายที่หรือไม่ทันสมัย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3886200"/>
            <a:ext cx="521208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4215384"/>
            <a:ext cx="658368" cy="658368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24528"/>
            <a:ext cx="65836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6" y="4160520"/>
            <a:ext cx="374903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600" b="1">
                <a:solidFill>
                  <a:srgbClr val="182635"/>
                </a:solidFill>
                <a:latin typeface="Arial"/>
              </a:defRPr>
            </a:pPr>
            <a:r>
              <a:t>ประสานงาน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4654296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หลายทีมเห็นข้อมูลคนละชุด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Operational Excellence วัดจากผลลัพธ์ ไม่ใช่จำนวน AI Tools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22494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300" b="1">
                <a:solidFill>
                  <a:srgbClr val="1F6FD6"/>
                </a:solidFill>
                <a:latin typeface="Arial"/>
              </a:defRPr>
            </a:pPr>
            <a:r>
              <a:t>↓ MTTR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950" b="0">
                <a:solidFill>
                  <a:srgbClr val="596978"/>
                </a:solidFill>
                <a:latin typeface="Arial"/>
              </a:defRPr>
            </a:pPr>
            <a:r>
              <a:t>แก้เหตุขัดข้องเร็วขึ้น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91640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2494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300" b="1">
                <a:solidFill>
                  <a:srgbClr val="229967"/>
                </a:solidFill>
                <a:latin typeface="Arial"/>
              </a:defRPr>
            </a:pPr>
            <a:r>
              <a:t>↑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50008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950" b="0">
                <a:solidFill>
                  <a:srgbClr val="596978"/>
                </a:solidFill>
                <a:latin typeface="Arial"/>
              </a:defRPr>
            </a:pPr>
            <a:r>
              <a:t>บริการสำคัญมีเสถียรภาพ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91640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47088"/>
            <a:ext cx="22494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300" b="1">
                <a:solidFill>
                  <a:srgbClr val="F57F22"/>
                </a:solidFill>
                <a:latin typeface="Arial"/>
              </a:defRPr>
            </a:pPr>
            <a:r>
              <a:t>↓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50008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950" b="0">
                <a:solidFill>
                  <a:srgbClr val="596978"/>
                </a:solidFill>
                <a:latin typeface="Arial"/>
              </a:defRPr>
            </a:pPr>
            <a:r>
              <a:t>ทุกการตัดสินใจมีหลักฐาน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1691640"/>
            <a:ext cx="246888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1847088"/>
            <a:ext cx="224942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300" b="1">
                <a:solidFill>
                  <a:srgbClr val="6F4FC4"/>
                </a:solidFill>
                <a:latin typeface="Arial"/>
              </a:defRPr>
            </a:pPr>
            <a:r>
              <a:t>↑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350008"/>
            <a:ext cx="224942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950" b="0">
                <a:solidFill>
                  <a:srgbClr val="596978"/>
                </a:solidFill>
                <a:latin typeface="Arial"/>
              </a:defRPr>
            </a:pPr>
            <a:r>
              <a:t>ทีมใช้เวลากับงานมูลค่าสูง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10698480" cy="1664208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703320"/>
            <a:ext cx="996696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AI ที่ดีต้องช่วยให้คนเห็นเหตุการณ์เดียวกัน ตัดสินใจบนหลักฐานเดียวกัน</a:t>
            </a:r>
            <a:br/>
            <a:r>
              <a:t>และดำเนินการภายใต้นโยบายเดียวกัน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52297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566928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Success = Faster understanding + Safer decision + Repeatable operation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Banking IT: ระบบต้องเร็ว ปลอดภัย และตรวจสอบย้อนหลังได้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45920"/>
            <a:ext cx="64008" cy="1572768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47088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24×7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Mobile, payment, transfer และ customer channels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45920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645920"/>
            <a:ext cx="64008" cy="1572768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1847088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5623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2880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HYBRID ESTATE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3172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Cloud, on-prem, mainframe, database และ 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1645920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62672" y="1645920"/>
            <a:ext cx="64008" cy="1572768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18704" y="1847088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85623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82880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HIGH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33172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Release, configuration และ dependency เปลี่ยนทุกวัน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749039"/>
            <a:ext cx="64008" cy="1572768"/>
          </a:xfrm>
          <a:prstGeom prst="rect">
            <a:avLst/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3950207"/>
            <a:ext cx="438912" cy="43891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5935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93192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REGULATED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3484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Access control, evidence, audit และ segregation of duties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749039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749039"/>
            <a:ext cx="64008" cy="1572768"/>
          </a:xfrm>
          <a:prstGeom prst="rect">
            <a:avLst/>
          </a:prstGeom>
          <a:solidFill>
            <a:srgbClr val="6F4FC4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16552" y="3950207"/>
            <a:ext cx="438912" cy="43891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395935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93192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SKILL PRESSURE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443484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ความรู้สำคัญกระจุกอยู่กับผู้เชี่ยวชาญบางคน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3749039"/>
            <a:ext cx="32461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3749039"/>
            <a:ext cx="64008" cy="1572768"/>
          </a:xfrm>
          <a:prstGeom prst="rect">
            <a:avLst/>
          </a:prstGeom>
          <a:solidFill>
            <a:srgbClr val="CA41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18704" y="3950207"/>
            <a:ext cx="438912" cy="438912"/>
          </a:xfrm>
          <a:prstGeom prst="ellipse">
            <a:avLst/>
          </a:prstGeom>
          <a:solidFill>
            <a:srgbClr val="CA4146"/>
          </a:solidFill>
          <a:ln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18704" y="395935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931920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SIGNAL VOLUME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4434840"/>
            <a:ext cx="2770632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Alert, log และ ticket มากกว่าที่คนจะอ่านทั้งหมด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APPLIED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จาก Chatbot สู่ Operational Capability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4440" y="3886200"/>
            <a:ext cx="9738360" cy="0"/>
          </a:xfrm>
          <a:prstGeom prst="line">
            <a:avLst/>
          </a:prstGeom>
          <a:ln w="635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3529584"/>
            <a:ext cx="713232" cy="713232"/>
          </a:xfrm>
          <a:prstGeom prst="ellipse">
            <a:avLst/>
          </a:prstGeom>
          <a:solidFill>
            <a:srgbClr val="AAB9C6"/>
          </a:solidFill>
          <a:ln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84831"/>
            <a:ext cx="11155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AAB9C6"/>
                </a:solidFill>
                <a:latin typeface="Arial"/>
              </a:defRPr>
            </a:pPr>
            <a: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78608"/>
            <a:ext cx="148132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ตอบคำถามทั่วไป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10512" y="3611880"/>
            <a:ext cx="256031" cy="0"/>
          </a:xfrm>
          <a:prstGeom prst="line">
            <a:avLst/>
          </a:prstGeom>
          <a:ln w="21590">
            <a:solidFill>
              <a:srgbClr val="AAB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63240" y="3438144"/>
            <a:ext cx="896112" cy="8961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2084831"/>
            <a:ext cx="12984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1F6FD6"/>
                </a:solidFill>
                <a:latin typeface="Arial"/>
              </a:defRPr>
            </a:pPr>
            <a:r>
              <a:t>KNOW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2578608"/>
            <a:ext cx="166420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ค้น Knowledge พร้อม citation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42232" y="3611880"/>
            <a:ext cx="256032" cy="0"/>
          </a:xfrm>
          <a:prstGeom prst="line">
            <a:avLst/>
          </a:prstGeom>
          <a:ln w="2159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303520" y="3346704"/>
            <a:ext cx="1078992" cy="107899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2084831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22B5C1"/>
                </a:solidFill>
                <a:latin typeface="Arial"/>
              </a:defRPr>
            </a:pPr>
            <a:r>
              <a:t>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2578608"/>
            <a:ext cx="18470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เชื่อม signal และ 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65392" y="3611880"/>
            <a:ext cx="256031" cy="0"/>
          </a:xfrm>
          <a:prstGeom prst="line">
            <a:avLst/>
          </a:prstGeom>
          <a:ln w="2159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726679" y="3255264"/>
            <a:ext cx="1261872" cy="126187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1" y="2084831"/>
            <a:ext cx="16642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57F22"/>
                </a:solidFill>
                <a:latin typeface="Arial"/>
              </a:defRPr>
            </a:pPr>
            <a: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1" y="2578608"/>
            <a:ext cx="202996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เรียก tool ภายใต้นโยบาย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71431" y="3611880"/>
            <a:ext cx="256032" cy="0"/>
          </a:xfrm>
          <a:prstGeom prst="line">
            <a:avLst/>
          </a:prstGeom>
          <a:ln w="2159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012680" y="3163824"/>
            <a:ext cx="1444752" cy="144475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1" y="2084831"/>
            <a:ext cx="18470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229967"/>
                </a:solidFill>
                <a:latin typeface="Arial"/>
              </a:defRPr>
            </a:pPr>
            <a: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2578608"/>
            <a:ext cx="221284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เก็บผลลัพธ์เป็นวิธีทำงาน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5504688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5650992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Applied AI ไม่ใช่แค่สร้างคำตอบ แต่ช่วยทำงานที่มี Context, Evidence และ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22B5C1"/>
                </a:solidFill>
                <a:latin typeface="Arial"/>
              </a:defRPr>
            </a:pPr>
            <a:r>
              <a:t>APPLIED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</a:defRPr>
            </a:pPr>
            <a:r>
              <a:t>Applied AI แบบเข้าใจง่าย: รับรู้ → เข้าใจ → แนะนำ → ช่วยดำเนินการ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B6CADC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B6CADC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2514600" cy="2423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139696"/>
            <a:ext cx="749808" cy="7498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31343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081528"/>
            <a:ext cx="2057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529584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BED1E1"/>
                </a:solidFill>
                <a:latin typeface="Arial"/>
              </a:defRPr>
            </a:pPr>
            <a:r>
              <a:t>อ่าน alert, metric, log, ticket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36976" y="2971800"/>
            <a:ext cx="265176" cy="0"/>
          </a:xfrm>
          <a:prstGeom prst="line">
            <a:avLst/>
          </a:prstGeom>
          <a:ln w="2540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1828800"/>
            <a:ext cx="2514600" cy="2423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61688" y="2139696"/>
            <a:ext cx="749808" cy="749808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31343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081528"/>
            <a:ext cx="2057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22B5C1"/>
                </a:solidFill>
                <a:latin typeface="Arial"/>
              </a:defRPr>
            </a:pPr>
            <a: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3529584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BED1E1"/>
                </a:solidFill>
                <a:latin typeface="Arial"/>
              </a:defRPr>
            </a:pPr>
            <a:r>
              <a:t>เชื่อม service, change, owner, runbook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25896" y="2971800"/>
            <a:ext cx="265176" cy="0"/>
          </a:xfrm>
          <a:prstGeom prst="line">
            <a:avLst/>
          </a:prstGeom>
          <a:ln w="2540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91072" y="1828800"/>
            <a:ext cx="2514600" cy="2423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50608" y="2139696"/>
            <a:ext cx="749808" cy="7498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231343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3081528"/>
            <a:ext cx="2057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57F22"/>
                </a:solidFill>
                <a:latin typeface="Arial"/>
              </a:defRPr>
            </a:pPr>
            <a:r>
              <a:t>RECOMMEND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29584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BED1E1"/>
                </a:solidFill>
                <a:latin typeface="Arial"/>
              </a:defRPr>
            </a:pPr>
            <a:r>
              <a:t>สรุปสาเหตุและทางเลือกพร้อม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14816" y="2971800"/>
            <a:ext cx="265176" cy="0"/>
          </a:xfrm>
          <a:prstGeom prst="line">
            <a:avLst/>
          </a:prstGeom>
          <a:ln w="2540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79992" y="1828800"/>
            <a:ext cx="2514600" cy="2423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39528" y="2139696"/>
            <a:ext cx="749808" cy="7498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31343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081528"/>
            <a:ext cx="2057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229967"/>
                </a:solidFill>
                <a:latin typeface="Arial"/>
              </a:defRPr>
            </a:pPr>
            <a:r>
              <a:t>ORCHESTRATE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3529584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BED1E1"/>
                </a:solidFill>
                <a:latin typeface="Arial"/>
              </a:defRPr>
            </a:pPr>
            <a:r>
              <a:t>ส่งต่อหรือทำ action ที่ policy อนุญาต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5522976"/>
            <a:ext cx="10634472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566928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ทุกขั้นต้องรู้ว่า ใครถาม • เห็นข้อมูลอะไร • ใช้ tool ใด • ผลลัพธ์ถูกอนุมัติหรือไม่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AI Operations Platform คือชั้นเชื่อม ไม่ใช่ระบบใหม่ที่มาแทนทุกอย่าง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00" b="1">
                <a:solidFill>
                  <a:srgbClr val="596978"/>
                </a:solidFill>
                <a:latin typeface="Arial"/>
              </a:defRPr>
            </a:pPr>
            <a:r>
              <a:t>PEOPLE &amp;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246888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11095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Executives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01952"/>
            <a:ext cx="246888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11095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NOC / SRE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01952"/>
            <a:ext cx="246888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11095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Service Desk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901952"/>
            <a:ext cx="246888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1911095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Application Teams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267712"/>
            <a:ext cx="0" cy="384048"/>
          </a:xfrm>
          <a:prstGeom prst="line">
            <a:avLst/>
          </a:prstGeom>
          <a:ln w="2540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234440" y="2670048"/>
            <a:ext cx="9692640" cy="1170432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926080"/>
            <a:ext cx="3383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SECURE AI OPERATIONS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44368"/>
            <a:ext cx="5989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200" b="0">
                <a:solidFill>
                  <a:srgbClr val="C6D9EA"/>
                </a:solidFill>
                <a:latin typeface="Arial"/>
              </a:defRPr>
            </a:pPr>
            <a:r>
              <a:t>Agents  •  Knowledge  •  Reasoning  •  Tools  •  Guardrails  •  Audit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840480"/>
            <a:ext cx="0" cy="393192"/>
          </a:xfrm>
          <a:prstGeom prst="line">
            <a:avLst/>
          </a:prstGeom>
          <a:ln w="25400">
            <a:solidFill>
              <a:srgbClr val="229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6F4FC4"/>
                </a:solidFill>
                <a:latin typeface="Arial"/>
              </a:defRPr>
            </a:pPr>
            <a:r>
              <a:t>Datadog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32888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Service Desk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9976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22B5C1"/>
                </a:solidFill>
                <a:latin typeface="Arial"/>
              </a:defRPr>
            </a:pPr>
            <a:r>
              <a:t>CMDB / Change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7064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Runbooks / KM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4152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7304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229967"/>
                </a:solidFill>
                <a:latin typeface="Arial"/>
              </a:defRPr>
            </a:pPr>
            <a:r>
              <a:t>Cloud / Infra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40" y="4279392"/>
            <a:ext cx="1673352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94392" y="4517136"/>
            <a:ext cx="1527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CA4146"/>
                </a:solidFill>
                <a:latin typeface="Arial"/>
              </a:defRPr>
            </a:pPr>
            <a:r>
              <a:t>Security Tools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556869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571500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Systems of Record ยังคงเป็นแหล่งข้อมูลจริง — AI เพิ่ม intelligence และ orchestration คร่อมระบบเหล่านั้น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หกความสามารถที่เปลี่ยน AI จาก Demo ให้เป็นงานจริง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64008" cy="1600200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65376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ผู้เชี่ยวชาญเฉพาะงาน</a:t>
            </a:r>
            <a:br/>
            <a:r>
              <a:t>เช่น Operations Analyst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160020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1865376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RAG พร้อม source, page</a:t>
            </a:r>
            <a:br/>
            <a:r>
              <a:t>และ access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62672" y="1664208"/>
            <a:ext cx="64008" cy="16002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18704" y="1865376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API / MCP เชื่อมระบบ</a:t>
            </a:r>
            <a:br/>
            <a:r>
              <a:t>แบบ read-only ก่อน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785615"/>
            <a:ext cx="64008" cy="1600200"/>
          </a:xfrm>
          <a:prstGeom prst="rect">
            <a:avLst/>
          </a:prstGeom>
          <a:solidFill>
            <a:srgbClr val="6F4FC4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3986783"/>
            <a:ext cx="438912" cy="43891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Metric, log, trace, event</a:t>
            </a:r>
            <a:br/>
            <a:r>
              <a:t>จาก Datadog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785615"/>
            <a:ext cx="64008" cy="1600200"/>
          </a:xfrm>
          <a:prstGeom prst="rect">
            <a:avLst/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16552" y="3986783"/>
            <a:ext cx="438912" cy="43891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PII/DLP, tool policy</a:t>
            </a:r>
            <a:br/>
            <a:r>
              <a:t>และ least privilege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3785615"/>
            <a:ext cx="64008" cy="1600200"/>
          </a:xfrm>
          <a:prstGeom prst="rect">
            <a:avLst/>
          </a:prstGeom>
          <a:solidFill>
            <a:srgbClr val="CA41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18704" y="3986783"/>
            <a:ext cx="438912" cy="438912"/>
          </a:xfrm>
          <a:prstGeom prst="ellipse">
            <a:avLst/>
          </a:prstGeom>
          <a:solidFill>
            <a:srgbClr val="CA4146"/>
          </a:solidFill>
          <a:ln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18704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ใครเรียก agent/tool ใด</a:t>
            </a:r>
            <a:br/>
            <a:r>
              <a:t>เมื่อไรและผลสำเร็จหรือไม่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ใครรับผิดชอบอะไร?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SYSTEMS OF RECORD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2624328"/>
            <a:ext cx="347472" cy="34747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633472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24328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182635"/>
                </a:solidFill>
                <a:latin typeface="Arial"/>
              </a:defRPr>
            </a:pPr>
            <a:r>
              <a:t>เก็บข้อมูลจริง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3282696"/>
            <a:ext cx="347472" cy="34747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91839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82696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บังคับ transaction rule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3941064"/>
            <a:ext cx="347472" cy="34747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950208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4106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คง ownership เดิม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169164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6552" y="16916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1865376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APPLIED AI</a:t>
            </a:r>
          </a:p>
        </p:txBody>
      </p:sp>
      <p:sp>
        <p:nvSpPr>
          <p:cNvPr id="22" name="Oval 21"/>
          <p:cNvSpPr/>
          <p:nvPr/>
        </p:nvSpPr>
        <p:spPr>
          <a:xfrm>
            <a:off x="4690872" y="2624328"/>
            <a:ext cx="347472" cy="34747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2633472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624328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182635"/>
                </a:solidFill>
                <a:latin typeface="Arial"/>
              </a:defRPr>
            </a:pPr>
            <a:r>
              <a:t>เชื่อม context</a:t>
            </a:r>
          </a:p>
        </p:txBody>
      </p:sp>
      <p:sp>
        <p:nvSpPr>
          <p:cNvPr id="25" name="Oval 24"/>
          <p:cNvSpPr/>
          <p:nvPr/>
        </p:nvSpPr>
        <p:spPr>
          <a:xfrm>
            <a:off x="4690872" y="3282696"/>
            <a:ext cx="347472" cy="34747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3291839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282696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สรุปและจัดลำดับ</a:t>
            </a:r>
          </a:p>
        </p:txBody>
      </p:sp>
      <p:sp>
        <p:nvSpPr>
          <p:cNvPr id="28" name="Oval 27"/>
          <p:cNvSpPr/>
          <p:nvPr/>
        </p:nvSpPr>
        <p:spPr>
          <a:xfrm>
            <a:off x="4690872" y="3941064"/>
            <a:ext cx="347472" cy="34747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950208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94106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เสนอ action พร้อม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1" y="1691640"/>
            <a:ext cx="35204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19871" y="1691640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3" y="1865376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HUMAN OWNER</a:t>
            </a:r>
          </a:p>
        </p:txBody>
      </p:sp>
      <p:sp>
        <p:nvSpPr>
          <p:cNvPr id="34" name="Oval 33"/>
          <p:cNvSpPr/>
          <p:nvPr/>
        </p:nvSpPr>
        <p:spPr>
          <a:xfrm>
            <a:off x="8394192" y="2624328"/>
            <a:ext cx="347472" cy="34747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2633472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624328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182635"/>
                </a:solidFill>
                <a:latin typeface="Arial"/>
              </a:defRPr>
            </a:pPr>
            <a:r>
              <a:t>ตัดสินใจความเสี่ยง</a:t>
            </a:r>
          </a:p>
        </p:txBody>
      </p:sp>
      <p:sp>
        <p:nvSpPr>
          <p:cNvPr id="37" name="Oval 36"/>
          <p:cNvSpPr/>
          <p:nvPr/>
        </p:nvSpPr>
        <p:spPr>
          <a:xfrm>
            <a:off x="8394192" y="3282696"/>
            <a:ext cx="347472" cy="34747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3291839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282696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อนุมัติ write action</a:t>
            </a:r>
          </a:p>
        </p:txBody>
      </p:sp>
      <p:sp>
        <p:nvSpPr>
          <p:cNvPr id="40" name="Oval 39"/>
          <p:cNvSpPr/>
          <p:nvPr/>
        </p:nvSpPr>
        <p:spPr>
          <a:xfrm>
            <a:off x="8394192" y="3941064"/>
            <a:ext cx="347472" cy="34747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3950208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94106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รับผิดชอบผลลัพธ์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7240" y="552297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400" y="566928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AI ช่วยตัดสินใจได้ดีขึ้น แต่ Accountability ยังอยู่กับเจ้าของบริการและนโยบายขององค์กร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MATURITY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เริ่มเล็ก แต่สร้างทางไปสู่ความสามารถใหม่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434840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599431"/>
            <a:ext cx="3474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1F6FD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4599431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1F6FD6"/>
                </a:solidFill>
                <a:latin typeface="Arial"/>
              </a:defRPr>
            </a:pPr>
            <a:r>
              <a:t>ASSIST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5120640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ค้น Knowledge</a:t>
            </a:r>
            <a:br/>
            <a:r>
              <a:t>สรุปข้อมูล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831335"/>
            <a:ext cx="2423160" cy="1746504"/>
          </a:xfrm>
          <a:prstGeom prst="roundRect">
            <a:avLst>
              <a:gd name="adj" fmla="val 12000"/>
            </a:avLst>
          </a:prstGeom>
          <a:solidFill>
            <a:srgbClr val="E6F8F9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3995927"/>
            <a:ext cx="3474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22B5C1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3995927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22B5C1"/>
                </a:solidFill>
                <a:latin typeface="Arial"/>
              </a:defRPr>
            </a:pPr>
            <a: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517136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เชื่อม evidence</a:t>
            </a:r>
            <a:br/>
            <a:r>
              <a:t>จัดลำดับ hypothesis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27831"/>
            <a:ext cx="2423160" cy="2350008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392423"/>
            <a:ext cx="3474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57F2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392423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F57F22"/>
                </a:solidFill>
                <a:latin typeface="Arial"/>
              </a:defRPr>
            </a:pPr>
            <a:r>
              <a:t>RECOMMEND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913631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แนะนำ action</a:t>
            </a:r>
            <a:br/>
            <a:r>
              <a:t>พร้อม risk/owner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24327"/>
            <a:ext cx="2423160" cy="2953512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788920"/>
            <a:ext cx="3474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22996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7" y="2788920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229967"/>
                </a:solidFill>
                <a:latin typeface="Arial"/>
              </a:defRPr>
            </a:pPr>
            <a:r>
              <a:t>ORCHESTRATE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3310127"/>
            <a:ext cx="20116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50" b="0">
                <a:solidFill>
                  <a:srgbClr val="182635"/>
                </a:solidFill>
                <a:latin typeface="Arial"/>
              </a:defRPr>
            </a:pPr>
            <a:r>
              <a:t>ดำเนิน workflow</a:t>
            </a:r>
            <a:br/>
            <a:r>
              <a:t>เมื่อได้รับอนุมัติ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56869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571500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เป้าหมายไม่ใช่กระโดดไป Autonomous ทันที แต่เพิ่มความสามารถพร้อม Control ในแต่ละขั้น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Banking IT Use Cases: จัดลำดับด้วยเกณฑ์ที่ตรวจสอบได้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1F6FD6"/>
                </a:solidFill>
                <a:latin typeface="Arial"/>
              </a:defRPr>
            </a:pPr>
            <a:r>
              <a:t>OPERATIONAL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5456" y="1527048"/>
            <a:ext cx="493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400" b="1">
                <a:solidFill>
                  <a:srgbClr val="1F6FD6"/>
                </a:solidFill>
                <a:latin typeface="Arial"/>
              </a:defRPr>
            </a:pPr>
            <a: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01952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19" b="0">
                <a:solidFill>
                  <a:srgbClr val="596978"/>
                </a:solidFill>
                <a:latin typeface="Arial"/>
              </a:defRPr>
            </a:pPr>
            <a:r>
              <a:t>Customer impact • MTTR •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44752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E6F8F9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57276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22B5C1"/>
                </a:solidFill>
                <a:latin typeface="Arial"/>
              </a:defRPr>
            </a:pPr>
            <a:r>
              <a:t>EVIDENCE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527048"/>
            <a:ext cx="493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400" b="1">
                <a:solidFill>
                  <a:srgbClr val="22B5C1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1901952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19" b="0">
                <a:solidFill>
                  <a:srgbClr val="596978"/>
                </a:solidFill>
                <a:latin typeface="Arial"/>
              </a:defRPr>
            </a:pPr>
            <a:r>
              <a:t>Telemetry • KM • provenance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444752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57276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F57F22"/>
                </a:solidFill>
                <a:latin typeface="Arial"/>
              </a:defRPr>
            </a:pPr>
            <a:r>
              <a:t>DELIVERY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27048"/>
            <a:ext cx="493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400" b="1">
                <a:solidFill>
                  <a:srgbClr val="F57F22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1901952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19" b="0">
                <a:solidFill>
                  <a:srgbClr val="596978"/>
                </a:solidFill>
                <a:latin typeface="Arial"/>
              </a:defRPr>
            </a:pPr>
            <a:r>
              <a:t>Integration • process • effort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444752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1572768"/>
            <a:ext cx="18105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229967"/>
                </a:solidFill>
                <a:latin typeface="Arial"/>
              </a:defRPr>
            </a:pPr>
            <a:r>
              <a:t>CONTROL READINESS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4512" y="1527048"/>
            <a:ext cx="493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1400" b="1">
                <a:solidFill>
                  <a:srgbClr val="229967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1901952"/>
            <a:ext cx="2286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19" b="0">
                <a:solidFill>
                  <a:srgbClr val="596978"/>
                </a:solidFill>
                <a:latin typeface="Arial"/>
              </a:defRPr>
            </a:pPr>
            <a:r>
              <a:t>Read-only • approval •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395728"/>
            <a:ext cx="10991088" cy="438912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2505456"/>
            <a:ext cx="106253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Priority Score = 0.35V + 0.30E + 0.20F + 0.15C  •  ให้คะแนน 1 (ต่ำ) – 5 (สูง)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17520"/>
            <a:ext cx="250545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090672"/>
            <a:ext cx="241401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Use 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72384" y="3017520"/>
            <a:ext cx="49377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18103" y="3090672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017520"/>
            <a:ext cx="49377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79" y="3090672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59936" y="3017520"/>
            <a:ext cx="49377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05656" y="3090672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53712" y="3017520"/>
            <a:ext cx="493776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2" y="3090672"/>
            <a:ext cx="402336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3017520"/>
            <a:ext cx="841248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93207" y="3090672"/>
            <a:ext cx="74980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736" y="3017520"/>
            <a:ext cx="1078992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34456" y="3090672"/>
            <a:ext cx="987551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Phase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67728" y="3017520"/>
            <a:ext cx="4590288" cy="365760"/>
          </a:xfrm>
          <a:prstGeom prst="rect">
            <a:avLst/>
          </a:prstGeom>
          <a:solidFill>
            <a:srgbClr val="E9F3FF"/>
          </a:solidFill>
          <a:ln w="10160">
            <a:solidFill>
              <a:srgbClr val="AA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3090672"/>
            <a:ext cx="449884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Basis / assumption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383280"/>
            <a:ext cx="250545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465576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Morning briefing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72384" y="3383280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27248" y="3465576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3383280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21024" y="3465576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9936" y="3383280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0" y="3465576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53712" y="3383280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08576" y="3465576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47488" y="3383280"/>
            <a:ext cx="84124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02351" y="3465576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4.65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88736" y="3383280"/>
            <a:ext cx="107899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3465576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F6FD6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67728" y="3383280"/>
            <a:ext cx="459028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22592" y="3465576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Telemetry พร้อม • Read-only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3776472"/>
            <a:ext cx="250545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3858768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Incident triage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72384" y="3776472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27248" y="3858768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0" y="3776472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21024" y="3858768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59936" y="3776472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0" y="3858768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53712" y="3776472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08576" y="3858768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47488" y="3776472"/>
            <a:ext cx="841248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02351" y="3858768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4.65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88736" y="3776472"/>
            <a:ext cx="1078992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0" y="3858768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F6FD6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67728" y="3776472"/>
            <a:ext cx="4590288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22592" y="3858768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Impact สูง • Signals พร้อม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169664"/>
            <a:ext cx="250545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" y="4251960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Runbook advisor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72384" y="4169664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127248" y="4251960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66160" y="4169664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21024" y="4251960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59936" y="4169664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0" y="4251960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3712" y="4169664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08576" y="4251960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47488" y="4169664"/>
            <a:ext cx="84124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02351" y="4251960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4.15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88736" y="4169664"/>
            <a:ext cx="107899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0" y="4251960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67728" y="4169664"/>
            <a:ext cx="459028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22592" y="4251960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ขึ้นกับคุณภาพ Knowledge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562856"/>
            <a:ext cx="250545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1792" y="4645152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Change risk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72384" y="4562856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27248" y="4645152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60" y="4562856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21024" y="4645152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59936" y="4562856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0" y="4645152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53712" y="4562856"/>
            <a:ext cx="493776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608576" y="4645152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47488" y="4562856"/>
            <a:ext cx="841248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102351" y="4645152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3.85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88736" y="4562856"/>
            <a:ext cx="1078992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0" y="4645152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PREPARE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67728" y="4562856"/>
            <a:ext cx="4590288" cy="393192"/>
          </a:xfrm>
          <a:prstGeom prst="rect">
            <a:avLst/>
          </a:prstGeom>
          <a:solidFill>
            <a:srgbClr val="F6F9FC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22592" y="4645152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ขึ้นกับ Change coverage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6928" y="4956048"/>
            <a:ext cx="250545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1792" y="5038344"/>
            <a:ext cx="239572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Auto remediation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072384" y="4956048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127248" y="5038344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66160" y="4956048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21024" y="5038344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059936" y="4956048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0" y="5038344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53712" y="4956048"/>
            <a:ext cx="493776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08576" y="5038344"/>
            <a:ext cx="38404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0">
                <a:solidFill>
                  <a:srgbClr val="18263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47488" y="4956048"/>
            <a:ext cx="84124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102351" y="5038344"/>
            <a:ext cx="73152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3.20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888736" y="4956048"/>
            <a:ext cx="107899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943600" y="5038344"/>
            <a:ext cx="969264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850" b="1">
                <a:solidFill>
                  <a:srgbClr val="182635"/>
                </a:solidFill>
                <a:latin typeface="Arial"/>
              </a:defRPr>
            </a:pPr>
            <a:r>
              <a:t>LATER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967728" y="4956048"/>
            <a:ext cx="4590288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022592" y="5038344"/>
            <a:ext cx="4480559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850" b="0">
                <a:solidFill>
                  <a:srgbClr val="182635"/>
                </a:solidFill>
                <a:latin typeface="Arial"/>
              </a:defRPr>
            </a:pPr>
            <a:r>
              <a:t>Write risk • ต้องอนุมัติ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1792" y="5468112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850" b="1">
                <a:solidFill>
                  <a:srgbClr val="596978"/>
                </a:solidFill>
                <a:latin typeface="Arial"/>
              </a:defRPr>
            </a:pPr>
            <a:r>
              <a:t>ตัวอย่างคะแนน (ไม่ใช่ Banking benchmark): สมมติว่ามี Datadog telemetry แบบ read-only; ความพร้อมของ KM/Change แตกต่างตาม use case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1792" y="5779008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40" b="0">
                <a:solidFill>
                  <a:srgbClr val="596978"/>
                </a:solidFill>
                <a:latin typeface="Arial"/>
              </a:defRPr>
            </a:pPr>
            <a:r>
              <a:t>Method: Proposed Solution Discovery Scoring Framework v1.0. References informing criteria—not the formula: NIST AI RMF 1.0, NIST AI 100-1 (2023), doi.org/10.6028/NIST.AI.100-1; Google SRE Workbook, Incident Response, sre.google/workbook/incident-response/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Use Case 1 — Morning Operations Briefing ใน 3 นาที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011680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6F4FC4"/>
                </a:solidFill>
                <a:latin typeface="Arial"/>
              </a:defRPr>
            </a:pPr>
            <a:r>
              <a:t>Datadog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20" y="2487168"/>
            <a:ext cx="4434840" cy="512064"/>
          </a:xfrm>
          <a:prstGeom prst="line">
            <a:avLst/>
          </a:prstGeom>
          <a:ln w="15240">
            <a:solidFill>
              <a:srgbClr val="6F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98648" y="18288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011680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1F6FD6"/>
                </a:solidFill>
                <a:latin typeface="Arial"/>
              </a:defRPr>
            </a:pPr>
            <a:r>
              <a:t>Service Desk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2487168"/>
            <a:ext cx="2194560" cy="512064"/>
          </a:xfrm>
          <a:prstGeom prst="line">
            <a:avLst/>
          </a:prstGeom>
          <a:ln w="1524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38928" y="18288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11680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57F22"/>
                </a:solidFill>
                <a:latin typeface="Arial"/>
              </a:defRPr>
            </a:pPr>
            <a:r>
              <a:t>Change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80760" y="2487168"/>
            <a:ext cx="45720" cy="512064"/>
          </a:xfrm>
          <a:prstGeom prst="line">
            <a:avLst/>
          </a:prstGeom>
          <a:ln w="1524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79208" y="18288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011680"/>
            <a:ext cx="18196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22B5C1"/>
                </a:solidFill>
                <a:latin typeface="Arial"/>
              </a:defRPr>
            </a:pPr>
            <a:r>
              <a:t>Knowledge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80760" y="2487168"/>
            <a:ext cx="2286000" cy="512064"/>
          </a:xfrm>
          <a:prstGeom prst="line">
            <a:avLst/>
          </a:prstGeom>
          <a:ln w="1524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54880" y="2761488"/>
            <a:ext cx="2651760" cy="1042415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099816"/>
            <a:ext cx="2194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OPERATIONS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434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434840"/>
            <a:ext cx="64008" cy="1143000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4617720"/>
            <a:ext cx="2944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5120640"/>
            <a:ext cx="2907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ผลกระทบและบริการสำคัญ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434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4434840"/>
            <a:ext cx="64008" cy="11430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617720"/>
            <a:ext cx="2944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Top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5120640"/>
            <a:ext cx="2907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เรียงตาม severity และ customer impact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4434840"/>
            <a:ext cx="3383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4434840"/>
            <a:ext cx="64008" cy="1143000"/>
          </a:xfrm>
          <a:prstGeom prst="rect">
            <a:avLst/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1" y="4617720"/>
            <a:ext cx="29443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Owner &amp; next step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1" y="5120640"/>
            <a:ext cx="2907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ใครต้องทำอะไรภายในเมื่อไร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Use Case 2 — ลูกค้ารายงานว่า Mobile Banking Transfer ช้า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2926080" cy="4041648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22B5C1"/>
                </a:solidFill>
                <a:latin typeface="Arial"/>
              </a:defRPr>
            </a:pPr>
            <a:r>
              <a:t>USER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242316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“โอนเงินแล้วหน้าจอ</a:t>
            </a:r>
            <a:br/>
            <a:r>
              <a:t>หมุนนานกว่าปกติ”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950208"/>
            <a:ext cx="1828800" cy="310896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59352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CUSTOMER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755648"/>
            <a:ext cx="3200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700" b="1">
                <a:solidFill>
                  <a:srgbClr val="182635"/>
                </a:solidFill>
                <a:latin typeface="Arial"/>
              </a:defRPr>
            </a:pPr>
            <a:r>
              <a:t>คำถามของทีมปฏิบัติการ</a:t>
            </a:r>
          </a:p>
        </p:txBody>
      </p:sp>
      <p:sp>
        <p:nvSpPr>
          <p:cNvPr id="13" name="Oval 12"/>
          <p:cNvSpPr/>
          <p:nvPr/>
        </p:nvSpPr>
        <p:spPr>
          <a:xfrm>
            <a:off x="4005072" y="2404872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2414015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50591"/>
            <a:ext cx="6217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1">
                <a:solidFill>
                  <a:srgbClr val="182635"/>
                </a:solidFill>
                <a:latin typeface="Arial"/>
              </a:defRPr>
            </a:pPr>
            <a:r>
              <a:t>เกิดกับใครและช่องทางใด?</a:t>
            </a:r>
          </a:p>
        </p:txBody>
      </p:sp>
      <p:sp>
        <p:nvSpPr>
          <p:cNvPr id="16" name="Oval 15"/>
          <p:cNvSpPr/>
          <p:nvPr/>
        </p:nvSpPr>
        <p:spPr>
          <a:xfrm>
            <a:off x="4005072" y="3163824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5072" y="3172968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09544"/>
            <a:ext cx="6217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0">
                <a:solidFill>
                  <a:srgbClr val="182635"/>
                </a:solidFill>
                <a:latin typeface="Arial"/>
              </a:defRPr>
            </a:pPr>
            <a:r>
              <a:t>เริ่มเมื่อไรและสัมพันธ์กับ Change ใด?</a:t>
            </a:r>
          </a:p>
        </p:txBody>
      </p:sp>
      <p:sp>
        <p:nvSpPr>
          <p:cNvPr id="19" name="Oval 18"/>
          <p:cNvSpPr/>
          <p:nvPr/>
        </p:nvSpPr>
        <p:spPr>
          <a:xfrm>
            <a:off x="4005072" y="3922776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072" y="3931920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968496"/>
            <a:ext cx="6217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0">
                <a:solidFill>
                  <a:srgbClr val="182635"/>
                </a:solidFill>
                <a:latin typeface="Arial"/>
              </a:defRPr>
            </a:pPr>
            <a:r>
              <a:t>Bottleneck อยู่ที่ App, DB, Network หรือ Dependency?</a:t>
            </a:r>
          </a:p>
        </p:txBody>
      </p:sp>
      <p:sp>
        <p:nvSpPr>
          <p:cNvPr id="22" name="Oval 21"/>
          <p:cNvSpPr/>
          <p:nvPr/>
        </p:nvSpPr>
        <p:spPr>
          <a:xfrm>
            <a:off x="4005072" y="4681727"/>
            <a:ext cx="438912" cy="43891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469087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27447"/>
            <a:ext cx="6217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300" b="0">
                <a:solidFill>
                  <a:srgbClr val="182635"/>
                </a:solidFill>
                <a:latin typeface="Arial"/>
              </a:defRPr>
            </a:pPr>
            <a:r>
              <a:t>มี Runbook และ action ที่ปลอดภัยอะไรบ้าง?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5614416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76072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คำถามง่ายหนึ่งประโยค ต้องใช้หลักฐานจากหลายระบบจึงจะตอบได้อย่างรับผิดชอบ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22B5C1"/>
                </a:solidFill>
                <a:latin typeface="Arial"/>
              </a:defRPr>
            </a:pPr>
            <a:r>
              <a:t>DATADOG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</a:defRPr>
            </a:pPr>
            <a:r>
              <a:t>AI Operations Agent เชื่อมหลักฐานก่อนให้คำแนะนำ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B6CADC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B6CADC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874519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1F6FD6"/>
                </a:solidFill>
                <a:latin typeface="Arial"/>
              </a:defRPr>
            </a:pPr>
            <a:r>
              <a:t>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8366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Latency by journey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130552"/>
            <a:ext cx="1481328" cy="1078992"/>
          </a:xfrm>
          <a:prstGeom prst="line">
            <a:avLst/>
          </a:prstGeom>
          <a:ln w="1778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285292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971800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22B5C1"/>
                </a:solidFill>
                <a:latin typeface="Arial"/>
              </a:defRPr>
            </a:pPr>
            <a:r>
              <a:t>APM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8094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Trace &amp; dependency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560320" y="3209544"/>
            <a:ext cx="1481328" cy="18288"/>
          </a:xfrm>
          <a:prstGeom prst="line">
            <a:avLst/>
          </a:prstGeom>
          <a:ln w="1778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395020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4069080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6F4FC4"/>
                </a:solidFill>
                <a:latin typeface="Arial"/>
              </a:defRPr>
            </a:pPr>
            <a:r>
              <a:t>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7822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Errors &amp; patterns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560320" y="3209544"/>
            <a:ext cx="1481328" cy="1115568"/>
          </a:xfrm>
          <a:prstGeom prst="line">
            <a:avLst/>
          </a:prstGeom>
          <a:ln w="17780">
            <a:solidFill>
              <a:srgbClr val="6F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175564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4936" y="1874519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229967"/>
                </a:solidFill>
                <a:latin typeface="Arial"/>
              </a:defRPr>
            </a:pPr>
            <a:r>
              <a:t>INFRA /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188366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Resource saturation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165592" y="2130552"/>
            <a:ext cx="1481328" cy="1078992"/>
          </a:xfrm>
          <a:prstGeom prst="line">
            <a:avLst/>
          </a:prstGeom>
          <a:ln w="17780">
            <a:solidFill>
              <a:srgbClr val="229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285292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4936" y="2971800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F57F22"/>
                </a:solidFill>
                <a:latin typeface="Arial"/>
              </a:defRPr>
            </a:pPr>
            <a:r>
              <a:t>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98094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Deployment timeline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8165592" y="3209544"/>
            <a:ext cx="1481328" cy="18288"/>
          </a:xfrm>
          <a:prstGeom prst="line">
            <a:avLst/>
          </a:prstGeom>
          <a:ln w="1778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46920" y="3950208"/>
            <a:ext cx="2057400" cy="749808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6" y="4069080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1">
                <a:solidFill>
                  <a:srgbClr val="CA4146"/>
                </a:solidFill>
                <a:latin typeface="Arial"/>
              </a:defRPr>
            </a:pPr>
            <a:r>
              <a:t>KM / RUNBOOK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078224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50" b="0">
                <a:solidFill>
                  <a:srgbClr val="C0D3E4"/>
                </a:solidFill>
                <a:latin typeface="Arial"/>
              </a:defRPr>
            </a:pPr>
            <a:r>
              <a:t>Known fix &amp; owner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8165592" y="3209544"/>
            <a:ext cx="1481328" cy="1115568"/>
          </a:xfrm>
          <a:prstGeom prst="line">
            <a:avLst/>
          </a:prstGeom>
          <a:ln w="17780">
            <a:solidFill>
              <a:srgbClr val="CA4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023360" y="1920240"/>
            <a:ext cx="4160520" cy="4160520"/>
          </a:xfrm>
          <a:prstGeom prst="ellipse">
            <a:avLst/>
          </a:prstGeom>
          <a:solidFill>
            <a:srgbClr val="132B4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4" y="2487168"/>
            <a:ext cx="333756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t>AI OPERATIONS</a:t>
            </a:r>
            <a:br/>
            <a:r>
              <a:t>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3584448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22B5C1"/>
                </a:solidFill>
                <a:latin typeface="Arial"/>
              </a:defRPr>
            </a:pPr>
            <a:r>
              <a:t>Correlate • Rank • Explain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4096512"/>
            <a:ext cx="2011680" cy="310896"/>
          </a:xfrm>
          <a:prstGeom prst="roundRect">
            <a:avLst>
              <a:gd name="adj" fmla="val 12000"/>
            </a:avLst>
          </a:prstGeom>
          <a:solidFill>
            <a:srgbClr val="09192C"/>
          </a:solidFill>
          <a:ln w="10160">
            <a:solidFill>
              <a:srgbClr val="09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4105656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EVIDENCE-BACKED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5660136"/>
            <a:ext cx="10634472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580644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ผลลัพธ์: Timeline + Ranked hypotheses + Evidence + Runbook + Approval-ready 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Live Demo — NexoraAI + Datadog จากคำถามสู่การตัดสินใจ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97280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596978"/>
                </a:solidFill>
                <a:latin typeface="Arial"/>
              </a:defRPr>
            </a:pPr>
            <a:r>
              <a:t>ใช้ Datadog demo tenant และ Knowledge ที่ไม่ใช่ข้อมูลลูกค้าจริง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426464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2221992"/>
            <a:ext cx="658368" cy="65836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1F6FD6"/>
                </a:solidFill>
                <a:latin typeface="Arial"/>
              </a:defRPr>
            </a:pPr>
            <a: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“ช่วยตรวจสอบเหตุการณ์</a:t>
            </a:r>
            <a:br/>
            <a:r>
              <a:t>Mobile Banking ช้า”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3383280"/>
            <a:ext cx="246888" cy="0"/>
          </a:xfrm>
          <a:prstGeom prst="line">
            <a:avLst/>
          </a:prstGeom>
          <a:ln w="22860">
            <a:solidFill>
              <a:srgbClr val="1F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39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8727" y="2221992"/>
            <a:ext cx="658368" cy="658368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7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6F4FC4"/>
                </a:solidFill>
                <a:latin typeface="Arial"/>
              </a:defRPr>
            </a:pPr>
            <a: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ดึง alert, event, metric</a:t>
            </a:r>
            <a:br/>
            <a:r>
              <a:t>และ time window จาก Datadog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3383280"/>
            <a:ext cx="246887" cy="0"/>
          </a:xfrm>
          <a:prstGeom prst="line">
            <a:avLst/>
          </a:prstGeom>
          <a:ln w="22860">
            <a:solidFill>
              <a:srgbClr val="6F4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66359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70448" y="2221992"/>
            <a:ext cx="658368" cy="65836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57F22"/>
                </a:solidFill>
                <a:latin typeface="Arial"/>
              </a:defRPr>
            </a:pPr>
            <a:r>
              <a:t>CORRELATE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7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เทียบ change timeline</a:t>
            </a:r>
            <a:br/>
            <a:r>
              <a:t>และค้น runbook ใน KM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59" y="3383280"/>
            <a:ext cx="246889" cy="0"/>
          </a:xfrm>
          <a:prstGeom prst="line">
            <a:avLst/>
          </a:prstGeom>
          <a:ln w="22860">
            <a:solidFill>
              <a:srgbClr val="F57F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8079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7" y="2221992"/>
            <a:ext cx="658368" cy="658368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7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59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22B5C1"/>
                </a:solidFill>
                <a:latin typeface="Arial"/>
              </a:defRPr>
            </a:pPr>
            <a:r>
              <a:t>VISUALIZE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สร้างกราฟ severity / latency</a:t>
            </a:r>
            <a:br/>
            <a:r>
              <a:t>จากข้อมูล tool จริง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55480" y="3383280"/>
            <a:ext cx="246887" cy="0"/>
          </a:xfrm>
          <a:prstGeom prst="line">
            <a:avLst/>
          </a:prstGeom>
          <a:ln w="22860">
            <a:solidFill>
              <a:srgbClr val="22B5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829800" y="1901952"/>
            <a:ext cx="20574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33888" y="2221992"/>
            <a:ext cx="658368" cy="65836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33888" y="2377440"/>
            <a:ext cx="658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081528"/>
            <a:ext cx="1691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300" b="1">
                <a:solidFill>
                  <a:srgbClr val="229967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30968" y="3639312"/>
            <a:ext cx="1645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0">
                <a:solidFill>
                  <a:srgbClr val="596978"/>
                </a:solidFill>
                <a:latin typeface="Arial"/>
              </a:defRPr>
            </a:pPr>
            <a:r>
              <a:t>เสนอ next action, owner,</a:t>
            </a:r>
            <a:br/>
            <a:r>
              <a:t>risk และ approval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240" y="5541264"/>
            <a:ext cx="10634472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" y="5687568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1F6FD6"/>
                </a:solidFill>
                <a:latin typeface="Arial"/>
              </a:defRPr>
            </a:pPr>
            <a:r>
              <a:t>Demo success ไม่ใช่แค่ได้คำตอบ แต่ต้องเห็น source, tool, chart และขอบเขตการอนุมัติ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Demo 1 — เริ่มจากสถานการณ์ปัจจุบัน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00" b="1">
                <a:solidFill>
                  <a:srgbClr val="1F6FD6"/>
                </a:solidFill>
                <a:latin typeface="Arial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108356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700" b="1">
                <a:solidFill>
                  <a:srgbClr val="182635"/>
                </a:solidFill>
                <a:latin typeface="Arial"/>
              </a:defRPr>
            </a:pPr>
            <a:r>
              <a:t>ช่วยสรุป Alert และเหตุการณ์สำคัญที่เกี่ยวข้องกับ Mobile Banking ในช่วง 60 นาทีล่าสุด พร้อมระบุผลกระทบและข้อมูลที่ยังขาด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52303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858768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40480"/>
            <a:ext cx="4224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สิ่งที่ต้องเห็น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79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Executive summary, time window, affected service และ evidence links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657600"/>
            <a:ext cx="52852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3657600"/>
            <a:ext cx="64008" cy="141732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858768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840480"/>
            <a:ext cx="42793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หลักฐานที่ใช้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4809744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Datadog monitor/event results พร้อม timestamp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E8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229967"/>
                </a:solidFill>
                <a:latin typeface="Arial"/>
              </a:defRPr>
            </a:pPr>
            <a:r>
              <a:t>READ-ONLY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AUDITABLE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5559552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F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5568696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NO CUSTOMER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Demo 2 — เปลี่ยนข้อมูลเป็นภาพ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00" b="1">
                <a:solidFill>
                  <a:srgbClr val="6F4FC4"/>
                </a:solidFill>
                <a:latin typeface="Arial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108356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700" b="1">
                <a:solidFill>
                  <a:srgbClr val="182635"/>
                </a:solidFill>
                <a:latin typeface="Arial"/>
              </a:defRPr>
            </a:pPr>
            <a:r>
              <a:t>สร้างกราฟแนวโน้ม Alert แยกตาม Severity ในช่วงเวลาที่ตรวจสอบ และสรุปจุดเปลี่ยนที่สำคัญ โดยใช้เฉพาะข้อมูลที่ดึงได้จริง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52303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6F4FC4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858768"/>
            <a:ext cx="438912" cy="43891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40480"/>
            <a:ext cx="4224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สิ่งที่ต้องเห็น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79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กราฟที่อ่านง่ายและไม่มีตัวเลขที่ model สร้างเอง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657600"/>
            <a:ext cx="52852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3657600"/>
            <a:ext cx="64008" cy="141732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858768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840480"/>
            <a:ext cx="42793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หลักฐานที่ใช้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4809744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Exact successful Datadog tool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E8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229967"/>
                </a:solidFill>
                <a:latin typeface="Arial"/>
              </a:defRPr>
            </a:pPr>
            <a:r>
              <a:t>READ-ONLY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AUDITABLE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5559552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F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5568696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NO CUSTOMER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Demo 3 — เชื่อม Datadog กับ Knowledge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00" b="1">
                <a:solidFill>
                  <a:srgbClr val="F57F22"/>
                </a:solidFill>
                <a:latin typeface="Arial"/>
              </a:defRPr>
            </a:pPr>
            <a:r>
              <a:t>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93392"/>
            <a:ext cx="108356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700" b="1">
                <a:solidFill>
                  <a:srgbClr val="182635"/>
                </a:solidFill>
                <a:latin typeface="Arial"/>
              </a:defRPr>
            </a:pPr>
            <a:r>
              <a:t>เชื่อม Timeline ของ Alert กับ Change ที่เกี่ยวข้อง ค้น Runbook ที่ได้รับอนุญาต แล้วจัดลำดับสมมติฐาน สาเหตุ หลักฐาน Gap และ Next Action ที่ต้องขออนุมัติ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52303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3858768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40480"/>
            <a:ext cx="4224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สิ่งที่ต้องเห็น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79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Ranked hypotheses, confidence, gap, owner และ approval 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3657600"/>
            <a:ext cx="528523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3657600"/>
            <a:ext cx="64008" cy="141732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858768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67911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840480"/>
            <a:ext cx="42793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หลักฐานที่ใช้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4809744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Datadog evidence + authorized Change/Runbook Knowledge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E8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229967"/>
                </a:solidFill>
                <a:latin typeface="Arial"/>
              </a:defRPr>
            </a:pPr>
            <a:r>
              <a:t>READ-ONLY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559552"/>
            <a:ext cx="114300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568696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AUDITABLE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5559552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FF2E4"/>
          </a:solidFill>
          <a:ln w="10160">
            <a:solidFill>
              <a:srgbClr val="FF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5568696"/>
            <a:ext cx="15087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57F22"/>
                </a:solidFill>
                <a:latin typeface="Arial"/>
              </a:defRPr>
            </a:pPr>
            <a:r>
              <a:t>NO CUSTOMER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DEMO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ผลลัพธ์ที่ดีต้องตอบได้ว่า “รู้อะไร เพราะอะไร และทำอะไรต่อ”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10972800" cy="4407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856231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E9F3FF"/>
          </a:solidFill>
          <a:ln w="10160">
            <a:solidFill>
              <a:srgbClr val="E9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65375"/>
            <a:ext cx="1417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1F6FD6"/>
                </a:solidFill>
                <a:latin typeface="Arial"/>
              </a:defRPr>
            </a:pPr>
            <a:r>
              <a:t>INCIDENT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13432"/>
            <a:ext cx="71323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800" b="1">
                <a:solidFill>
                  <a:srgbClr val="182635"/>
                </a:solidFill>
                <a:latin typeface="Arial"/>
              </a:defRPr>
            </a:pPr>
            <a:r>
              <a:t>Mobile Transfer latency increased after application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0779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596978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907792"/>
            <a:ext cx="6400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50" b="0">
                <a:solidFill>
                  <a:srgbClr val="182635"/>
                </a:solidFill>
                <a:latin typeface="Arial"/>
              </a:defRPr>
            </a:pPr>
            <a:r>
              <a:t>P95 latency +180% • Error rate concentrated in transfer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0215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596978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3502152"/>
            <a:ext cx="6400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50" b="0">
                <a:solidFill>
                  <a:srgbClr val="182635"/>
                </a:solidFill>
                <a:latin typeface="Arial"/>
              </a:defRPr>
            </a:pPr>
            <a:r>
              <a:t>RUM journey → APM dependency → DB wait → change at 10:05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096512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596978"/>
                </a:solidFill>
                <a:latin typeface="Arial"/>
              </a:defRPr>
            </a:pPr>
            <a:r>
              <a:t>Hypothesis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4096512"/>
            <a:ext cx="6400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50" b="0">
                <a:solidFill>
                  <a:srgbClr val="182635"/>
                </a:solidFill>
                <a:latin typeface="Arial"/>
              </a:defRPr>
            </a:pPr>
            <a:r>
              <a:t>Connection-pool regression after release • Confidence: Medium–High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1975104"/>
            <a:ext cx="2578608" cy="3401568"/>
          </a:xfrm>
          <a:prstGeom prst="roundRect">
            <a:avLst>
              <a:gd name="adj" fmla="val 12000"/>
            </a:avLst>
          </a:prstGeom>
          <a:solidFill>
            <a:srgbClr val="E8F8F0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2258568"/>
            <a:ext cx="20299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229967"/>
                </a:solidFill>
                <a:latin typeface="Arial"/>
              </a:defRPr>
            </a:pPr>
            <a:r>
              <a:t>NEXT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788920"/>
            <a:ext cx="1965960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182635"/>
                </a:solidFill>
                <a:latin typeface="Arial"/>
              </a:defRPr>
            </a:pPr>
            <a:r>
              <a:t>Validate pool setting</a:t>
            </a:r>
            <a:br/>
            <a:r>
              <a:t>Compare previous release</a:t>
            </a:r>
            <a:br/>
            <a:r>
              <a:t>Prepare rollback</a:t>
            </a:r>
            <a:br/>
            <a:br/>
            <a:r>
              <a:t>Owner: App + DBA</a:t>
            </a:r>
            <a:br/>
            <a:r>
              <a:t>Approval: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4828032"/>
            <a:ext cx="1901952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4837176"/>
            <a:ext cx="190195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CA4146"/>
                </a:solidFill>
                <a:latin typeface="Arial"/>
              </a:defRPr>
            </a:pPr>
            <a:r>
              <a:t>NO AUTO-CHANGE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BANKING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จาก Incident หนึ่งเหตุการณ์ สู่ Operational Capabilities ทั้งองค์กร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64008" cy="1600200"/>
          </a:xfrm>
          <a:prstGeom prst="rect">
            <a:avLst/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65376"/>
            <a:ext cx="438912" cy="438912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END-OF-DAY /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ตรวจ job delay, dependency และผลกระทบต่อ settlement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1600200"/>
          </a:xfrm>
          <a:prstGeom prst="rect">
            <a:avLst/>
          </a:prstGeom>
          <a:solidFill>
            <a:srgbClr val="22B5C1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1865376"/>
            <a:ext cx="438912" cy="438912"/>
          </a:xfrm>
          <a:prstGeom prst="ellipse">
            <a:avLst/>
          </a:prstGeom>
          <a:solidFill>
            <a:srgbClr val="22B5C1"/>
          </a:solidFill>
          <a:ln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ATM /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สรุป availability ตามพื้นที่และจัดลำดับ 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1664208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62672" y="1664208"/>
            <a:ext cx="64008" cy="16002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18704" y="1865376"/>
            <a:ext cx="438912" cy="438912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874519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847088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CHANGE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350008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เชื่อม release กับ error/latency ก่อน–หลัง 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785615"/>
            <a:ext cx="64008" cy="1600200"/>
          </a:xfrm>
          <a:prstGeom prst="rect">
            <a:avLst/>
          </a:prstGeom>
          <a:solidFill>
            <a:srgbClr val="6F4FC4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3986783"/>
            <a:ext cx="438912" cy="43891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AUDIT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รวบรวม evidence พร้อม source และ timestamp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3785615"/>
            <a:ext cx="64008" cy="1600200"/>
          </a:xfrm>
          <a:prstGeom prst="rect">
            <a:avLst/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16552" y="3986783"/>
            <a:ext cx="438912" cy="438912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หา saturation trend ก่อนชน threshold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3785615"/>
            <a:ext cx="32461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3785615"/>
            <a:ext cx="64008" cy="1600200"/>
          </a:xfrm>
          <a:prstGeom prst="rect">
            <a:avLst/>
          </a:prstGeom>
          <a:solidFill>
            <a:srgbClr val="CA41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918704" y="3986783"/>
            <a:ext cx="438912" cy="438912"/>
          </a:xfrm>
          <a:prstGeom prst="ellipse">
            <a:avLst/>
          </a:prstGeom>
          <a:solidFill>
            <a:srgbClr val="CA4146"/>
          </a:solidFill>
          <a:ln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18704" y="3995927"/>
            <a:ext cx="438912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968496"/>
            <a:ext cx="2240279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400" b="1">
                <a:solidFill>
                  <a:srgbClr val="182635"/>
                </a:solidFill>
                <a:latin typeface="Arial"/>
              </a:defRPr>
            </a:pPr>
            <a:r>
              <a:t>POST-INCIDENT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18704" y="4471416"/>
            <a:ext cx="277063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596978"/>
                </a:solidFill>
                <a:latin typeface="Arial"/>
              </a:defRPr>
            </a:pPr>
            <a:r>
              <a:t>ร่าง timeline, lessons learned และ KM update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22B5C1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</a:defRPr>
            </a:pPr>
            <a:r>
              <a:t>Enterprise AI ต้องปลอดภัยตั้งแต่ Identity ถึง Action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B6CADC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B6CADC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600200"/>
            <a:ext cx="9281160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73736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1F6FD6"/>
                </a:solidFill>
                <a:latin typeface="Arial"/>
              </a:defRPr>
            </a:pPr>
            <a: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737360"/>
            <a:ext cx="6766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User / Team / Service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2221992"/>
            <a:ext cx="8695944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9616" y="2359152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22B5C1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359152"/>
            <a:ext cx="618134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Personal / Team / Global ACL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91056" y="2843784"/>
            <a:ext cx="8110728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92224" y="2980944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6F4FC4"/>
                </a:solidFill>
                <a:latin typeface="Arial"/>
              </a:defRPr>
            </a:pPr>
            <a:r>
              <a:t>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980944"/>
            <a:ext cx="55961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Source, page, freshness, citation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83664" y="3465576"/>
            <a:ext cx="7525512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3602736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F57F22"/>
                </a:solidFill>
                <a:latin typeface="Arial"/>
              </a:defRPr>
            </a:pPr>
            <a: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602736"/>
            <a:ext cx="50109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Connection ownership, allowlist, read-only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76272" y="4087368"/>
            <a:ext cx="6940296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224528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229967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4224528"/>
            <a:ext cx="44256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Guardrail, PII/DLP, prompt boundary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4709160"/>
            <a:ext cx="6355080" cy="512064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CA4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0048" y="484632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50" b="1">
                <a:solidFill>
                  <a:srgbClr val="CA4146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846320"/>
            <a:ext cx="3840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950" b="0">
                <a:solidFill>
                  <a:srgbClr val="FFFFFF"/>
                </a:solidFill>
                <a:latin typeface="Arial"/>
              </a:defRPr>
            </a:pPr>
            <a:r>
              <a:t>Risk class, approval, audit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5614416"/>
            <a:ext cx="10634472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760720"/>
            <a:ext cx="10332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Guardrail ที่มีผลต่อสิทธิ์และ Tool ต้องบังคับใช้ฝั่ง Server — ไม่ใช่พึ่ง Prompt เพียงอย่างเดียว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1F6FD6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182635"/>
                </a:solidFill>
                <a:latin typeface="Arial"/>
              </a:defRPr>
            </a:pPr>
            <a:r>
              <a:t>90-Day Pilot: พิสูจน์ Value และ Control ไปพร้อมกัน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596978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596978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529584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3529584" cy="694944"/>
          </a:xfrm>
          <a:prstGeom prst="roundRect">
            <a:avLst>
              <a:gd name="adj" fmla="val 12000"/>
            </a:avLst>
          </a:prstGeom>
          <a:solidFill>
            <a:srgbClr val="1F6FD6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65376"/>
            <a:ext cx="31638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0–30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15184"/>
            <a:ext cx="30723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1F6FD6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978407" y="3218688"/>
            <a:ext cx="292608" cy="2926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3227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3209544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เลือก 1 service</a:t>
            </a:r>
          </a:p>
        </p:txBody>
      </p:sp>
      <p:sp>
        <p:nvSpPr>
          <p:cNvPr id="14" name="Oval 13"/>
          <p:cNvSpPr/>
          <p:nvPr/>
        </p:nvSpPr>
        <p:spPr>
          <a:xfrm>
            <a:off x="978407" y="3739896"/>
            <a:ext cx="292608" cy="2926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7" y="3749039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7307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เชื่อม Datadog read-only</a:t>
            </a:r>
          </a:p>
        </p:txBody>
      </p:sp>
      <p:sp>
        <p:nvSpPr>
          <p:cNvPr id="17" name="Oval 16"/>
          <p:cNvSpPr/>
          <p:nvPr/>
        </p:nvSpPr>
        <p:spPr>
          <a:xfrm>
            <a:off x="978407" y="4261104"/>
            <a:ext cx="292608" cy="2926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4270248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4251959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เตรียม runbook/KM</a:t>
            </a:r>
          </a:p>
        </p:txBody>
      </p:sp>
      <p:sp>
        <p:nvSpPr>
          <p:cNvPr id="20" name="Oval 19"/>
          <p:cNvSpPr/>
          <p:nvPr/>
        </p:nvSpPr>
        <p:spPr>
          <a:xfrm>
            <a:off x="978407" y="4782312"/>
            <a:ext cx="292608" cy="292608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" y="4791456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773168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กำหนด 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664208"/>
            <a:ext cx="3529584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1664208"/>
            <a:ext cx="3529584" cy="694944"/>
          </a:xfrm>
          <a:prstGeom prst="roundRect">
            <a:avLst>
              <a:gd name="adj" fmla="val 12000"/>
            </a:avLst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1865376"/>
            <a:ext cx="31638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31–60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615184"/>
            <a:ext cx="30723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57F22"/>
                </a:solidFill>
                <a:latin typeface="Arial"/>
              </a:defRPr>
            </a:pPr>
            <a:r>
              <a:t>PILOT</a:t>
            </a:r>
          </a:p>
        </p:txBody>
      </p:sp>
      <p:sp>
        <p:nvSpPr>
          <p:cNvPr id="27" name="Oval 26"/>
          <p:cNvSpPr/>
          <p:nvPr/>
        </p:nvSpPr>
        <p:spPr>
          <a:xfrm>
            <a:off x="4709159" y="3218688"/>
            <a:ext cx="292608" cy="2926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3227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3209544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Incident prompts</a:t>
            </a:r>
          </a:p>
        </p:txBody>
      </p:sp>
      <p:sp>
        <p:nvSpPr>
          <p:cNvPr id="30" name="Oval 29"/>
          <p:cNvSpPr/>
          <p:nvPr/>
        </p:nvSpPr>
        <p:spPr>
          <a:xfrm>
            <a:off x="4709159" y="3739896"/>
            <a:ext cx="292608" cy="2926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59" y="3749039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37307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Evidence timeline</a:t>
            </a:r>
          </a:p>
        </p:txBody>
      </p:sp>
      <p:sp>
        <p:nvSpPr>
          <p:cNvPr id="33" name="Oval 32"/>
          <p:cNvSpPr/>
          <p:nvPr/>
        </p:nvSpPr>
        <p:spPr>
          <a:xfrm>
            <a:off x="4709159" y="4261104"/>
            <a:ext cx="292608" cy="2926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59" y="4270248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4251959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Chart + citation</a:t>
            </a:r>
          </a:p>
        </p:txBody>
      </p:sp>
      <p:sp>
        <p:nvSpPr>
          <p:cNvPr id="36" name="Oval 35"/>
          <p:cNvSpPr/>
          <p:nvPr/>
        </p:nvSpPr>
        <p:spPr>
          <a:xfrm>
            <a:off x="4709159" y="4782312"/>
            <a:ext cx="292608" cy="292608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59" y="4791456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8928" y="4773168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วัด accuracy/MTTR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9871" y="1664208"/>
            <a:ext cx="3529584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19871" y="1664208"/>
            <a:ext cx="3529584" cy="694944"/>
          </a:xfrm>
          <a:prstGeom prst="roundRect">
            <a:avLst>
              <a:gd name="adj" fmla="val 12000"/>
            </a:avLst>
          </a:prstGeom>
          <a:solidFill>
            <a:srgbClr val="229967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1" y="1865376"/>
            <a:ext cx="316382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61–90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1" y="2615184"/>
            <a:ext cx="30723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229967"/>
                </a:solidFill>
                <a:latin typeface="Arial"/>
              </a:defRPr>
            </a:pPr>
            <a:r>
              <a:t>OPERATE</a:t>
            </a:r>
          </a:p>
        </p:txBody>
      </p:sp>
      <p:sp>
        <p:nvSpPr>
          <p:cNvPr id="43" name="Oval 42"/>
          <p:cNvSpPr/>
          <p:nvPr/>
        </p:nvSpPr>
        <p:spPr>
          <a:xfrm>
            <a:off x="8439911" y="3218688"/>
            <a:ext cx="292608" cy="2926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1" y="3227832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209544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UAT กับ NOC/SRE</a:t>
            </a:r>
          </a:p>
        </p:txBody>
      </p:sp>
      <p:sp>
        <p:nvSpPr>
          <p:cNvPr id="46" name="Oval 45"/>
          <p:cNvSpPr/>
          <p:nvPr/>
        </p:nvSpPr>
        <p:spPr>
          <a:xfrm>
            <a:off x="8439911" y="3739896"/>
            <a:ext cx="292608" cy="2926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9911" y="3749039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3730752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Guardrail review</a:t>
            </a:r>
          </a:p>
        </p:txBody>
      </p:sp>
      <p:sp>
        <p:nvSpPr>
          <p:cNvPr id="49" name="Oval 48"/>
          <p:cNvSpPr/>
          <p:nvPr/>
        </p:nvSpPr>
        <p:spPr>
          <a:xfrm>
            <a:off x="8439911" y="4261104"/>
            <a:ext cx="292608" cy="2926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1" y="4270248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4251959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Runbook feedback</a:t>
            </a:r>
          </a:p>
        </p:txBody>
      </p:sp>
      <p:sp>
        <p:nvSpPr>
          <p:cNvPr id="52" name="Oval 51"/>
          <p:cNvSpPr/>
          <p:nvPr/>
        </p:nvSpPr>
        <p:spPr>
          <a:xfrm>
            <a:off x="8439911" y="4782312"/>
            <a:ext cx="292608" cy="292608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9911" y="4791456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4773168"/>
            <a:ext cx="2331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050" b="0">
                <a:solidFill>
                  <a:srgbClr val="182635"/>
                </a:solidFill>
                <a:latin typeface="Arial"/>
              </a:defRPr>
            </a:pPr>
            <a:r>
              <a:t>Scale decision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900" b="1">
                <a:solidFill>
                  <a:srgbClr val="22B5C1"/>
                </a:solidFill>
                <a:latin typeface="Arial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rial"/>
              </a:defRPr>
            </a:pPr>
            <a:r>
              <a:t>สามเรื่องที่อยากให้จำก่อนเริ่มเกม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61872"/>
            <a:ext cx="11064240" cy="0"/>
          </a:xfrm>
          <a:prstGeom prst="line">
            <a:avLst/>
          </a:prstGeom>
          <a:ln w="10160">
            <a:solidFill>
              <a:srgbClr val="132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73952"/>
            <a:ext cx="74980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750" b="0">
                <a:solidFill>
                  <a:srgbClr val="B6CADC"/>
                </a:solidFill>
                <a:latin typeface="Arial"/>
              </a:defRPr>
            </a:pPr>
            <a:r>
              <a:t>Operational Excellence Through Applied AI | Banking IT 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>
              <a:defRPr sz="800" b="1">
                <a:solidFill>
                  <a:srgbClr val="B6CADC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93391" y="2084831"/>
            <a:ext cx="868680" cy="868680"/>
          </a:xfrm>
          <a:prstGeom prst="ellipse">
            <a:avLst/>
          </a:prstGeom>
          <a:solidFill>
            <a:srgbClr val="1F6FD6"/>
          </a:solidFill>
          <a:ln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1" y="2295144"/>
            <a:ext cx="868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10128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700" b="1">
                <a:solidFill>
                  <a:srgbClr val="1F6FD6"/>
                </a:solidFill>
                <a:latin typeface="Arial"/>
              </a:defRPr>
            </a:pPr>
            <a:r>
              <a:t>AI IS 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968496"/>
            <a:ext cx="2706624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AI เชื่อม Systems of Record</a:t>
            </a:r>
            <a:br/>
            <a:r>
              <a:t>ไม่ใช่แทนที่ทุกระบบ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55648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96712" y="2084831"/>
            <a:ext cx="868680" cy="868680"/>
          </a:xfrm>
          <a:prstGeom prst="ellipse">
            <a:avLst/>
          </a:prstGeom>
          <a:solidFill>
            <a:srgbClr val="F57F22"/>
          </a:solidFill>
          <a:ln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6712" y="2295144"/>
            <a:ext cx="868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310128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700" b="1">
                <a:solidFill>
                  <a:srgbClr val="F57F22"/>
                </a:solidFill>
                <a:latin typeface="Arial"/>
              </a:defRPr>
            </a:pPr>
            <a:r>
              <a:t>EVIDENCE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3968496"/>
            <a:ext cx="2706624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คำตอบที่ดีต้องมี source, context,</a:t>
            </a:r>
            <a:br/>
            <a:r>
              <a:t>confidence และ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755648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00031" y="2084831"/>
            <a:ext cx="868680" cy="868680"/>
          </a:xfrm>
          <a:prstGeom prst="ellipse">
            <a:avLst/>
          </a:prstGeom>
          <a:solidFill>
            <a:srgbClr val="229967"/>
          </a:solidFill>
          <a:ln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1" y="2295144"/>
            <a:ext cx="868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310128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700" b="1">
                <a:solidFill>
                  <a:srgbClr val="229967"/>
                </a:solidFill>
                <a:latin typeface="Arial"/>
              </a:defRPr>
            </a:pPr>
            <a:r>
              <a:t>CONTROL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3968496"/>
            <a:ext cx="2706624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สิทธิ์, guardrail, approval และ audit</a:t>
            </a:r>
            <a:br/>
            <a:r>
              <a:t>ต้องมากับ use case ตั้งแต่วันแรก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33872"/>
            <a:ext cx="9921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22B5C1"/>
                </a:solidFill>
                <a:latin typeface="Arial"/>
              </a:defRPr>
            </a:pPr>
            <a:r>
              <a:t>จาก Observability → Understanding → Decision → Governed Action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F4F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21792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TEAM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89888"/>
            <a:ext cx="4572000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15 Questions</a:t>
            </a:r>
            <a:br/>
            <a:r>
              <a:t>15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182112"/>
            <a:ext cx="5486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500" b="1">
                <a:solidFill>
                  <a:srgbClr val="E7E0FC"/>
                </a:solidFill>
                <a:latin typeface="Arial"/>
              </a:defRPr>
            </a:pPr>
            <a:r>
              <a:t>เลือก A / B / C / D  •  ข้อละประมาณ 45 วินาที  •  ห้ามเปิด Google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143000"/>
            <a:ext cx="4343400" cy="4407408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600200"/>
            <a:ext cx="36118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2000" b="1">
                <a:solidFill>
                  <a:srgbClr val="6F4FC4"/>
                </a:solidFill>
                <a:latin typeface="Arial"/>
              </a:defRPr>
            </a:pPr>
            <a:r>
              <a:t>วิธีเล่น</a:t>
            </a:r>
          </a:p>
        </p:txBody>
      </p:sp>
      <p:sp>
        <p:nvSpPr>
          <p:cNvPr id="7" name="Oval 6"/>
          <p:cNvSpPr/>
          <p:nvPr/>
        </p:nvSpPr>
        <p:spPr>
          <a:xfrm>
            <a:off x="7269480" y="2359152"/>
            <a:ext cx="347472" cy="34747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368296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86584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182635"/>
                </a:solidFill>
                <a:latin typeface="Arial"/>
              </a:defRPr>
            </a:pPr>
            <a:r>
              <a:t>แบ่งเป็นทีมตามโต๊ะ</a:t>
            </a:r>
          </a:p>
        </p:txBody>
      </p:sp>
      <p:sp>
        <p:nvSpPr>
          <p:cNvPr id="10" name="Oval 9"/>
          <p:cNvSpPr/>
          <p:nvPr/>
        </p:nvSpPr>
        <p:spPr>
          <a:xfrm>
            <a:off x="7269480" y="2980944"/>
            <a:ext cx="347472" cy="34747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990088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08376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ตอบผ่าน Kahoot / Slido หรือชูป้าย</a:t>
            </a:r>
          </a:p>
        </p:txBody>
      </p:sp>
      <p:sp>
        <p:nvSpPr>
          <p:cNvPr id="13" name="Oval 12"/>
          <p:cNvSpPr/>
          <p:nvPr/>
        </p:nvSpPr>
        <p:spPr>
          <a:xfrm>
            <a:off x="7269480" y="3602736"/>
            <a:ext cx="347472" cy="34747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611880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30168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ตอบถูก 1 คะแนน</a:t>
            </a:r>
          </a:p>
        </p:txBody>
      </p:sp>
      <p:sp>
        <p:nvSpPr>
          <p:cNvPr id="16" name="Oval 15"/>
          <p:cNvSpPr/>
          <p:nvPr/>
        </p:nvSpPr>
        <p:spPr>
          <a:xfrm>
            <a:off x="7269480" y="4224528"/>
            <a:ext cx="347472" cy="347472"/>
          </a:xfrm>
          <a:prstGeom prst="ellipse">
            <a:avLst/>
          </a:prstGeom>
          <a:solidFill>
            <a:srgbClr val="6F4FC4"/>
          </a:solidFill>
          <a:ln>
            <a:solidFill>
              <a:srgbClr val="6F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4233672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5196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0">
                <a:solidFill>
                  <a:srgbClr val="182635"/>
                </a:solidFill>
                <a:latin typeface="Arial"/>
              </a:defRPr>
            </a:pPr>
            <a:r>
              <a:t>กรณีเสมอ: ทีมที่ตอบข้อสุดท้ายเร็วกว่า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983480"/>
            <a:ext cx="3611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700" b="1">
                <a:solidFill>
                  <a:srgbClr val="F57F22"/>
                </a:solidFill>
                <a:latin typeface="Arial"/>
              </a:defRPr>
            </a:pPr>
            <a:r>
              <a:t>พร้อมหรือยัง?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เป้าหมายหลักของ Applied AI ใน IT Operations คืออะไร?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เพิ่มจำนวน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เชื่อมข้อมูลเป็นการตัดสินใจที่เร็วและปลอดภัย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แทนที่ทีม IT ทั้งหมด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ย้ายทุกระบบขึ้น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AI Operations Platform ควรมีบทบาทอย่างไรต่อ Systems of Record?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ลบทิ้งและสร้างใหม่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คัดลอกข้อมูลทั้งหมดมาไว้ที่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เป็น intelligence/orchestration layer คร่อมระบบเดิม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ปิดการตรวจสอบสิทธิ์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ข้อใดเป็นลำดับ Applied AI ที่ถูกต้อง?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Act → Guess → Hide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Sense → Understand → Recommend → Orchestrate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Search → Delete → Replace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Train → Deploy → Forget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เมื่อผู้ใช้บอกว่า Mobile Banking ช้า สิ่งแรกที่ AI ควรทำคืออะไร?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Restart production ทันที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เดา root cause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รวบรวม signal และกำหนด scope/time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ปิด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Datadog มีบทบาทหลักอะไรใน demo?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เป็นแหล่ง telemetry และ event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เป็น HR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เป็นระบบอนุมัติสินเชื่อ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เป็น document 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Knowledge / Runbook เติมสิ่งใดที่ telemetry อย่างเดียวมักไม่มี?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สีของ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Known fix, owner และขั้นตอนปฏิบัติ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Password ผู้ดูแล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ข้อมูลลูกค้าทั้งหมด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ผลลัพธ์ Incident Analysis ที่ดีควรมีอะไร?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คำตอบสั้นโดยไม่มีที่มา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Root cause เดียวแบบมั่นใจ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Timeline, hypotheses, evidence, confidence และ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Raw logs ทั้งหมด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ทำไม Pilot ควรเริ่มแบบ Read-only?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เพราะ AI อ่านไม่ได้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ลดความเสี่ยงขณะพิสูจน์ value และ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ไม่ต้องมี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ทำให้ข้อมูลหายเร็วขึ้น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ข้อใดเป็น Guardrail ที่เหมาะสม?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Tool allowlist และ least privilege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แชร์ API key ให้ทุกทีม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เก็บ credential ใน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ปิด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เหตุใด Guardrail ที่สำคัญจึงไม่ควรพึ่ง Prompt อย่างเดียว?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Prompt ใช้ภาษาไทยไม่ได้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Policy ที่มีผลต่อสิทธิ์ต้องบังคับใช้ฝั่ง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Prompt ไม่มีข้อความ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Server ไม่รู้จัก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Metric ใดสัมพันธ์กับ Incident Response โดยตรงที่สุด?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จำนวนสไลด์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MTTR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จำนวน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จำนวน dashboard theme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กราฟที่ AI สร้างเพื่อใช้ตัดสินใจควรมาจากอะไร?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ตัวเลขที่ model คาดเดา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ข้อมูล exact จาก tool ที่สำเร็จ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ข่าวลือใน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ค่า 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Use case ใดเหมาะเป็น Pilot แรกมากที่สุด?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Autonomous production 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Incident triage และ morning briefing แบบ read-only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เปลี่ยน core banking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อนุมัติธุรกรรมอัตโนมัติ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Audit ของ AI Platform ควรหลีกเลี่ยงการเก็บอะไร?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เวลาและ 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Tool name และ outcome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Raw prompt, credential และ sensitive tool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Trace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10160">
            <a:solidFill>
              <a:srgbClr val="F3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48056"/>
            <a:ext cx="1600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900" b="1">
                <a:solidFill>
                  <a:srgbClr val="6F4FC4"/>
                </a:solidFill>
                <a:latin typeface="Arial"/>
              </a:defRPr>
            </a:pPr>
            <a:r>
              <a:t>QUESTION 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35640" cy="9326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defRPr sz="2500" b="1">
                <a:solidFill>
                  <a:srgbClr val="182635"/>
                </a:solidFill>
                <a:latin typeface="Arial"/>
              </a:defRPr>
            </a:pPr>
            <a:r>
              <a:t>ประโยคใดสรุปแนวคิดวันนี้ได้ดีที่สุด?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A  AI แทนที่ทุกระบบ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4871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B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7614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B  AI เชื่อม Evidence และ Context เพื่อช่วยคนตัดสินใจภายใต้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C  AI ไม่ต้องใช้ข้อมูลจริง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315968"/>
            <a:ext cx="52303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2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0288"/>
            <a:ext cx="4718304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defRPr sz="1450" b="1">
                <a:solidFill>
                  <a:srgbClr val="182635"/>
                </a:solidFill>
                <a:latin typeface="Arial"/>
              </a:defRPr>
            </a:pPr>
            <a:r>
              <a:t>D  AI ที่ดีไม่ต้องมี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062472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000" b="1">
                <a:solidFill>
                  <a:srgbClr val="596978"/>
                </a:solidFill>
                <a:latin typeface="Arial"/>
              </a:defRPr>
            </a:pPr>
            <a:r>
              <a:t>เลือกคำตอบภายใน 15 วินาที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57F22"/>
          </a:solidFill>
          <a:ln w="10160">
            <a:solidFill>
              <a:srgbClr val="F57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100" b="1">
                <a:solidFill>
                  <a:srgbClr val="22B5C1"/>
                </a:solidFill>
                <a:latin typeface="Arial"/>
              </a:defRPr>
            </a:pPr>
            <a:r>
              <a:t>FROM SIGNAL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27048"/>
            <a:ext cx="640080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Operational Excellence</a:t>
            </a:r>
            <a:br/>
            <a:r>
              <a:t>is a Team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82112"/>
            <a:ext cx="61264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1700" b="0">
                <a:solidFill>
                  <a:srgbClr val="C6D9EA"/>
                </a:solidFill>
                <a:latin typeface="Arial"/>
              </a:defRPr>
            </a:pPr>
            <a:r>
              <a:t>Datadog provides the signal.</a:t>
            </a:r>
            <a:br/>
            <a:r>
              <a:t>NexoraAI connects context, knowledge and governed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325880"/>
            <a:ext cx="3749039" cy="4114800"/>
          </a:xfrm>
          <a:prstGeom prst="roundRect">
            <a:avLst>
              <a:gd name="adj" fmla="val 12000"/>
            </a:avLst>
          </a:prstGeom>
          <a:solidFill>
            <a:srgbClr val="132B46"/>
          </a:solidFill>
          <a:ln w="10160">
            <a:solidFill>
              <a:srgbClr val="13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737360"/>
            <a:ext cx="30175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200" b="1">
                <a:solidFill>
                  <a:srgbClr val="F57F22"/>
                </a:solidFill>
                <a:latin typeface="Arial"/>
              </a:defRPr>
            </a:pPr>
            <a:r>
              <a:t>NEXORAAI + DATADOG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32304"/>
            <a:ext cx="2926080" cy="2240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เลือก 1 Critical Service</a:t>
            </a:r>
            <a:br/>
            <a:br/>
            <a:r>
              <a:t>เชื่อม Datadog แบบ Read-only</a:t>
            </a:r>
            <a:br/>
            <a:br/>
            <a:r>
              <a:t>เตรียม Runbook / KM</a:t>
            </a:r>
            <a:br/>
            <a:br/>
            <a:r>
              <a:t>พิสูจน์ผลใน 90 วัน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897880"/>
            <a:ext cx="2743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defRPr sz="2100" b="1">
                <a:solidFill>
                  <a:srgbClr val="F57F22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Excellence Through Applied AI to New IT Operational Capabilities</dc:title>
  <dc:subject>Banking IT outing talk with Datadog and Applied AI demonstration</dc:subject>
  <dc:creator>Enterprise AI Solutions Team</dc:creator>
  <cp:keywords/>
  <dc:description>Vendor-neutral educational story with an Applied AI platform pilot proposal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