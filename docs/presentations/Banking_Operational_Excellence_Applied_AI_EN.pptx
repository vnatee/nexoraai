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(1 minute)</a:t>
            </a:r>
          </a:p>
          <a:p/>
          <a:p>
            <a:r>
              <a:t>- This is not a talk about model benchmarks. It is about how AI can improve the way IT teams operate.</a:t>
            </a:r>
          </a:p>
          <a:p>
            <a:r>
              <a:t>- The audience includes executives and practitioners, so connect business outcomes to technical evidence.</a:t>
            </a:r>
          </a:p>
          <a:p>
            <a:r>
              <a:t>- Ask everyone to remember the words Evidence, Context and Guardrail for the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map (1 minute)</a:t>
            </a:r>
          </a:p>
          <a:p/>
          <a:p>
            <a:r>
              <a:t>- Set expectations: business framing, plain-language platform, live demo, governance and a 15-question game.</a:t>
            </a:r>
          </a:p>
          <a:p>
            <a:r>
              <a:t>- The platform complements existing tools rather than replacing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poll (2 minutes)</a:t>
            </a:r>
          </a:p>
          <a:p/>
          <a:p>
            <a:r>
              <a:t>- Let each table choose one or more answers.</a:t>
            </a:r>
          </a:p>
          <a:p>
            <a:r>
              <a:t>- All four are valid: the real problem is that signals, context, knowledge and coordination are disconnected.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outcomes (2 minutes)</a:t>
            </a:r>
          </a:p>
          <a:p/>
          <a:p>
            <a:r>
              <a:t>- Executives care about reliability, risk and capacity more than model benchmarks.</a:t>
            </a:r>
          </a:p>
          <a:p>
            <a:r>
              <a:t>- Tie every AI use case to measurable outcomes such as MTTR, repeat incidents and briefing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Banking reality (2 minutes)</a:t>
            </a:r>
          </a:p>
          <a:p/>
          <a:p>
            <a:r>
              <a:t>- Banking operations combine high dependency, high change and strict evidence requirements.</a:t>
            </a:r>
          </a:p>
          <a:p>
            <a:r>
              <a:t>- Applied AI is valuable where teams must read and correlate many types of operational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evolution (2 minutes)</a:t>
            </a:r>
          </a:p>
          <a:p/>
          <a:p>
            <a:r>
              <a:t>- Chat is only an interface. Value appears when AI can access authorized Knowledge and tools.</a:t>
            </a:r>
          </a:p>
          <a:p>
            <a:r>
              <a:t>- Act does not mean uncontrolled production change; organizational approval policy still applies.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Applied AI in plain language (2 minutes)</a:t>
            </a:r>
          </a:p>
          <a:p/>
          <a:p>
            <a:r>
              <a:t>- Use Sense, Understand, Recommend and Orchestrate as the mental model for the rest of the talk.</a:t>
            </a:r>
          </a:p>
          <a:p>
            <a:r>
              <a:t>- Every recommendation must be grounded in evidence and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Platform concept (3 minutes)</a:t>
            </a:r>
          </a:p>
          <a:p/>
          <a:p>
            <a:r>
              <a:t>- Describe the platform as a secure layer connecting people, knowledge and existing systems.</a:t>
            </a:r>
          </a:p>
          <a:p>
            <a:r>
              <a:t>- Datadog, Service Desk and CMDB remain authoritative systems.</a:t>
            </a:r>
          </a:p>
          <a:p>
            <a:r>
              <a:t>- The AI layer applies access control, tool policy and metadata-only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Platform capabilities (2 minutes)</a:t>
            </a:r>
          </a:p>
          <a:p/>
          <a:p>
            <a:r>
              <a:t>- A model alone is not an enterprise AI platform.</a:t>
            </a:r>
          </a:p>
          <a:p>
            <a:r>
              <a:t>- Agents, Knowledge, integrations, observability, guardrails and audit must work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Responsibility (2 minutes)</a:t>
            </a:r>
          </a:p>
          <a:p/>
          <a:p>
            <a:r>
              <a:t>- Use this slide to address fears about AI replacing systems or accountability.</a:t>
            </a:r>
          </a:p>
          <a:p>
            <a:r>
              <a:t>- Begin with read-only recommendations and add actions only when controls are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Maturity (2 minutes)</a:t>
            </a:r>
          </a:p>
          <a:p/>
          <a:p>
            <a:r>
              <a:t>- Analyze and Recommend provide high value with lower risk than autonomous write actions.</a:t>
            </a:r>
          </a:p>
          <a:p>
            <a:r>
              <a:t>- Today's demo is intentionally at these two maturity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Use-case portfolio (2 minutes)</a:t>
            </a:r>
          </a:p>
          <a:p/>
          <a:p>
            <a:r>
              <a:t>- This is a transparent internal scoring framework, not an industry or banking benchmark.</a:t>
            </a:r>
          </a:p>
          <a:p>
            <a:r>
              <a:t>- Score each criterion from 1 to 5 in a customer discovery workshop; the proposed 35/30/20/15 weights should be reviewed and approved by service owners.</a:t>
            </a:r>
          </a:p>
          <a:p>
            <a:r>
              <a:t>- The example assumes read-only Datadog telemetry. Knowledge, Change and approval readiness must be verified using customer evidence.</a:t>
            </a:r>
          </a:p>
          <a:p>
            <a:r>
              <a:t>- NIST AI RMF informs risk/control criteria and Google SRE informs incident-response outcomes; neither source defines this formula or its weights.</a:t>
            </a:r>
          </a:p>
          <a:p>
            <a:r>
              <a:t>- For a production decision, record the score owner, evidence, assessment date and rationale for every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Morning briefing (2 minutes)</a:t>
            </a:r>
          </a:p>
          <a:p/>
          <a:p>
            <a:r>
              <a:t>- Executives receive a concise summary with links back to evidence rather than another dashboard.</a:t>
            </a:r>
          </a:p>
          <a:p>
            <a:r>
              <a:t>- The result should expose uncertainty and missing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Incident story (2 minutes)</a:t>
            </a:r>
          </a:p>
          <a:p/>
          <a:p>
            <a:r>
              <a:t>- A customer symptom does not identify the root cause.</a:t>
            </a:r>
          </a:p>
          <a:p>
            <a:r>
              <a:t>- The Agent must decompose the question and retrieve evidence from multiple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Correlation (3 minutes)</a:t>
            </a:r>
          </a:p>
          <a:p/>
          <a:p>
            <a:r>
              <a:t>- Datadog supplies detailed telemetry; Change and Knowledge provide operational context.</a:t>
            </a:r>
          </a:p>
          <a:p>
            <a:r>
              <a:t>- Rank hypotheses and show supporting, conflicting and missing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flow (1 minute)</a:t>
            </a:r>
          </a:p>
          <a:p/>
          <a:p>
            <a:r>
              <a:t>- Use a demo tenant and a read-only Agent.</a:t>
            </a:r>
          </a:p>
          <a:p>
            <a:r>
              <a:t>- Keep the full demo below eight minutes and retain a clearly labeled recording or screenshots as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1 (1–2 minutes)</a:t>
            </a:r>
          </a:p>
          <a:p/>
          <a:p>
            <a:r>
              <a:t>- Show that a natural-language request invokes authorized Datadog tools.</a:t>
            </a:r>
          </a:p>
          <a:p>
            <a:r>
              <a:t>- Confirm the response includes scope, time window, evidence links and missing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2 (1–2 minutes)</a:t>
            </a:r>
          </a:p>
          <a:p/>
          <a:p>
            <a:r>
              <a:t>- The chart must be created from exact successful tool output.</a:t>
            </a:r>
          </a:p>
          <a:p>
            <a:r>
              <a:t>- Call out that the model is not allowed to invent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3 (1–2 minutes)</a:t>
            </a:r>
          </a:p>
          <a:p/>
          <a:p>
            <a:r>
              <a:t>- Show correlation between observability evidence, Change and approved runbooks.</a:t>
            </a:r>
          </a:p>
          <a:p>
            <a:r>
              <a:t>- The final action must identify owner, risk and approval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result (2 minutes)</a:t>
            </a:r>
          </a:p>
          <a:p/>
          <a:p>
            <a:r>
              <a:t>- The values shown are an illustrative result format, not customer data.</a:t>
            </a:r>
          </a:p>
          <a:p>
            <a:r>
              <a:t>- A useful answer states what is known, why, confidence, gaps and the next approved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More banking use cases (2 minutes)</a:t>
            </a:r>
          </a:p>
          <a:p/>
          <a:p>
            <a:r>
              <a:t>- Reuse the platform capabilities with different Agents, Knowledge and integrations.</a:t>
            </a:r>
          </a:p>
          <a:p>
            <a:r>
              <a:t>- Every Agent still needs an owner, measurable outcome and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 (3 minutes)</a:t>
            </a:r>
          </a:p>
          <a:p/>
          <a:p>
            <a:r>
              <a:t>- Explain defense in depth from identity through action.</a:t>
            </a:r>
          </a:p>
          <a:p>
            <a:r>
              <a:t>- Enforce access and tool policy server-side and keep sensitive raw content out of audit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 roadmap (2 minutes)</a:t>
            </a:r>
          </a:p>
          <a:p/>
          <a:p>
            <a:r>
              <a:t>- Limit the pilot to one critical service and one accountable team.</a:t>
            </a:r>
          </a:p>
          <a:p>
            <a:r>
              <a:t>- Capture the baseline before implementation and assess value, accuracy, adoption and controls at day 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Takeaways (1 minute)</a:t>
            </a:r>
          </a:p>
          <a:p/>
          <a:p>
            <a:r>
              <a:t>- Repeat the three ideas: AI is a Layer, Evidence First and Control by Design.</a:t>
            </a:r>
          </a:p>
          <a:p>
            <a:r>
              <a:t>- Tell the audience that the game draws directly from these ideas and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instructions (1 minute)</a:t>
            </a:r>
          </a:p>
          <a:p/>
          <a:p>
            <a:r>
              <a:t>- Use Kahoot, Slido or A/B/C/D cards by table.</a:t>
            </a:r>
          </a:p>
          <a:p>
            <a:r>
              <a:t>- Allow about 20 seconds to read, 15 seconds to answer and 10–15 seconds for the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 (45–60 seconds)</a:t>
            </a:r>
          </a:p>
          <a:p/>
          <a:p>
            <a:r>
              <a:t>- Answer: B</a:t>
            </a:r>
          </a:p>
          <a:p>
            <a:r>
              <a:t>- Why: Applied AI connects information into faster, safer and repeatable operational decisions.</a:t>
            </a:r>
          </a:p>
          <a:p>
            <a:r>
              <a:t>- Record the score before moving to the next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2 (45–60 seconds)</a:t>
            </a:r>
          </a:p>
          <a:p/>
          <a:p>
            <a:r>
              <a:t>- Answer: C</a:t>
            </a:r>
          </a:p>
          <a:p>
            <a:r>
              <a:t>- Why: Systems of Record stay authoritative while AI adds intelligence and orchestration.</a:t>
            </a:r>
          </a:p>
          <a:p>
            <a:r>
              <a:t>- Record the score before moving to the next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3 (45–60 seconds)</a:t>
            </a:r>
          </a:p>
          <a:p/>
          <a:p>
            <a:r>
              <a:t>- Answer: B</a:t>
            </a:r>
          </a:p>
          <a:p>
            <a:r>
              <a:t>- Why: The four stages are Sense, Understand, Recommend and Orchestrate.</a:t>
            </a:r>
          </a:p>
          <a:p>
            <a:r>
              <a:t>- Record the score before moving to the next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4 (45–60 seconds)</a:t>
            </a:r>
          </a:p>
          <a:p/>
          <a:p>
            <a:r>
              <a:t>- Answer: C</a:t>
            </a:r>
          </a:p>
          <a:p>
            <a:r>
              <a:t>- Why: Start with evidence and the incident scope before proposing any action.</a:t>
            </a:r>
          </a:p>
          <a:p>
            <a:r>
              <a:t>- Record the score before moving to the next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5 (45–60 seconds)</a:t>
            </a:r>
          </a:p>
          <a:p/>
          <a:p>
            <a:r>
              <a:t>- Answer: A</a:t>
            </a:r>
          </a:p>
          <a:p>
            <a:r>
              <a:t>- Why: Datadog supplies telemetry and event evidence such as RUM, APM, logs and infrastructure signals.</a:t>
            </a:r>
          </a:p>
          <a:p>
            <a:r>
              <a:t>- Record the score before moving to the next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6 (45–60 seconds)</a:t>
            </a:r>
          </a:p>
          <a:p/>
          <a:p>
            <a:r>
              <a:t>- Answer: B</a:t>
            </a:r>
          </a:p>
          <a:p>
            <a:r>
              <a:t>- Why: Knowledge adds approved procedures, owners and known fixes.</a:t>
            </a:r>
          </a:p>
          <a:p>
            <a:r>
              <a:t>- Record the score before moving to the next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7 (45–60 seconds)</a:t>
            </a:r>
          </a:p>
          <a:p/>
          <a:p>
            <a:r>
              <a:t>- Answer: C</a:t>
            </a:r>
          </a:p>
          <a:p>
            <a:r>
              <a:t>- Why: Auditable analysis includes a timeline, hypotheses, evidence, confidence and gaps.</a:t>
            </a:r>
          </a:p>
          <a:p>
            <a:r>
              <a:t>- Record the score before moving to the next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8 (45–60 seconds)</a:t>
            </a:r>
          </a:p>
          <a:p/>
          <a:p>
            <a:r>
              <a:t>- Answer: B</a:t>
            </a:r>
          </a:p>
          <a:p>
            <a:r>
              <a:t>- Why: Read-only pilots reduce operational risk while value and accuracy are measured.</a:t>
            </a:r>
          </a:p>
          <a:p>
            <a:r>
              <a:t>- Record the score before moving to the next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9 (45–60 seconds)</a:t>
            </a:r>
          </a:p>
          <a:p/>
          <a:p>
            <a:r>
              <a:t>- Answer: A</a:t>
            </a:r>
          </a:p>
          <a:p>
            <a:r>
              <a:t>- Why: Tool allowlists and least privilege are appropriate platform guardrails.</a:t>
            </a:r>
          </a:p>
          <a:p>
            <a:r>
              <a:t>- Record the score before moving to the next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10 (45–60 seconds)</a:t>
            </a:r>
          </a:p>
          <a:p/>
          <a:p>
            <a:r>
              <a:t>- Answer: B</a:t>
            </a:r>
          </a:p>
          <a:p>
            <a:r>
              <a:t>- Why: Policies affecting access and tools must be enforced at the server boundary.</a:t>
            </a:r>
          </a:p>
          <a:p>
            <a:r>
              <a:t>- Record the score before moving to the next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11 (45–60 seconds)</a:t>
            </a:r>
          </a:p>
          <a:p/>
          <a:p>
            <a:r>
              <a:t>- Answer: B</a:t>
            </a:r>
          </a:p>
          <a:p>
            <a:r>
              <a:t>- Why: MTTR directly reflects how quickly service is restored or resolved.</a:t>
            </a:r>
          </a:p>
          <a:p>
            <a:r>
              <a:t>- Record the score before moving to the next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12 (45–60 seconds)</a:t>
            </a:r>
          </a:p>
          <a:p/>
          <a:p>
            <a:r>
              <a:t>- Answer: B</a:t>
            </a:r>
          </a:p>
          <a:p>
            <a:r>
              <a:t>- Why: Decision visuals must trace back to exact successful tool results.</a:t>
            </a:r>
          </a:p>
          <a:p>
            <a:r>
              <a:t>- Record the score before moving to the next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13 (45–60 seconds)</a:t>
            </a:r>
          </a:p>
          <a:p/>
          <a:p>
            <a:r>
              <a:t>- Answer: B</a:t>
            </a:r>
          </a:p>
          <a:p>
            <a:r>
              <a:t>- Why: Read-only incident triage and briefing combine high readiness, measurable value and lower risk.</a:t>
            </a:r>
          </a:p>
          <a:p>
            <a:r>
              <a:t>- Record the score before moving to the next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14 (45–60 seconds)</a:t>
            </a:r>
          </a:p>
          <a:p/>
          <a:p>
            <a:r>
              <a:t>- Answer: C</a:t>
            </a:r>
          </a:p>
          <a:p>
            <a:r>
              <a:t>- Why: Audit should retain necessary metadata without raw prompts, credentials or sensitive tool outputs.</a:t>
            </a:r>
          </a:p>
          <a:p>
            <a:r>
              <a:t>- Record the score before moving to the next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15 (45–60 seconds)</a:t>
            </a:r>
          </a:p>
          <a:p/>
          <a:p>
            <a:r>
              <a:t>- Answer: B</a:t>
            </a:r>
          </a:p>
          <a:p>
            <a:r>
              <a:t>- Why: The core idea is connecting Evidence and Context to support governed human decisions.</a:t>
            </a:r>
          </a:p>
          <a:p>
            <a:r>
              <a:t>- Record the score before moving to the next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(1 minute)</a:t>
            </a:r>
          </a:p>
          <a:p/>
          <a:p>
            <a:r>
              <a:t>- Announce the winning team and connect the game back to the 90-day pilot.</a:t>
            </a:r>
          </a:p>
          <a:p>
            <a:r>
              <a:t>- Invite the customer to select one critical service for a NexoraAI + Datadog discovery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57F22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21792"/>
            <a:ext cx="5120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1">
                <a:solidFill>
                  <a:srgbClr val="22B5C1"/>
                </a:solidFill>
                <a:latin typeface="Arial"/>
              </a:defRPr>
            </a:pPr>
            <a:r>
              <a:t>BANKING IT OUTING • APPLIED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07592"/>
            <a:ext cx="649224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rial"/>
              </a:defRPr>
            </a:pPr>
            <a:r>
              <a:t>Operational Excellence</a:t>
            </a:r>
            <a:br/>
            <a:r>
              <a:t>Through Applied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61264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100" b="0">
                <a:solidFill>
                  <a:srgbClr val="C5D9EA"/>
                </a:solidFill>
                <a:latin typeface="Arial"/>
              </a:defRPr>
            </a:pPr>
            <a:r>
              <a:t>to New IT Operational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822191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831335"/>
            <a:ext cx="14173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22B5C1"/>
                </a:solidFill>
                <a:latin typeface="Arial"/>
              </a:defRPr>
            </a:pPr>
            <a:r>
              <a:t>45 MIN TALK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9152" y="3822191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9152" y="3831335"/>
            <a:ext cx="14173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57F22"/>
                </a:solidFill>
                <a:latin typeface="Arial"/>
              </a:defRPr>
            </a:pPr>
            <a:r>
              <a:t>15 MIN GAME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07408"/>
            <a:ext cx="6035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From fragmented data → Connected evidence → Faster, safer decisions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79" y="3410712"/>
            <a:ext cx="3310129" cy="0"/>
          </a:xfrm>
          <a:prstGeom prst="line">
            <a:avLst/>
          </a:prstGeom>
          <a:ln w="27940">
            <a:solidFill>
              <a:srgbClr val="537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903720" y="2898648"/>
            <a:ext cx="1005840" cy="1005840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907791"/>
            <a:ext cx="1005840" cy="9875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4" name="Oval 13"/>
          <p:cNvSpPr/>
          <p:nvPr/>
        </p:nvSpPr>
        <p:spPr>
          <a:xfrm>
            <a:off x="8631936" y="2414016"/>
            <a:ext cx="1993392" cy="1993392"/>
          </a:xfrm>
          <a:prstGeom prst="ellipse">
            <a:avLst/>
          </a:prstGeom>
          <a:solidFill>
            <a:srgbClr val="132B4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1936" y="2953512"/>
            <a:ext cx="199339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800" b="1">
                <a:solidFill>
                  <a:srgbClr val="F57F22"/>
                </a:solidFill>
                <a:latin typeface="Arial"/>
              </a:defRPr>
            </a:pPr>
            <a:r>
              <a:t>AI</a:t>
            </a:r>
          </a:p>
        </p:txBody>
      </p:sp>
      <p:sp>
        <p:nvSpPr>
          <p:cNvPr id="16" name="Oval 15"/>
          <p:cNvSpPr/>
          <p:nvPr/>
        </p:nvSpPr>
        <p:spPr>
          <a:xfrm>
            <a:off x="10497312" y="2898648"/>
            <a:ext cx="1005840" cy="1005840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97312" y="2907791"/>
            <a:ext cx="1005840" cy="9875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4160520"/>
            <a:ext cx="1554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BACCDD"/>
                </a:solidFill>
                <a:latin typeface="Arial"/>
              </a:defRPr>
            </a:pPr>
            <a:r>
              <a:t>Datadog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4572000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BACCDD"/>
                </a:solidFill>
                <a:latin typeface="Arial"/>
              </a:defRPr>
            </a:pPr>
            <a:r>
              <a:t>Applied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416052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BACCDD"/>
                </a:solidFill>
                <a:latin typeface="Arial"/>
              </a:defRPr>
            </a:pPr>
            <a:r>
              <a:t>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36208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0">
                <a:solidFill>
                  <a:srgbClr val="91A9BF"/>
                </a:solidFill>
                <a:latin typeface="Arial"/>
              </a:defRPr>
            </a:pPr>
            <a:r>
              <a:t>For Banking Technology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SESSION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Our journey today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201168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267712"/>
            <a:ext cx="685800" cy="685800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423160"/>
            <a:ext cx="685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27248"/>
            <a:ext cx="168249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500" b="1">
                <a:solidFill>
                  <a:srgbClr val="1F6FD6"/>
                </a:solidFill>
                <a:latin typeface="Arial"/>
              </a:defRPr>
            </a:pPr>
            <a: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611880"/>
            <a:ext cx="1645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596978"/>
                </a:solidFill>
                <a:latin typeface="Arial"/>
              </a:defRPr>
            </a:pPr>
            <a:r>
              <a:t>Operational pressure</a:t>
            </a:r>
            <a:br/>
            <a:r>
              <a:t>in banking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0048" y="3200400"/>
            <a:ext cx="274320" cy="0"/>
          </a:xfrm>
          <a:prstGeom prst="line">
            <a:avLst/>
          </a:prstGeom>
          <a:ln w="25400">
            <a:solidFill>
              <a:srgbClr val="1F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44368" y="1965960"/>
            <a:ext cx="201168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11879" y="2267712"/>
            <a:ext cx="685800" cy="685800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79" y="2423160"/>
            <a:ext cx="685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127248"/>
            <a:ext cx="168249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500" b="1">
                <a:solidFill>
                  <a:srgbClr val="22B5C1"/>
                </a:solidFill>
                <a:latin typeface="Arial"/>
              </a:defRPr>
            </a:pPr>
            <a:r>
              <a:t>WHAT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3611880"/>
            <a:ext cx="1645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596978"/>
                </a:solidFill>
                <a:latin typeface="Arial"/>
              </a:defRPr>
            </a:pPr>
            <a:r>
              <a:t>Applied AI Platform</a:t>
            </a:r>
            <a:br/>
            <a:r>
              <a:t>in plain language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56048" y="3200400"/>
            <a:ext cx="274320" cy="0"/>
          </a:xfrm>
          <a:prstGeom prst="line">
            <a:avLst/>
          </a:prstGeom>
          <a:ln w="25400">
            <a:solidFill>
              <a:srgbClr val="22B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30368" y="1965960"/>
            <a:ext cx="201168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97879" y="2267712"/>
            <a:ext cx="685800" cy="685800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79" y="2423160"/>
            <a:ext cx="685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3127248"/>
            <a:ext cx="168249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500" b="1">
                <a:solidFill>
                  <a:srgbClr val="F57F22"/>
                </a:solidFill>
                <a:latin typeface="Arial"/>
              </a:defRPr>
            </a:pPr>
            <a:r>
              <a:t>SHOW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3248" y="3611880"/>
            <a:ext cx="1645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596978"/>
                </a:solidFill>
                <a:latin typeface="Arial"/>
              </a:defRPr>
            </a:pPr>
            <a:r>
              <a:t>Datadog + AI</a:t>
            </a:r>
            <a:br/>
            <a:r>
              <a:t>incident demo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42048" y="3200400"/>
            <a:ext cx="274319" cy="0"/>
          </a:xfrm>
          <a:prstGeom prst="line">
            <a:avLst/>
          </a:prstGeom>
          <a:ln w="25400">
            <a:solidFill>
              <a:srgbClr val="F57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16367" y="1965960"/>
            <a:ext cx="201168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83879" y="2267712"/>
            <a:ext cx="685800" cy="685800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2423160"/>
            <a:ext cx="685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59" y="3127248"/>
            <a:ext cx="168249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500" b="1">
                <a:solidFill>
                  <a:srgbClr val="229967"/>
                </a:solidFill>
                <a:latin typeface="Arial"/>
              </a:defRPr>
            </a:pPr>
            <a:r>
              <a:t>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7" y="3611880"/>
            <a:ext cx="1645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596978"/>
                </a:solidFill>
                <a:latin typeface="Arial"/>
              </a:defRPr>
            </a:pPr>
            <a:r>
              <a:t>Security, governance</a:t>
            </a:r>
            <a:br/>
            <a:r>
              <a:t>and human approval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28047" y="3200400"/>
            <a:ext cx="274320" cy="0"/>
          </a:xfrm>
          <a:prstGeom prst="line">
            <a:avLst/>
          </a:prstGeom>
          <a:ln w="25400">
            <a:solidFill>
              <a:srgbClr val="229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02367" y="1965960"/>
            <a:ext cx="201168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469880" y="2267712"/>
            <a:ext cx="685800" cy="685800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69880" y="2423160"/>
            <a:ext cx="685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59" y="3127248"/>
            <a:ext cx="168249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500" b="1">
                <a:solidFill>
                  <a:srgbClr val="6F4FC4"/>
                </a:solidFill>
                <a:latin typeface="Arial"/>
              </a:defRPr>
            </a:pPr>
            <a:r>
              <a:t>PLAY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5247" y="3611880"/>
            <a:ext cx="1645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596978"/>
                </a:solidFill>
                <a:latin typeface="Arial"/>
              </a:defRPr>
            </a:pPr>
            <a:r>
              <a:t>15-question</a:t>
            </a:r>
            <a:br/>
            <a:r>
              <a:t>team challenge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7240" y="5449824"/>
            <a:ext cx="1063447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4400" y="5596128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1F6FD6"/>
                </a:solidFill>
                <a:latin typeface="Arial"/>
              </a:defRPr>
            </a:pPr>
            <a:r>
              <a:t>First 45 minutes: learn and see it live  |  Final 15 minutes: play and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WARM-UP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During an incident, what consumes the most time?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1208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" y="2066543"/>
            <a:ext cx="658368" cy="658368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75687"/>
            <a:ext cx="658368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011679"/>
            <a:ext cx="374903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600" b="1">
                <a:solidFill>
                  <a:srgbClr val="182635"/>
                </a:solidFill>
                <a:latin typeface="Arial"/>
              </a:defRPr>
            </a:pPr>
            <a:r>
              <a:t>Find the right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2505456"/>
            <a:ext cx="3749039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596978"/>
                </a:solidFill>
                <a:latin typeface="Arial"/>
              </a:defRPr>
            </a:pPr>
            <a:r>
              <a:t>Too many alerts, logs and 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37360"/>
            <a:ext cx="521208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0" y="2066543"/>
            <a:ext cx="658368" cy="658368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75687"/>
            <a:ext cx="658368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1776" y="2011679"/>
            <a:ext cx="374903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600" b="1">
                <a:solidFill>
                  <a:srgbClr val="182635"/>
                </a:solidFill>
                <a:latin typeface="Arial"/>
              </a:defRPr>
            </a:pPr>
            <a:r>
              <a:t>Find the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1776" y="2505456"/>
            <a:ext cx="3749039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596978"/>
                </a:solidFill>
                <a:latin typeface="Arial"/>
              </a:defRPr>
            </a:pPr>
            <a:r>
              <a:t>What changed, and who owns it?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86200"/>
            <a:ext cx="521208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4215384"/>
            <a:ext cx="658368" cy="658368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224528"/>
            <a:ext cx="658368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4160520"/>
            <a:ext cx="374903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600" b="1">
                <a:solidFill>
                  <a:srgbClr val="182635"/>
                </a:solidFill>
                <a:latin typeface="Arial"/>
              </a:defRPr>
            </a:pPr>
            <a:r>
              <a:t>Find the 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4654296"/>
            <a:ext cx="3749039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596978"/>
                </a:solidFill>
                <a:latin typeface="Arial"/>
              </a:defRPr>
            </a:pPr>
            <a:r>
              <a:t>Runbooks are fragmented or outdated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886200"/>
            <a:ext cx="521208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92240" y="4215384"/>
            <a:ext cx="658368" cy="658368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224528"/>
            <a:ext cx="658368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776" y="4160520"/>
            <a:ext cx="374903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600" b="1">
                <a:solidFill>
                  <a:srgbClr val="182635"/>
                </a:solidFill>
                <a:latin typeface="Arial"/>
              </a:defRPr>
            </a:pPr>
            <a:r>
              <a:t>Coordinate teams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1776" y="4654296"/>
            <a:ext cx="3749039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596978"/>
                </a:solidFill>
                <a:latin typeface="Arial"/>
              </a:defRPr>
            </a:pPr>
            <a:r>
              <a:t>Each team sees a different picture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Operational Excellence Is Measured by Outcomes — Not the Number of AI Tools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246888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47088"/>
            <a:ext cx="224942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2300" b="1">
                <a:solidFill>
                  <a:srgbClr val="1F6FD6"/>
                </a:solidFill>
                <a:latin typeface="Arial"/>
              </a:defRPr>
            </a:pPr>
            <a:r>
              <a:t>↓ MTTR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50008"/>
            <a:ext cx="22494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950" b="0">
                <a:solidFill>
                  <a:srgbClr val="596978"/>
                </a:solidFill>
                <a:latin typeface="Arial"/>
              </a:defRPr>
            </a:pPr>
            <a:r>
              <a:t>Restore service faster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91640"/>
            <a:ext cx="246888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847088"/>
            <a:ext cx="224942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2300" b="1">
                <a:solidFill>
                  <a:srgbClr val="229967"/>
                </a:solidFill>
                <a:latin typeface="Arial"/>
              </a:defRPr>
            </a:pPr>
            <a:r>
              <a:t>↑ 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50008"/>
            <a:ext cx="22494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950" b="0">
                <a:solidFill>
                  <a:srgbClr val="596978"/>
                </a:solidFill>
                <a:latin typeface="Arial"/>
              </a:defRPr>
            </a:pPr>
            <a:r>
              <a:t>More reliable critical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91640"/>
            <a:ext cx="246888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847088"/>
            <a:ext cx="224942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2300" b="1">
                <a:solidFill>
                  <a:srgbClr val="F57F22"/>
                </a:solidFill>
                <a:latin typeface="Arial"/>
              </a:defRPr>
            </a:pPr>
            <a:r>
              <a:t>↓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50008"/>
            <a:ext cx="22494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950" b="0">
                <a:solidFill>
                  <a:srgbClr val="596978"/>
                </a:solidFill>
                <a:latin typeface="Arial"/>
              </a:defRPr>
            </a:pPr>
            <a:r>
              <a:t>Evidence behind every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2832" y="1691640"/>
            <a:ext cx="246888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59" y="1847088"/>
            <a:ext cx="224942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2300" b="1">
                <a:solidFill>
                  <a:srgbClr val="6F4FC4"/>
                </a:solidFill>
                <a:latin typeface="Arial"/>
              </a:defRPr>
            </a:pPr>
            <a:r>
              <a:t>↑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2350008"/>
            <a:ext cx="22494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950" b="0">
                <a:solidFill>
                  <a:srgbClr val="596978"/>
                </a:solidFill>
                <a:latin typeface="Arial"/>
              </a:defRPr>
            </a:pPr>
            <a:r>
              <a:t>More time for high-value 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37560"/>
            <a:ext cx="10698480" cy="1664208"/>
          </a:xfrm>
          <a:prstGeom prst="roundRect">
            <a:avLst>
              <a:gd name="adj" fmla="val 12000"/>
            </a:avLst>
          </a:prstGeom>
          <a:solidFill>
            <a:srgbClr val="09192C"/>
          </a:solidFill>
          <a:ln w="10160">
            <a:solidFill>
              <a:srgbClr val="09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703320"/>
            <a:ext cx="996696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rial"/>
              </a:defRPr>
            </a:pPr>
            <a:r>
              <a:t>Good AI helps people see the same incident, decide from the same evidence,</a:t>
            </a:r>
            <a:br/>
            <a:r>
              <a:t>and act under the same policy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5522976"/>
            <a:ext cx="1063447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5669280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1F6FD6"/>
                </a:solidFill>
                <a:latin typeface="Arial"/>
              </a:defRPr>
            </a:pPr>
            <a:r>
              <a:t>Success = Faster understanding + Safer decision + Repeatable operation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Banking IT Must Be Fast, Secure and Auditable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324612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45920"/>
            <a:ext cx="64008" cy="1572768"/>
          </a:xfrm>
          <a:prstGeom prst="rect">
            <a:avLst/>
          </a:prstGeom>
          <a:solidFill>
            <a:srgbClr val="1F6FD6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847088"/>
            <a:ext cx="438912" cy="438912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5623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24×7 DIGITAL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277063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Mobile, payments, transfers and customer channels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45920"/>
            <a:ext cx="324612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645920"/>
            <a:ext cx="64008" cy="1572768"/>
          </a:xfrm>
          <a:prstGeom prst="rect">
            <a:avLst/>
          </a:prstGeom>
          <a:solidFill>
            <a:srgbClr val="22B5C1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16552" y="1847088"/>
            <a:ext cx="438912" cy="438912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85623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828800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HYBRID ESTATE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331720"/>
            <a:ext cx="277063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Cloud, on-premises, mainframe, databases and networks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2672" y="1645920"/>
            <a:ext cx="324612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62672" y="1645920"/>
            <a:ext cx="64008" cy="1572768"/>
          </a:xfrm>
          <a:prstGeom prst="rect">
            <a:avLst/>
          </a:prstGeom>
          <a:solidFill>
            <a:srgbClr val="F57F22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18704" y="1847088"/>
            <a:ext cx="438912" cy="438912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18704" y="185623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828800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HIGH 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8704" y="2331720"/>
            <a:ext cx="277063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Releases, configurations and dependencies change every day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749039"/>
            <a:ext cx="324612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749039"/>
            <a:ext cx="64008" cy="1572768"/>
          </a:xfrm>
          <a:prstGeom prst="rect">
            <a:avLst/>
          </a:prstGeom>
          <a:solidFill>
            <a:srgbClr val="229967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3950207"/>
            <a:ext cx="438912" cy="438912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95935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3931920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REGULATED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34840"/>
            <a:ext cx="277063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Access control, evidence, audit and segregation of duties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3749039"/>
            <a:ext cx="324612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3749039"/>
            <a:ext cx="64008" cy="1572768"/>
          </a:xfrm>
          <a:prstGeom prst="rect">
            <a:avLst/>
          </a:prstGeom>
          <a:solidFill>
            <a:srgbClr val="6F4FC4"/>
          </a:solidFill>
          <a:ln w="10160"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16552" y="3950207"/>
            <a:ext cx="438912" cy="438912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16552" y="395935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3931920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SKILL PRESSURE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4434840"/>
            <a:ext cx="277063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Critical knowledge is concentrated among a few experts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62672" y="3749039"/>
            <a:ext cx="324612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62672" y="3749039"/>
            <a:ext cx="64008" cy="1572768"/>
          </a:xfrm>
          <a:prstGeom prst="rect">
            <a:avLst/>
          </a:prstGeom>
          <a:solidFill>
            <a:srgbClr val="CA4146"/>
          </a:solidFill>
          <a:ln w="10160">
            <a:solidFill>
              <a:srgbClr val="CA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918704" y="3950207"/>
            <a:ext cx="438912" cy="438912"/>
          </a:xfrm>
          <a:prstGeom prst="ellipse">
            <a:avLst/>
          </a:prstGeom>
          <a:solidFill>
            <a:srgbClr val="CA4146"/>
          </a:solidFill>
          <a:ln>
            <a:solidFill>
              <a:srgbClr val="CA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18704" y="395935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5632" y="3931920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SIGNAL VOLUME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18704" y="4434840"/>
            <a:ext cx="277063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More alerts, logs and tickets than people can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APPLIED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From Chatbot to Operational Capability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06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34440" y="3886200"/>
            <a:ext cx="9738360" cy="0"/>
          </a:xfrm>
          <a:prstGeom prst="line">
            <a:avLst/>
          </a:prstGeom>
          <a:ln w="6350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14400" y="3529584"/>
            <a:ext cx="713232" cy="713232"/>
          </a:xfrm>
          <a:prstGeom prst="ellipse">
            <a:avLst/>
          </a:prstGeom>
          <a:solidFill>
            <a:srgbClr val="AAB9C6"/>
          </a:solidFill>
          <a:ln>
            <a:solidFill>
              <a:srgbClr val="AA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84831"/>
            <a:ext cx="11155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AAB9C6"/>
                </a:solidFill>
                <a:latin typeface="Arial"/>
              </a:defRPr>
            </a:pPr>
            <a:r>
              <a:t>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578608"/>
            <a:ext cx="148132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0">
                <a:solidFill>
                  <a:srgbClr val="596978"/>
                </a:solidFill>
                <a:latin typeface="Arial"/>
              </a:defRPr>
            </a:pPr>
            <a:r>
              <a:t>General questions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10512" y="3611880"/>
            <a:ext cx="256031" cy="0"/>
          </a:xfrm>
          <a:prstGeom prst="line">
            <a:avLst/>
          </a:prstGeom>
          <a:ln w="21590">
            <a:solidFill>
              <a:srgbClr val="AAB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063240" y="3438144"/>
            <a:ext cx="896112" cy="896112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2072" y="2084831"/>
            <a:ext cx="12984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1F6FD6"/>
                </a:solidFill>
                <a:latin typeface="Arial"/>
              </a:defRPr>
            </a:pPr>
            <a:r>
              <a:t>KNOW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9192" y="2578608"/>
            <a:ext cx="1664207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0">
                <a:solidFill>
                  <a:srgbClr val="596978"/>
                </a:solidFill>
                <a:latin typeface="Arial"/>
              </a:defRPr>
            </a:pPr>
            <a:r>
              <a:t>Search Knowledge with citations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42232" y="3611880"/>
            <a:ext cx="256032" cy="0"/>
          </a:xfrm>
          <a:prstGeom prst="line">
            <a:avLst/>
          </a:prstGeom>
          <a:ln w="21590">
            <a:solidFill>
              <a:srgbClr val="1F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303520" y="3346704"/>
            <a:ext cx="1078992" cy="1078992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2352" y="2084831"/>
            <a:ext cx="14813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22B5C1"/>
                </a:solidFill>
                <a:latin typeface="Arial"/>
              </a:defRPr>
            </a:pPr>
            <a:r>
              <a:t>REASON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2578608"/>
            <a:ext cx="184708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0">
                <a:solidFill>
                  <a:srgbClr val="596978"/>
                </a:solidFill>
                <a:latin typeface="Arial"/>
              </a:defRPr>
            </a:pPr>
            <a:r>
              <a:t>Connect signals and context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65392" y="3611880"/>
            <a:ext cx="256031" cy="0"/>
          </a:xfrm>
          <a:prstGeom prst="line">
            <a:avLst/>
          </a:prstGeom>
          <a:ln w="21590">
            <a:solidFill>
              <a:srgbClr val="22B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726679" y="3255264"/>
            <a:ext cx="1261872" cy="1261872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511" y="2084831"/>
            <a:ext cx="166420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F57F22"/>
                </a:solidFill>
                <a:latin typeface="Arial"/>
              </a:defRPr>
            </a:pPr>
            <a:r>
              <a:t>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631" y="2578608"/>
            <a:ext cx="2029967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0">
                <a:solidFill>
                  <a:srgbClr val="596978"/>
                </a:solidFill>
                <a:latin typeface="Arial"/>
              </a:defRPr>
            </a:pPr>
            <a:r>
              <a:t>Call tools under policy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71431" y="3611880"/>
            <a:ext cx="256032" cy="0"/>
          </a:xfrm>
          <a:prstGeom prst="line">
            <a:avLst/>
          </a:prstGeom>
          <a:ln w="21590">
            <a:solidFill>
              <a:srgbClr val="F57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012680" y="3163824"/>
            <a:ext cx="1444752" cy="1444752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11511" y="2084831"/>
            <a:ext cx="18470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229967"/>
                </a:solidFill>
                <a:latin typeface="Arial"/>
              </a:defRPr>
            </a:pPr>
            <a:r>
              <a:t>LEARN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8632" y="2578608"/>
            <a:ext cx="221284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0">
                <a:solidFill>
                  <a:srgbClr val="596978"/>
                </a:solidFill>
                <a:latin typeface="Arial"/>
              </a:defRPr>
            </a:pPr>
            <a:r>
              <a:t>Turn outcomes into reusable practice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7240" y="5504688"/>
            <a:ext cx="1063447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14400" y="5650992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1F6FD6"/>
                </a:solidFill>
                <a:latin typeface="Arial"/>
              </a:defRPr>
            </a:pPr>
            <a:r>
              <a:t>Applied AI does more than generate answers — it supports work with Context, Evidence and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22B5C1"/>
                </a:solidFill>
                <a:latin typeface="Arial"/>
              </a:defRPr>
            </a:pPr>
            <a:r>
              <a:t>APPLIED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</a:defRPr>
            </a:pPr>
            <a:r>
              <a:t>Applied AI in Plain Language: Sense → Understand → Recommend → Orchestrate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132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B6CADC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B6CADC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2514600" cy="2423160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2768" y="2139696"/>
            <a:ext cx="749808" cy="749808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2313432"/>
            <a:ext cx="7498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081528"/>
            <a:ext cx="2057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1F6FD6"/>
                </a:solidFill>
                <a:latin typeface="Arial"/>
              </a:defRPr>
            </a:pPr>
            <a:r>
              <a:t>SENSE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529584"/>
            <a:ext cx="1965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BED1E1"/>
                </a:solidFill>
                <a:latin typeface="Arial"/>
              </a:defRPr>
            </a:pPr>
            <a:r>
              <a:t>Read alerts, metrics, logs and tickets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36976" y="2971800"/>
            <a:ext cx="265176" cy="0"/>
          </a:xfrm>
          <a:prstGeom prst="line">
            <a:avLst/>
          </a:prstGeom>
          <a:ln w="25400">
            <a:solidFill>
              <a:srgbClr val="1F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02152" y="1828800"/>
            <a:ext cx="2514600" cy="2423160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61688" y="2139696"/>
            <a:ext cx="749808" cy="749808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2313432"/>
            <a:ext cx="7498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081528"/>
            <a:ext cx="2057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22B5C1"/>
                </a:solidFill>
                <a:latin typeface="Arial"/>
              </a:defRPr>
            </a:pPr>
            <a:r>
              <a:t>UNDERSTAND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2" y="3529584"/>
            <a:ext cx="1965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BED1E1"/>
                </a:solidFill>
                <a:latin typeface="Arial"/>
              </a:defRPr>
            </a:pPr>
            <a:r>
              <a:t>Connect service, change, owner and runbook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25896" y="2971800"/>
            <a:ext cx="265176" cy="0"/>
          </a:xfrm>
          <a:prstGeom prst="line">
            <a:avLst/>
          </a:prstGeom>
          <a:ln w="25400">
            <a:solidFill>
              <a:srgbClr val="22B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91072" y="1828800"/>
            <a:ext cx="2514600" cy="2423160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50608" y="2139696"/>
            <a:ext cx="749808" cy="749808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2313432"/>
            <a:ext cx="7498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081528"/>
            <a:ext cx="2057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F57F22"/>
                </a:solidFill>
                <a:latin typeface="Arial"/>
              </a:defRPr>
            </a:pPr>
            <a:r>
              <a:t>RECOMMEND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529584"/>
            <a:ext cx="1965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BED1E1"/>
                </a:solidFill>
                <a:latin typeface="Arial"/>
              </a:defRPr>
            </a:pPr>
            <a:r>
              <a:t>Explain causes and options with evidence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14816" y="2971800"/>
            <a:ext cx="265176" cy="0"/>
          </a:xfrm>
          <a:prstGeom prst="line">
            <a:avLst/>
          </a:prstGeom>
          <a:ln w="25400">
            <a:solidFill>
              <a:srgbClr val="F57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79992" y="1828800"/>
            <a:ext cx="2514600" cy="2423160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39528" y="2139696"/>
            <a:ext cx="749808" cy="749808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9528" y="2313432"/>
            <a:ext cx="7498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3081528"/>
            <a:ext cx="2057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229967"/>
                </a:solidFill>
                <a:latin typeface="Arial"/>
              </a:defRPr>
            </a:pPr>
            <a:r>
              <a:t>ORCHESTRATE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3529584"/>
            <a:ext cx="1965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BED1E1"/>
                </a:solidFill>
                <a:latin typeface="Arial"/>
              </a:defRPr>
            </a:pPr>
            <a:r>
              <a:t>Route or execute policy-approved actions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5522976"/>
            <a:ext cx="10634472" cy="0"/>
          </a:xfrm>
          <a:prstGeom prst="line">
            <a:avLst/>
          </a:prstGeom>
          <a:ln w="10160">
            <a:solidFill>
              <a:srgbClr val="132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5669280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Every step must know: who asked • what data is visible • which tool is used • whether the result is approved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An AI Operations Platform Is a Connecting Layer — Not a Replacement for Everything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1920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00" b="1">
                <a:solidFill>
                  <a:srgbClr val="596978"/>
                </a:solidFill>
                <a:latin typeface="Arial"/>
              </a:defRPr>
            </a:pPr>
            <a:r>
              <a:t>PEOPLE &amp; CHANNELS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01952"/>
            <a:ext cx="2468880" cy="310896"/>
          </a:xfrm>
          <a:prstGeom prst="roundRect">
            <a:avLst>
              <a:gd name="adj" fmla="val 12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11095"/>
            <a:ext cx="24688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1F6FD6"/>
                </a:solidFill>
                <a:latin typeface="Arial"/>
              </a:defRPr>
            </a:pPr>
            <a:r>
              <a:t>Executives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901952"/>
            <a:ext cx="2468880" cy="310896"/>
          </a:xfrm>
          <a:prstGeom prst="roundRect">
            <a:avLst>
              <a:gd name="adj" fmla="val 12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911095"/>
            <a:ext cx="24688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1F6FD6"/>
                </a:solidFill>
                <a:latin typeface="Arial"/>
              </a:defRPr>
            </a:pPr>
            <a:r>
              <a:t>NOC / SRE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01952"/>
            <a:ext cx="2468880" cy="310896"/>
          </a:xfrm>
          <a:prstGeom prst="roundRect">
            <a:avLst>
              <a:gd name="adj" fmla="val 12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11095"/>
            <a:ext cx="24688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1F6FD6"/>
                </a:solidFill>
                <a:latin typeface="Arial"/>
              </a:defRPr>
            </a:pPr>
            <a:r>
              <a:t>Service Desk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1901952"/>
            <a:ext cx="2468880" cy="310896"/>
          </a:xfrm>
          <a:prstGeom prst="roundRect">
            <a:avLst>
              <a:gd name="adj" fmla="val 12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59" y="1911095"/>
            <a:ext cx="24688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1F6FD6"/>
                </a:solidFill>
                <a:latin typeface="Arial"/>
              </a:defRPr>
            </a:pPr>
            <a:r>
              <a:t>Application Teams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267712"/>
            <a:ext cx="0" cy="384048"/>
          </a:xfrm>
          <a:prstGeom prst="line">
            <a:avLst/>
          </a:prstGeom>
          <a:ln w="25400">
            <a:solidFill>
              <a:srgbClr val="1F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234440" y="2670048"/>
            <a:ext cx="9692640" cy="1170432"/>
          </a:xfrm>
          <a:prstGeom prst="roundRect">
            <a:avLst>
              <a:gd name="adj" fmla="val 12000"/>
            </a:avLst>
          </a:prstGeom>
          <a:solidFill>
            <a:srgbClr val="09192C"/>
          </a:solidFill>
          <a:ln w="10160">
            <a:solidFill>
              <a:srgbClr val="09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2926080"/>
            <a:ext cx="33832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rial"/>
              </a:defRPr>
            </a:pPr>
            <a:r>
              <a:t>SECURE AI OPERATIONS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944368"/>
            <a:ext cx="5989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1200" b="0">
                <a:solidFill>
                  <a:srgbClr val="C6D9EA"/>
                </a:solidFill>
                <a:latin typeface="Arial"/>
              </a:defRPr>
            </a:pPr>
            <a:r>
              <a:t>Agents  •  Knowledge  •  Reasoning  •  Tools  •  Guardrails  •  Audit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3840480"/>
            <a:ext cx="0" cy="393192"/>
          </a:xfrm>
          <a:prstGeom prst="line">
            <a:avLst/>
          </a:prstGeom>
          <a:ln w="25400">
            <a:solidFill>
              <a:srgbClr val="229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" y="4279392"/>
            <a:ext cx="167335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4517136"/>
            <a:ext cx="15270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6F4FC4"/>
                </a:solidFill>
                <a:latin typeface="Arial"/>
              </a:defRPr>
            </a:pPr>
            <a:r>
              <a:t>Datadog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32888" y="4279392"/>
            <a:ext cx="167335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06040" y="4517136"/>
            <a:ext cx="15270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1F6FD6"/>
                </a:solidFill>
                <a:latin typeface="Arial"/>
              </a:defRPr>
            </a:pPr>
            <a:r>
              <a:t>Service Desk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9976" y="4279392"/>
            <a:ext cx="167335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3128" y="4517136"/>
            <a:ext cx="15270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22B5C1"/>
                </a:solidFill>
                <a:latin typeface="Arial"/>
              </a:defRPr>
            </a:pPr>
            <a:r>
              <a:t>CMDB / Change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7064" y="4279392"/>
            <a:ext cx="167335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0216" y="4517136"/>
            <a:ext cx="15270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F57F22"/>
                </a:solidFill>
                <a:latin typeface="Arial"/>
              </a:defRPr>
            </a:pPr>
            <a:r>
              <a:t>Runbooks / KM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74152" y="4279392"/>
            <a:ext cx="167335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47304" y="4517136"/>
            <a:ext cx="15270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229967"/>
                </a:solidFill>
                <a:latin typeface="Arial"/>
              </a:defRPr>
            </a:pPr>
            <a:r>
              <a:t>Cloud / Infra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21240" y="4279392"/>
            <a:ext cx="167335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A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94392" y="4517136"/>
            <a:ext cx="15270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CA4146"/>
                </a:solidFill>
                <a:latin typeface="Arial"/>
              </a:defRPr>
            </a:pPr>
            <a:r>
              <a:t>Security Tools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7240" y="5568696"/>
            <a:ext cx="1063447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400" y="5715000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1F6FD6"/>
                </a:solidFill>
                <a:latin typeface="Arial"/>
              </a:defRPr>
            </a:pPr>
            <a:r>
              <a:t>Systems of Record remain authoritative — AI adds intelligence and orchestration across them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Six Capabilities That Move AI from Demo to Daily Operations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64008" cy="1600200"/>
          </a:xfrm>
          <a:prstGeom prst="rect">
            <a:avLst/>
          </a:prstGeom>
          <a:solidFill>
            <a:srgbClr val="1F6FD6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865376"/>
            <a:ext cx="438912" cy="438912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47088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50008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Task-specific expertise</a:t>
            </a:r>
            <a:br/>
            <a:r>
              <a:t>such as an Operations Analyst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64208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664208"/>
            <a:ext cx="64008" cy="1600200"/>
          </a:xfrm>
          <a:prstGeom prst="rect">
            <a:avLst/>
          </a:prstGeom>
          <a:solidFill>
            <a:srgbClr val="22B5C1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16552" y="1865376"/>
            <a:ext cx="438912" cy="438912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874519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847088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350008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RAG with source, page</a:t>
            </a:r>
            <a:br/>
            <a:r>
              <a:t>and access control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2672" y="1664208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62672" y="1664208"/>
            <a:ext cx="64008" cy="1600200"/>
          </a:xfrm>
          <a:prstGeom prst="rect">
            <a:avLst/>
          </a:prstGeom>
          <a:solidFill>
            <a:srgbClr val="F57F22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18704" y="1865376"/>
            <a:ext cx="438912" cy="438912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18704" y="1874519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847088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8704" y="2350008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API / MCP connectivity</a:t>
            </a:r>
            <a:br/>
            <a:r>
              <a:t>starting read-only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785615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785615"/>
            <a:ext cx="64008" cy="1600200"/>
          </a:xfrm>
          <a:prstGeom prst="rect">
            <a:avLst/>
          </a:prstGeom>
          <a:solidFill>
            <a:srgbClr val="6F4FC4"/>
          </a:solidFill>
          <a:ln w="10160"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3986783"/>
            <a:ext cx="438912" cy="438912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995927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3968496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OBSERVABILITY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71416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Metrics, logs, traces and events</a:t>
            </a:r>
            <a:br/>
            <a:r>
              <a:t>from Datadog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3785615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3785615"/>
            <a:ext cx="64008" cy="1600200"/>
          </a:xfrm>
          <a:prstGeom prst="rect">
            <a:avLst/>
          </a:prstGeom>
          <a:solidFill>
            <a:srgbClr val="229967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16552" y="3986783"/>
            <a:ext cx="438912" cy="438912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16552" y="3995927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3968496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GUARDRAIL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4471416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PII/DLP, tool policy</a:t>
            </a:r>
            <a:br/>
            <a:r>
              <a:t>and least privilege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62672" y="3785615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62672" y="3785615"/>
            <a:ext cx="64008" cy="1600200"/>
          </a:xfrm>
          <a:prstGeom prst="rect">
            <a:avLst/>
          </a:prstGeom>
          <a:solidFill>
            <a:srgbClr val="CA4146"/>
          </a:solidFill>
          <a:ln w="10160">
            <a:solidFill>
              <a:srgbClr val="CA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918704" y="3986783"/>
            <a:ext cx="438912" cy="438912"/>
          </a:xfrm>
          <a:prstGeom prst="ellipse">
            <a:avLst/>
          </a:prstGeom>
          <a:solidFill>
            <a:srgbClr val="CA4146"/>
          </a:solidFill>
          <a:ln>
            <a:solidFill>
              <a:srgbClr val="CA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18704" y="3995927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5632" y="3968496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AUDIT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18704" y="4471416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Who called which agent/tool,</a:t>
            </a:r>
            <a:br/>
            <a:r>
              <a:t>when, and with what outcome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Who Is Responsible for What?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352044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3520440" cy="640080"/>
          </a:xfrm>
          <a:prstGeom prst="roundRect">
            <a:avLst>
              <a:gd name="adj" fmla="val 12000"/>
            </a:avLst>
          </a:prstGeom>
          <a:solidFill>
            <a:srgbClr val="1F6FD6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SYSTEMS OF RECORD</a:t>
            </a:r>
          </a:p>
        </p:txBody>
      </p:sp>
      <p:sp>
        <p:nvSpPr>
          <p:cNvPr id="10" name="Oval 9"/>
          <p:cNvSpPr/>
          <p:nvPr/>
        </p:nvSpPr>
        <p:spPr>
          <a:xfrm>
            <a:off x="987552" y="2624328"/>
            <a:ext cx="347472" cy="347472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633472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24328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1">
                <a:solidFill>
                  <a:srgbClr val="182635"/>
                </a:solidFill>
                <a:latin typeface="Arial"/>
              </a:defRPr>
            </a:pPr>
            <a:r>
              <a:t>Own authoritative data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3282696"/>
            <a:ext cx="347472" cy="347472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291839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82696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182635"/>
                </a:solidFill>
                <a:latin typeface="Arial"/>
              </a:defRPr>
            </a:pPr>
            <a:r>
              <a:t>Enforce transaction rules</a:t>
            </a:r>
          </a:p>
        </p:txBody>
      </p:sp>
      <p:sp>
        <p:nvSpPr>
          <p:cNvPr id="16" name="Oval 15"/>
          <p:cNvSpPr/>
          <p:nvPr/>
        </p:nvSpPr>
        <p:spPr>
          <a:xfrm>
            <a:off x="987552" y="3941064"/>
            <a:ext cx="347472" cy="347472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950208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941064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182635"/>
                </a:solidFill>
                <a:latin typeface="Arial"/>
              </a:defRPr>
            </a:pPr>
            <a:r>
              <a:t>Retain existing ownership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6552" y="1691640"/>
            <a:ext cx="352044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16552" y="1691640"/>
            <a:ext cx="3520440" cy="640080"/>
          </a:xfrm>
          <a:prstGeom prst="roundRect">
            <a:avLst>
              <a:gd name="adj" fmla="val 12000"/>
            </a:avLst>
          </a:prstGeom>
          <a:solidFill>
            <a:srgbClr val="F57F22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1865376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APPLIED AI</a:t>
            </a:r>
          </a:p>
        </p:txBody>
      </p:sp>
      <p:sp>
        <p:nvSpPr>
          <p:cNvPr id="22" name="Oval 21"/>
          <p:cNvSpPr/>
          <p:nvPr/>
        </p:nvSpPr>
        <p:spPr>
          <a:xfrm>
            <a:off x="4690872" y="2624328"/>
            <a:ext cx="347472" cy="347472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0872" y="2633472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624328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1">
                <a:solidFill>
                  <a:srgbClr val="182635"/>
                </a:solidFill>
                <a:latin typeface="Arial"/>
              </a:defRPr>
            </a:pPr>
            <a:r>
              <a:t>Connect context</a:t>
            </a:r>
          </a:p>
        </p:txBody>
      </p:sp>
      <p:sp>
        <p:nvSpPr>
          <p:cNvPr id="25" name="Oval 24"/>
          <p:cNvSpPr/>
          <p:nvPr/>
        </p:nvSpPr>
        <p:spPr>
          <a:xfrm>
            <a:off x="4690872" y="3282696"/>
            <a:ext cx="347472" cy="347472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3291839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3282696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182635"/>
                </a:solidFill>
                <a:latin typeface="Arial"/>
              </a:defRPr>
            </a:pPr>
            <a:r>
              <a:t>Summarize and prioritize</a:t>
            </a:r>
          </a:p>
        </p:txBody>
      </p:sp>
      <p:sp>
        <p:nvSpPr>
          <p:cNvPr id="28" name="Oval 27"/>
          <p:cNvSpPr/>
          <p:nvPr/>
        </p:nvSpPr>
        <p:spPr>
          <a:xfrm>
            <a:off x="4690872" y="3941064"/>
            <a:ext cx="347472" cy="347472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3950208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3941064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182635"/>
                </a:solidFill>
                <a:latin typeface="Arial"/>
              </a:defRPr>
            </a:pPr>
            <a:r>
              <a:t>Recommend actions with evidence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9871" y="1691640"/>
            <a:ext cx="352044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19871" y="1691640"/>
            <a:ext cx="3520440" cy="640080"/>
          </a:xfrm>
          <a:prstGeom prst="roundRect">
            <a:avLst>
              <a:gd name="adj" fmla="val 12000"/>
            </a:avLst>
          </a:prstGeom>
          <a:solidFill>
            <a:srgbClr val="229967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4463" y="1865376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HUMAN OWNER</a:t>
            </a:r>
          </a:p>
        </p:txBody>
      </p:sp>
      <p:sp>
        <p:nvSpPr>
          <p:cNvPr id="34" name="Oval 33"/>
          <p:cNvSpPr/>
          <p:nvPr/>
        </p:nvSpPr>
        <p:spPr>
          <a:xfrm>
            <a:off x="8394192" y="2624328"/>
            <a:ext cx="347472" cy="347472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94192" y="2633472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2624328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1">
                <a:solidFill>
                  <a:srgbClr val="182635"/>
                </a:solidFill>
                <a:latin typeface="Arial"/>
              </a:defRPr>
            </a:pPr>
            <a:r>
              <a:t>Make risk decisions</a:t>
            </a:r>
          </a:p>
        </p:txBody>
      </p:sp>
      <p:sp>
        <p:nvSpPr>
          <p:cNvPr id="37" name="Oval 36"/>
          <p:cNvSpPr/>
          <p:nvPr/>
        </p:nvSpPr>
        <p:spPr>
          <a:xfrm>
            <a:off x="8394192" y="3282696"/>
            <a:ext cx="347472" cy="347472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4192" y="3291839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282696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182635"/>
                </a:solidFill>
                <a:latin typeface="Arial"/>
              </a:defRPr>
            </a:pPr>
            <a:r>
              <a:t>Approve write actions</a:t>
            </a:r>
          </a:p>
        </p:txBody>
      </p:sp>
      <p:sp>
        <p:nvSpPr>
          <p:cNvPr id="40" name="Oval 39"/>
          <p:cNvSpPr/>
          <p:nvPr/>
        </p:nvSpPr>
        <p:spPr>
          <a:xfrm>
            <a:off x="8394192" y="3941064"/>
            <a:ext cx="347472" cy="347472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94192" y="3950208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3941064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182635"/>
                </a:solidFill>
                <a:latin typeface="Arial"/>
              </a:defRPr>
            </a:pPr>
            <a:r>
              <a:t>Remain accountable for outcomes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77240" y="5522976"/>
            <a:ext cx="1063447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4400" y="5669280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1F6FD6"/>
                </a:solidFill>
                <a:latin typeface="Arial"/>
              </a:defRPr>
            </a:pPr>
            <a:r>
              <a:t>AI improves decisions, but accountability remains with service owners and organizational policy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MATURITY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Start Small — Build a Path to New Capabilities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434840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E9F3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4599431"/>
            <a:ext cx="3474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1F6FD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4599431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300" b="1">
                <a:solidFill>
                  <a:srgbClr val="1F6FD6"/>
                </a:solidFill>
                <a:latin typeface="Arial"/>
              </a:defRPr>
            </a:pPr>
            <a:r>
              <a:t>ASSIST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5120640"/>
            <a:ext cx="20116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Search Knowledge</a:t>
            </a:r>
            <a:br/>
            <a:r>
              <a:t>and summarize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3831335"/>
            <a:ext cx="2423160" cy="1746504"/>
          </a:xfrm>
          <a:prstGeom prst="roundRect">
            <a:avLst>
              <a:gd name="adj" fmla="val 12000"/>
            </a:avLst>
          </a:prstGeom>
          <a:solidFill>
            <a:srgbClr val="E6F8F9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3995927"/>
            <a:ext cx="3474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22B5C1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368" y="3995927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300" b="1">
                <a:solidFill>
                  <a:srgbClr val="22B5C1"/>
                </a:solidFill>
                <a:latin typeface="Arial"/>
              </a:defRPr>
            </a:pPr>
            <a:r>
              <a:t>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4517136"/>
            <a:ext cx="20116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Connect evidence</a:t>
            </a:r>
            <a:br/>
            <a:r>
              <a:t>and rank hypotheses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227831"/>
            <a:ext cx="2423160" cy="2350008"/>
          </a:xfrm>
          <a:prstGeom prst="roundRect">
            <a:avLst>
              <a:gd name="adj" fmla="val 12000"/>
            </a:avLst>
          </a:prstGeom>
          <a:solidFill>
            <a:srgbClr val="FFF2E4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392423"/>
            <a:ext cx="3474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F57F2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3392423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300" b="1">
                <a:solidFill>
                  <a:srgbClr val="F57F22"/>
                </a:solidFill>
                <a:latin typeface="Arial"/>
              </a:defRPr>
            </a:pPr>
            <a:r>
              <a:t>RECOMMEND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3913631"/>
            <a:ext cx="20116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Recommend actions</a:t>
            </a:r>
            <a:br/>
            <a:r>
              <a:t>with risk and owner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624327"/>
            <a:ext cx="2423160" cy="2953512"/>
          </a:xfrm>
          <a:prstGeom prst="roundRect">
            <a:avLst>
              <a:gd name="adj" fmla="val 12000"/>
            </a:avLst>
          </a:prstGeom>
          <a:solidFill>
            <a:srgbClr val="E8F8F0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1432" y="2788920"/>
            <a:ext cx="3474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22996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3767" y="2788920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300" b="1">
                <a:solidFill>
                  <a:srgbClr val="229967"/>
                </a:solidFill>
                <a:latin typeface="Arial"/>
              </a:defRPr>
            </a:pPr>
            <a:r>
              <a:t>ORCHESTRATE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3310127"/>
            <a:ext cx="20116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Execute workflows</a:t>
            </a:r>
            <a:br/>
            <a:r>
              <a:t>after approval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5568696"/>
            <a:ext cx="1063447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5715000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1F6FD6"/>
                </a:solidFill>
                <a:latin typeface="Arial"/>
              </a:defRPr>
            </a:pPr>
            <a:r>
              <a:t>The goal is not instant autonomy — add capability and control at every stage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Banking IT Use Cases: Prioritize with Auditable Criteria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44752"/>
            <a:ext cx="2578608" cy="804672"/>
          </a:xfrm>
          <a:prstGeom prst="roundRect">
            <a:avLst>
              <a:gd name="adj" fmla="val 12000"/>
            </a:avLst>
          </a:prstGeom>
          <a:solidFill>
            <a:srgbClr val="E9F3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8105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850" b="1">
                <a:solidFill>
                  <a:srgbClr val="1F6FD6"/>
                </a:solidFill>
                <a:latin typeface="Arial"/>
              </a:defRPr>
            </a:pPr>
            <a:r>
              <a:t>OPERATIONAL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5456" y="1527048"/>
            <a:ext cx="493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1400" b="1">
                <a:solidFill>
                  <a:srgbClr val="1F6FD6"/>
                </a:solidFill>
                <a:latin typeface="Arial"/>
              </a:defRPr>
            </a:pPr>
            <a:r>
              <a:t>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01952"/>
            <a:ext cx="2286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819" b="0">
                <a:solidFill>
                  <a:srgbClr val="596978"/>
                </a:solidFill>
                <a:latin typeface="Arial"/>
              </a:defRPr>
            </a:pPr>
            <a:r>
              <a:t>Customer impact • MTTR •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44752"/>
            <a:ext cx="2578608" cy="804672"/>
          </a:xfrm>
          <a:prstGeom prst="roundRect">
            <a:avLst>
              <a:gd name="adj" fmla="val 12000"/>
            </a:avLst>
          </a:prstGeom>
          <a:solidFill>
            <a:srgbClr val="E6F8F9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1572768"/>
            <a:ext cx="18105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850" b="1">
                <a:solidFill>
                  <a:srgbClr val="22B5C1"/>
                </a:solidFill>
                <a:latin typeface="Arial"/>
              </a:defRPr>
            </a:pPr>
            <a:r>
              <a:t>EVIDENCE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1527048"/>
            <a:ext cx="493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1400" b="1">
                <a:solidFill>
                  <a:srgbClr val="22B5C1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1901952"/>
            <a:ext cx="2286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819" b="0">
                <a:solidFill>
                  <a:srgbClr val="596978"/>
                </a:solidFill>
                <a:latin typeface="Arial"/>
              </a:defRPr>
            </a:pPr>
            <a:r>
              <a:t>Telemetry • KM • provenance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444752"/>
            <a:ext cx="2578608" cy="804672"/>
          </a:xfrm>
          <a:prstGeom prst="roundRect">
            <a:avLst>
              <a:gd name="adj" fmla="val 12000"/>
            </a:avLst>
          </a:prstGeom>
          <a:solidFill>
            <a:srgbClr val="FFF2E4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572768"/>
            <a:ext cx="18105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850" b="1">
                <a:solidFill>
                  <a:srgbClr val="F57F22"/>
                </a:solidFill>
                <a:latin typeface="Arial"/>
              </a:defRPr>
            </a:pPr>
            <a:r>
              <a:t>DELIVERY FEASIBILITY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27048"/>
            <a:ext cx="493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1400" b="1">
                <a:solidFill>
                  <a:srgbClr val="F57F22"/>
                </a:solidFill>
                <a:latin typeface="Arial"/>
              </a:defRPr>
            </a:pPr>
            <a: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1901952"/>
            <a:ext cx="2286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819" b="0">
                <a:solidFill>
                  <a:srgbClr val="596978"/>
                </a:solidFill>
                <a:latin typeface="Arial"/>
              </a:defRPr>
            </a:pPr>
            <a:r>
              <a:t>Integration • process • effort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5984" y="1444752"/>
            <a:ext cx="2578608" cy="804672"/>
          </a:xfrm>
          <a:prstGeom prst="roundRect">
            <a:avLst>
              <a:gd name="adj" fmla="val 12000"/>
            </a:avLst>
          </a:prstGeom>
          <a:solidFill>
            <a:srgbClr val="E8F8F0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2288" y="1572768"/>
            <a:ext cx="18105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850" b="1">
                <a:solidFill>
                  <a:srgbClr val="229967"/>
                </a:solidFill>
                <a:latin typeface="Arial"/>
              </a:defRPr>
            </a:pPr>
            <a:r>
              <a:t>CONTROL READINESS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4512" y="1527048"/>
            <a:ext cx="493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1400" b="1">
                <a:solidFill>
                  <a:srgbClr val="229967"/>
                </a:solidFill>
                <a:latin typeface="Arial"/>
              </a:defRPr>
            </a:pPr>
            <a:r>
              <a:t>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1901952"/>
            <a:ext cx="2286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819" b="0">
                <a:solidFill>
                  <a:srgbClr val="596978"/>
                </a:solidFill>
                <a:latin typeface="Arial"/>
              </a:defRPr>
            </a:pPr>
            <a:r>
              <a:t>Read-only • approval • audit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395728"/>
            <a:ext cx="10991088" cy="438912"/>
          </a:xfrm>
          <a:prstGeom prst="roundRect">
            <a:avLst>
              <a:gd name="adj" fmla="val 12000"/>
            </a:avLst>
          </a:prstGeom>
          <a:solidFill>
            <a:srgbClr val="09192C"/>
          </a:solidFill>
          <a:ln w="10160">
            <a:solidFill>
              <a:srgbClr val="09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2505456"/>
            <a:ext cx="1062532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Priority Score = 0.35V + 0.30E + 0.20F + 0.15C  •  Score 1 (low) – 5 (high)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017520"/>
            <a:ext cx="2505456" cy="365760"/>
          </a:xfrm>
          <a:prstGeom prst="rect">
            <a:avLst/>
          </a:prstGeom>
          <a:solidFill>
            <a:srgbClr val="E9F3FF"/>
          </a:solidFill>
          <a:ln w="10160">
            <a:solidFill>
              <a:srgbClr val="AA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3090672"/>
            <a:ext cx="2414016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Use case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72384" y="3017520"/>
            <a:ext cx="493776" cy="365760"/>
          </a:xfrm>
          <a:prstGeom prst="rect">
            <a:avLst/>
          </a:prstGeom>
          <a:solidFill>
            <a:srgbClr val="E9F3FF"/>
          </a:solidFill>
          <a:ln w="10160">
            <a:solidFill>
              <a:srgbClr val="AA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18103" y="3090672"/>
            <a:ext cx="402336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3017520"/>
            <a:ext cx="493776" cy="365760"/>
          </a:xfrm>
          <a:prstGeom prst="rect">
            <a:avLst/>
          </a:prstGeom>
          <a:solidFill>
            <a:srgbClr val="E9F3FF"/>
          </a:solidFill>
          <a:ln w="10160">
            <a:solidFill>
              <a:srgbClr val="AA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79" y="3090672"/>
            <a:ext cx="402336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59936" y="3017520"/>
            <a:ext cx="493776" cy="365760"/>
          </a:xfrm>
          <a:prstGeom prst="rect">
            <a:avLst/>
          </a:prstGeom>
          <a:solidFill>
            <a:srgbClr val="E9F3FF"/>
          </a:solidFill>
          <a:ln w="10160">
            <a:solidFill>
              <a:srgbClr val="AA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05656" y="3090672"/>
            <a:ext cx="402336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3712" y="3017520"/>
            <a:ext cx="493776" cy="365760"/>
          </a:xfrm>
          <a:prstGeom prst="rect">
            <a:avLst/>
          </a:prstGeom>
          <a:solidFill>
            <a:srgbClr val="E9F3FF"/>
          </a:solidFill>
          <a:ln w="10160">
            <a:solidFill>
              <a:srgbClr val="AA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9432" y="3090672"/>
            <a:ext cx="402336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47488" y="3017520"/>
            <a:ext cx="841248" cy="365760"/>
          </a:xfrm>
          <a:prstGeom prst="rect">
            <a:avLst/>
          </a:prstGeom>
          <a:solidFill>
            <a:srgbClr val="E9F3FF"/>
          </a:solidFill>
          <a:ln w="10160">
            <a:solidFill>
              <a:srgbClr val="AA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93207" y="3090672"/>
            <a:ext cx="74980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Score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88736" y="3017520"/>
            <a:ext cx="1078992" cy="365760"/>
          </a:xfrm>
          <a:prstGeom prst="rect">
            <a:avLst/>
          </a:prstGeom>
          <a:solidFill>
            <a:srgbClr val="E9F3FF"/>
          </a:solidFill>
          <a:ln w="10160">
            <a:solidFill>
              <a:srgbClr val="AA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34456" y="3090672"/>
            <a:ext cx="987551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Phase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67728" y="3017520"/>
            <a:ext cx="4590288" cy="365760"/>
          </a:xfrm>
          <a:prstGeom prst="rect">
            <a:avLst/>
          </a:prstGeom>
          <a:solidFill>
            <a:srgbClr val="E9F3FF"/>
          </a:solidFill>
          <a:ln w="10160">
            <a:solidFill>
              <a:srgbClr val="AA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13448" y="3090672"/>
            <a:ext cx="449884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Basis / assumption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383280"/>
            <a:ext cx="250545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3465576"/>
            <a:ext cx="239572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850" b="0">
                <a:solidFill>
                  <a:srgbClr val="182635"/>
                </a:solidFill>
                <a:latin typeface="Arial"/>
              </a:defRPr>
            </a:pPr>
            <a:r>
              <a:t>Morning briefing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72384" y="3383280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27248" y="3465576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66160" y="3383280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21024" y="3465576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59936" y="3383280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0" y="3465576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53712" y="3383280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08576" y="3465576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47488" y="3383280"/>
            <a:ext cx="841248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02351" y="3465576"/>
            <a:ext cx="7315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4.65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88736" y="3383280"/>
            <a:ext cx="1078992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0" y="3465576"/>
            <a:ext cx="969264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F6FD6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67728" y="3383280"/>
            <a:ext cx="4590288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22592" y="3465576"/>
            <a:ext cx="4480559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850" b="0">
                <a:solidFill>
                  <a:srgbClr val="182635"/>
                </a:solidFill>
                <a:latin typeface="Arial"/>
              </a:defRPr>
            </a:pPr>
            <a:r>
              <a:t>Telemetry available • Read-only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3776472"/>
            <a:ext cx="2505456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" y="3858768"/>
            <a:ext cx="239572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850" b="0">
                <a:solidFill>
                  <a:srgbClr val="182635"/>
                </a:solidFill>
                <a:latin typeface="Arial"/>
              </a:defRPr>
            </a:pPr>
            <a:r>
              <a:t>Incident triage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72384" y="3776472"/>
            <a:ext cx="493776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27248" y="3858768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66160" y="3776472"/>
            <a:ext cx="493776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21024" y="3858768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59936" y="3776472"/>
            <a:ext cx="493776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0" y="3858768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53712" y="3776472"/>
            <a:ext cx="493776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08576" y="3858768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47488" y="3776472"/>
            <a:ext cx="841248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02351" y="3858768"/>
            <a:ext cx="7315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4.65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88736" y="3776472"/>
            <a:ext cx="1078992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0" y="3858768"/>
            <a:ext cx="969264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F6FD6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67728" y="3776472"/>
            <a:ext cx="4590288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22592" y="3858768"/>
            <a:ext cx="4480559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850" b="0">
                <a:solidFill>
                  <a:srgbClr val="182635"/>
                </a:solidFill>
                <a:latin typeface="Arial"/>
              </a:defRPr>
            </a:pPr>
            <a:r>
              <a:t>High impact • Signals available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" y="4169664"/>
            <a:ext cx="250545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1792" y="4251960"/>
            <a:ext cx="239572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850" b="0">
                <a:solidFill>
                  <a:srgbClr val="182635"/>
                </a:solidFill>
                <a:latin typeface="Arial"/>
              </a:defRPr>
            </a:pPr>
            <a:r>
              <a:t>Runbook advisor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072384" y="4169664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127248" y="4251960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566160" y="4169664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21024" y="4251960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59936" y="4169664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14800" y="4251960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53712" y="4169664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608576" y="4251960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47488" y="4169664"/>
            <a:ext cx="841248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102351" y="4251960"/>
            <a:ext cx="7315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4.15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888736" y="4169664"/>
            <a:ext cx="1078992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0" y="4251960"/>
            <a:ext cx="969264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67728" y="4169664"/>
            <a:ext cx="4590288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022592" y="4251960"/>
            <a:ext cx="4480559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850" b="0">
                <a:solidFill>
                  <a:srgbClr val="182635"/>
                </a:solidFill>
                <a:latin typeface="Arial"/>
              </a:defRPr>
            </a:pPr>
            <a:r>
              <a:t>Depends on Knowledge quality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8" y="4562856"/>
            <a:ext cx="2505456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1792" y="4645152"/>
            <a:ext cx="239572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850" b="0">
                <a:solidFill>
                  <a:srgbClr val="182635"/>
                </a:solidFill>
                <a:latin typeface="Arial"/>
              </a:defRPr>
            </a:pPr>
            <a:r>
              <a:t>Change risk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072384" y="4562856"/>
            <a:ext cx="493776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127248" y="4645152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566160" y="4562856"/>
            <a:ext cx="493776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21024" y="4645152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059936" y="4562856"/>
            <a:ext cx="493776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14800" y="4645152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53712" y="4562856"/>
            <a:ext cx="493776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608576" y="4645152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047488" y="4562856"/>
            <a:ext cx="841248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102351" y="4645152"/>
            <a:ext cx="7315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3.85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888736" y="4562856"/>
            <a:ext cx="1078992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943600" y="4645152"/>
            <a:ext cx="969264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PREPARE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967728" y="4562856"/>
            <a:ext cx="4590288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022592" y="4645152"/>
            <a:ext cx="4480559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850" b="0">
                <a:solidFill>
                  <a:srgbClr val="182635"/>
                </a:solidFill>
                <a:latin typeface="Arial"/>
              </a:defRPr>
            </a:pPr>
            <a:r>
              <a:t>Depends on Change coverage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66928" y="4956048"/>
            <a:ext cx="250545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1792" y="5038344"/>
            <a:ext cx="239572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850" b="0">
                <a:solidFill>
                  <a:srgbClr val="182635"/>
                </a:solidFill>
                <a:latin typeface="Arial"/>
              </a:defRPr>
            </a:pPr>
            <a:r>
              <a:t>Auto remediation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072384" y="4956048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127248" y="5038344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566160" y="4956048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621024" y="5038344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059936" y="4956048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114800" y="5038344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53712" y="4956048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608576" y="5038344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047488" y="4956048"/>
            <a:ext cx="841248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102351" y="5038344"/>
            <a:ext cx="7315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3.20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888736" y="4956048"/>
            <a:ext cx="1078992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943600" y="5038344"/>
            <a:ext cx="969264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LATER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967728" y="4956048"/>
            <a:ext cx="4590288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022592" y="5038344"/>
            <a:ext cx="4480559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850" b="0">
                <a:solidFill>
                  <a:srgbClr val="182635"/>
                </a:solidFill>
                <a:latin typeface="Arial"/>
              </a:defRPr>
            </a:pPr>
            <a:r>
              <a:t>Write risk • Approval required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21792" y="5468112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850" b="1">
                <a:solidFill>
                  <a:srgbClr val="596978"/>
                </a:solidFill>
                <a:latin typeface="Arial"/>
              </a:defRPr>
            </a:pPr>
            <a:r>
              <a:t>Illustrative scores (not a banking benchmark): read-only Datadog telemetry is assumed; KM/Change readiness varies by use case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1792" y="5779008"/>
            <a:ext cx="108813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40" b="0">
                <a:solidFill>
                  <a:srgbClr val="596978"/>
                </a:solidFill>
                <a:latin typeface="Arial"/>
              </a:defRPr>
            </a:pPr>
            <a:r>
              <a:t>Method: Proposed Solution Discovery Scoring Framework v1.0. References informing criteria—not the formula: NIST AI RMF 1.0, NIST AI 100-1 (2023), doi.org/10.6028/NIST.AI.100-1; Google SRE Workbook, Incident Response, sre.google/workbook/incident-response/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Use Case 1 — A Three-Minute Morning Operations Briefing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011680"/>
            <a:ext cx="18196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100" b="1">
                <a:solidFill>
                  <a:srgbClr val="6F4FC4"/>
                </a:solidFill>
                <a:latin typeface="Arial"/>
              </a:defRPr>
            </a:pPr>
            <a:r>
              <a:t>Datadog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45920" y="2487168"/>
            <a:ext cx="4434840" cy="512064"/>
          </a:xfrm>
          <a:prstGeom prst="line">
            <a:avLst/>
          </a:prstGeom>
          <a:ln w="15240">
            <a:solidFill>
              <a:srgbClr val="6F4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98648" y="182880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011680"/>
            <a:ext cx="18196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100" b="1">
                <a:solidFill>
                  <a:srgbClr val="1F6FD6"/>
                </a:solidFill>
                <a:latin typeface="Arial"/>
              </a:defRPr>
            </a:pPr>
            <a:r>
              <a:t>Service Desk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86200" y="2487168"/>
            <a:ext cx="2194560" cy="512064"/>
          </a:xfrm>
          <a:prstGeom prst="line">
            <a:avLst/>
          </a:prstGeom>
          <a:ln w="15240">
            <a:solidFill>
              <a:srgbClr val="1F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38928" y="182880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011680"/>
            <a:ext cx="18196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100" b="1">
                <a:solidFill>
                  <a:srgbClr val="F57F22"/>
                </a:solidFill>
                <a:latin typeface="Arial"/>
              </a:defRPr>
            </a:pPr>
            <a:r>
              <a:t>Change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6080760" y="2487168"/>
            <a:ext cx="45720" cy="512064"/>
          </a:xfrm>
          <a:prstGeom prst="line">
            <a:avLst/>
          </a:prstGeom>
          <a:ln w="15240">
            <a:solidFill>
              <a:srgbClr val="F57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79208" y="182880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011680"/>
            <a:ext cx="18196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100" b="1">
                <a:solidFill>
                  <a:srgbClr val="22B5C1"/>
                </a:solidFill>
                <a:latin typeface="Arial"/>
              </a:defRPr>
            </a:pPr>
            <a:r>
              <a:t>Knowledge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080760" y="2487168"/>
            <a:ext cx="2286000" cy="512064"/>
          </a:xfrm>
          <a:prstGeom prst="line">
            <a:avLst/>
          </a:prstGeom>
          <a:ln w="15240">
            <a:solidFill>
              <a:srgbClr val="22B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754880" y="2761488"/>
            <a:ext cx="2651760" cy="1042415"/>
          </a:xfrm>
          <a:prstGeom prst="roundRect">
            <a:avLst>
              <a:gd name="adj" fmla="val 12000"/>
            </a:avLst>
          </a:prstGeom>
          <a:solidFill>
            <a:srgbClr val="09192C"/>
          </a:solidFill>
          <a:ln w="10160">
            <a:solidFill>
              <a:srgbClr val="09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3099816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OPERATIONS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43484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4434840"/>
            <a:ext cx="64008" cy="1143000"/>
          </a:xfrm>
          <a:prstGeom prst="rect">
            <a:avLst/>
          </a:prstGeom>
          <a:solidFill>
            <a:srgbClr val="1F6FD6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" y="4617720"/>
            <a:ext cx="29443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" y="5120640"/>
            <a:ext cx="29077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Impact and critical services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443484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4434840"/>
            <a:ext cx="64008" cy="1143000"/>
          </a:xfrm>
          <a:prstGeom prst="rect">
            <a:avLst/>
          </a:prstGeom>
          <a:solidFill>
            <a:srgbClr val="F57F22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4617720"/>
            <a:ext cx="29443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Top risks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5120640"/>
            <a:ext cx="29077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Prioritized by severity and customer impact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443484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9" y="4434840"/>
            <a:ext cx="64008" cy="1143000"/>
          </a:xfrm>
          <a:prstGeom prst="rect">
            <a:avLst/>
          </a:prstGeom>
          <a:solidFill>
            <a:srgbClr val="229967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1" y="4617720"/>
            <a:ext cx="29443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Owner &amp; next step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9911" y="5120640"/>
            <a:ext cx="29077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Who does what, and by when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INCIDENT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Use Case 2 — Customers Report Slow Mobile Banking Transfers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2926080" cy="4041648"/>
          </a:xfrm>
          <a:prstGeom prst="roundRect">
            <a:avLst>
              <a:gd name="adj" fmla="val 12000"/>
            </a:avLst>
          </a:prstGeom>
          <a:solidFill>
            <a:srgbClr val="09192C"/>
          </a:solidFill>
          <a:ln w="10160">
            <a:solidFill>
              <a:srgbClr val="09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2423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100" b="1">
                <a:solidFill>
                  <a:srgbClr val="22B5C1"/>
                </a:solidFill>
                <a:latin typeface="Arial"/>
              </a:defRPr>
            </a:pPr>
            <a:r>
              <a:t>USER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2423160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“The transfer screen</a:t>
            </a:r>
            <a:br/>
            <a:r>
              <a:t>is taking unusually long”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3950208"/>
            <a:ext cx="1828800" cy="310896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959352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57F22"/>
                </a:solidFill>
                <a:latin typeface="Arial"/>
              </a:defRPr>
            </a:pPr>
            <a:r>
              <a:t>CUSTOMER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1755648"/>
            <a:ext cx="3200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700" b="1">
                <a:solidFill>
                  <a:srgbClr val="182635"/>
                </a:solidFill>
                <a:latin typeface="Arial"/>
              </a:defRPr>
            </a:pPr>
            <a:r>
              <a:t>Questions for the operations team</a:t>
            </a:r>
          </a:p>
        </p:txBody>
      </p:sp>
      <p:sp>
        <p:nvSpPr>
          <p:cNvPr id="13" name="Oval 12"/>
          <p:cNvSpPr/>
          <p:nvPr/>
        </p:nvSpPr>
        <p:spPr>
          <a:xfrm>
            <a:off x="4005072" y="2404872"/>
            <a:ext cx="438912" cy="438912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5072" y="2414015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50591"/>
            <a:ext cx="6217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300" b="1">
                <a:solidFill>
                  <a:srgbClr val="182635"/>
                </a:solidFill>
                <a:latin typeface="Arial"/>
              </a:defRPr>
            </a:pPr>
            <a:r>
              <a:t>Who is affected, and through which channel?</a:t>
            </a:r>
          </a:p>
        </p:txBody>
      </p:sp>
      <p:sp>
        <p:nvSpPr>
          <p:cNvPr id="16" name="Oval 15"/>
          <p:cNvSpPr/>
          <p:nvPr/>
        </p:nvSpPr>
        <p:spPr>
          <a:xfrm>
            <a:off x="4005072" y="3163824"/>
            <a:ext cx="438912" cy="438912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05072" y="3172968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209544"/>
            <a:ext cx="6217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300" b="0">
                <a:solidFill>
                  <a:srgbClr val="182635"/>
                </a:solidFill>
                <a:latin typeface="Arial"/>
              </a:defRPr>
            </a:pPr>
            <a:r>
              <a:t>When did it start, and what changed?</a:t>
            </a:r>
          </a:p>
        </p:txBody>
      </p:sp>
      <p:sp>
        <p:nvSpPr>
          <p:cNvPr id="19" name="Oval 18"/>
          <p:cNvSpPr/>
          <p:nvPr/>
        </p:nvSpPr>
        <p:spPr>
          <a:xfrm>
            <a:off x="4005072" y="3922776"/>
            <a:ext cx="438912" cy="438912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5072" y="3931920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968496"/>
            <a:ext cx="6217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300" b="0">
                <a:solidFill>
                  <a:srgbClr val="182635"/>
                </a:solidFill>
                <a:latin typeface="Arial"/>
              </a:defRPr>
            </a:pPr>
            <a:r>
              <a:t>Is the bottleneck in the app, database, network or a dependency?</a:t>
            </a:r>
          </a:p>
        </p:txBody>
      </p:sp>
      <p:sp>
        <p:nvSpPr>
          <p:cNvPr id="22" name="Oval 21"/>
          <p:cNvSpPr/>
          <p:nvPr/>
        </p:nvSpPr>
        <p:spPr>
          <a:xfrm>
            <a:off x="4005072" y="4681727"/>
            <a:ext cx="438912" cy="438912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05072" y="469087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727447"/>
            <a:ext cx="6217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300" b="0">
                <a:solidFill>
                  <a:srgbClr val="182635"/>
                </a:solidFill>
                <a:latin typeface="Arial"/>
              </a:defRPr>
            </a:pPr>
            <a:r>
              <a:t>Which runbook and safe actions are available?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5614416"/>
            <a:ext cx="1063447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5760720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1F6FD6"/>
                </a:solidFill>
                <a:latin typeface="Arial"/>
              </a:defRPr>
            </a:pPr>
            <a:r>
              <a:t>One simple question requires evidence from multiple systems to answer responsibly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22B5C1"/>
                </a:solidFill>
                <a:latin typeface="Arial"/>
              </a:defRPr>
            </a:pPr>
            <a:r>
              <a:t>DATADOG +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</a:defRPr>
            </a:pPr>
            <a:r>
              <a:t>The AI Operations Agent Connects Evidence Before Recommending Action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132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B6CADC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B6CADC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55648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874519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1">
                <a:solidFill>
                  <a:srgbClr val="1F6FD6"/>
                </a:solidFill>
                <a:latin typeface="Arial"/>
              </a:defRPr>
            </a:pPr>
            <a:r>
              <a:t>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83664"/>
            <a:ext cx="1051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50" b="0">
                <a:solidFill>
                  <a:srgbClr val="C0D3E4"/>
                </a:solidFill>
                <a:latin typeface="Arial"/>
              </a:defRPr>
            </a:pPr>
            <a:r>
              <a:t>Latency by journey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130552"/>
            <a:ext cx="1481328" cy="1078992"/>
          </a:xfrm>
          <a:prstGeom prst="line">
            <a:avLst/>
          </a:prstGeom>
          <a:ln w="17780">
            <a:solidFill>
              <a:srgbClr val="1F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" y="2852928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971800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1">
                <a:solidFill>
                  <a:srgbClr val="22B5C1"/>
                </a:solidFill>
                <a:latin typeface="Arial"/>
              </a:defRPr>
            </a:pPr>
            <a:r>
              <a:t>APM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80944"/>
            <a:ext cx="1051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50" b="0">
                <a:solidFill>
                  <a:srgbClr val="C0D3E4"/>
                </a:solidFill>
                <a:latin typeface="Arial"/>
              </a:defRPr>
            </a:pPr>
            <a:r>
              <a:t>Trace &amp; dependency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560320" y="3209544"/>
            <a:ext cx="1481328" cy="18288"/>
          </a:xfrm>
          <a:prstGeom prst="line">
            <a:avLst/>
          </a:prstGeom>
          <a:ln w="17780">
            <a:solidFill>
              <a:srgbClr val="22B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3950208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4069080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1">
                <a:solidFill>
                  <a:srgbClr val="6F4FC4"/>
                </a:solidFill>
                <a:latin typeface="Arial"/>
              </a:defRPr>
            </a:pPr>
            <a:r>
              <a:t>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78224"/>
            <a:ext cx="1051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50" b="0">
                <a:solidFill>
                  <a:srgbClr val="C0D3E4"/>
                </a:solidFill>
                <a:latin typeface="Arial"/>
              </a:defRPr>
            </a:pPr>
            <a:r>
              <a:t>Errors &amp; patterns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560320" y="3209544"/>
            <a:ext cx="1481328" cy="1115568"/>
          </a:xfrm>
          <a:prstGeom prst="line">
            <a:avLst/>
          </a:prstGeom>
          <a:ln w="17780">
            <a:solidFill>
              <a:srgbClr val="6F4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46920" y="1755648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4936" y="1874519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1">
                <a:solidFill>
                  <a:srgbClr val="229967"/>
                </a:solidFill>
                <a:latin typeface="Arial"/>
              </a:defRPr>
            </a:pPr>
            <a:r>
              <a:t>INFRA /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1883664"/>
            <a:ext cx="1051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50" b="0">
                <a:solidFill>
                  <a:srgbClr val="C0D3E4"/>
                </a:solidFill>
                <a:latin typeface="Arial"/>
              </a:defRPr>
            </a:pPr>
            <a:r>
              <a:t>Resource saturation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8165592" y="2130552"/>
            <a:ext cx="1481328" cy="1078992"/>
          </a:xfrm>
          <a:prstGeom prst="line">
            <a:avLst/>
          </a:prstGeom>
          <a:ln w="17780">
            <a:solidFill>
              <a:srgbClr val="229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46920" y="2852928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74936" y="2971800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1">
                <a:solidFill>
                  <a:srgbClr val="F57F22"/>
                </a:solidFill>
                <a:latin typeface="Arial"/>
              </a:defRPr>
            </a:pPr>
            <a:r>
              <a:t>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2980944"/>
            <a:ext cx="1051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50" b="0">
                <a:solidFill>
                  <a:srgbClr val="C0D3E4"/>
                </a:solidFill>
                <a:latin typeface="Arial"/>
              </a:defRPr>
            </a:pPr>
            <a:r>
              <a:t>Deployment timeline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8165592" y="3209544"/>
            <a:ext cx="1481328" cy="18288"/>
          </a:xfrm>
          <a:prstGeom prst="line">
            <a:avLst/>
          </a:prstGeom>
          <a:ln w="17780">
            <a:solidFill>
              <a:srgbClr val="F57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46920" y="3950208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CA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74936" y="4069080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1">
                <a:solidFill>
                  <a:srgbClr val="CA4146"/>
                </a:solidFill>
                <a:latin typeface="Arial"/>
              </a:defRPr>
            </a:pPr>
            <a:r>
              <a:t>KM / RUNBOOK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4078224"/>
            <a:ext cx="1051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50" b="0">
                <a:solidFill>
                  <a:srgbClr val="C0D3E4"/>
                </a:solidFill>
                <a:latin typeface="Arial"/>
              </a:defRPr>
            </a:pPr>
            <a:r>
              <a:t>Known fix &amp; owner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8165592" y="3209544"/>
            <a:ext cx="1481328" cy="1115568"/>
          </a:xfrm>
          <a:prstGeom prst="line">
            <a:avLst/>
          </a:prstGeom>
          <a:ln w="17780">
            <a:solidFill>
              <a:srgbClr val="CA4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023360" y="1920240"/>
            <a:ext cx="4160520" cy="4160520"/>
          </a:xfrm>
          <a:prstGeom prst="ellipse">
            <a:avLst/>
          </a:prstGeom>
          <a:solidFill>
            <a:srgbClr val="132B4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43984" y="2487168"/>
            <a:ext cx="333756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rial"/>
              </a:defRPr>
            </a:pPr>
            <a:r>
              <a:t>AI OPERATIONS</a:t>
            </a:r>
            <a:br/>
            <a:r>
              <a:t>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3584448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100" b="1">
                <a:solidFill>
                  <a:srgbClr val="22B5C1"/>
                </a:solidFill>
                <a:latin typeface="Arial"/>
              </a:defRPr>
            </a:pPr>
            <a:r>
              <a:t>Correlate • Rank • Explain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74920" y="4096512"/>
            <a:ext cx="2011680" cy="310896"/>
          </a:xfrm>
          <a:prstGeom prst="roundRect">
            <a:avLst>
              <a:gd name="adj" fmla="val 12000"/>
            </a:avLst>
          </a:prstGeom>
          <a:solidFill>
            <a:srgbClr val="09192C"/>
          </a:solidFill>
          <a:ln w="10160">
            <a:solidFill>
              <a:srgbClr val="09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4105656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57F22"/>
                </a:solidFill>
                <a:latin typeface="Arial"/>
              </a:defRPr>
            </a:pPr>
            <a:r>
              <a:t>EVIDENCE-BACKED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7240" y="5660136"/>
            <a:ext cx="10634472" cy="0"/>
          </a:xfrm>
          <a:prstGeom prst="line">
            <a:avLst/>
          </a:prstGeom>
          <a:ln w="10160">
            <a:solidFill>
              <a:srgbClr val="132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4400" y="5806440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Outcome: Timeline + Ranked hypotheses + Evidence + Runbook + Approval-ready action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Live Demo — NexoraAI + Datadog: From Question to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596978"/>
                </a:solidFill>
                <a:latin typeface="Arial"/>
              </a:defRPr>
            </a:pPr>
            <a:r>
              <a:t>Using a Datadog demo tenant and non-customer Knowledge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26464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01952"/>
            <a:ext cx="205740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07008" y="2221992"/>
            <a:ext cx="658368" cy="658368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377440"/>
            <a:ext cx="6583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81528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1F6FD6"/>
                </a:solidFill>
                <a:latin typeface="Arial"/>
              </a:defRPr>
            </a:pPr>
            <a:r>
              <a:t>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639312"/>
            <a:ext cx="1645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0">
                <a:solidFill>
                  <a:srgbClr val="596978"/>
                </a:solidFill>
                <a:latin typeface="Arial"/>
              </a:defRPr>
            </a:pPr>
            <a:r>
              <a:t>“Investigate the slow</a:t>
            </a:r>
            <a:br/>
            <a:r>
              <a:t>Mobile Banking incident”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60320" y="3383280"/>
            <a:ext cx="246888" cy="0"/>
          </a:xfrm>
          <a:prstGeom prst="line">
            <a:avLst/>
          </a:prstGeom>
          <a:ln w="22860">
            <a:solidFill>
              <a:srgbClr val="1F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34639" y="1901952"/>
            <a:ext cx="205740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8727" y="2221992"/>
            <a:ext cx="658368" cy="658368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7" y="2377440"/>
            <a:ext cx="6583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081528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6F4FC4"/>
                </a:solidFill>
                <a:latin typeface="Arial"/>
              </a:defRPr>
            </a:pPr>
            <a:r>
              <a:t>OBSERVE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3639312"/>
            <a:ext cx="1645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0">
                <a:solidFill>
                  <a:srgbClr val="596978"/>
                </a:solidFill>
                <a:latin typeface="Arial"/>
              </a:defRPr>
            </a:pPr>
            <a:r>
              <a:t>Retrieve alerts, events, metrics</a:t>
            </a:r>
            <a:br/>
            <a:r>
              <a:t>and the time window from Datadog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92040" y="3383280"/>
            <a:ext cx="246887" cy="0"/>
          </a:xfrm>
          <a:prstGeom prst="line">
            <a:avLst/>
          </a:prstGeom>
          <a:ln w="22860">
            <a:solidFill>
              <a:srgbClr val="6F4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66359" y="1901952"/>
            <a:ext cx="205740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70448" y="2221992"/>
            <a:ext cx="658368" cy="658368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0448" y="2377440"/>
            <a:ext cx="6583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081528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F57F22"/>
                </a:solidFill>
                <a:latin typeface="Arial"/>
              </a:defRPr>
            </a:pPr>
            <a:r>
              <a:t>CORRELATE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7" y="3639312"/>
            <a:ext cx="1645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0">
                <a:solidFill>
                  <a:srgbClr val="596978"/>
                </a:solidFill>
                <a:latin typeface="Arial"/>
              </a:defRPr>
            </a:pPr>
            <a:r>
              <a:t>Compare the change timeline</a:t>
            </a:r>
            <a:br/>
            <a:r>
              <a:t>and search KM runbooks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23759" y="3383280"/>
            <a:ext cx="246889" cy="0"/>
          </a:xfrm>
          <a:prstGeom prst="line">
            <a:avLst/>
          </a:prstGeom>
          <a:ln w="22860">
            <a:solidFill>
              <a:srgbClr val="F57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98079" y="1901952"/>
            <a:ext cx="205740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7" y="2221992"/>
            <a:ext cx="658368" cy="658368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7" y="2377440"/>
            <a:ext cx="6583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59" y="3081528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22B5C1"/>
                </a:solidFill>
                <a:latin typeface="Arial"/>
              </a:defRPr>
            </a:pPr>
            <a:r>
              <a:t>VISUALIZE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9248" y="3639312"/>
            <a:ext cx="1645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0">
                <a:solidFill>
                  <a:srgbClr val="596978"/>
                </a:solidFill>
                <a:latin typeface="Arial"/>
              </a:defRPr>
            </a:pPr>
            <a:r>
              <a:t>Chart severity / latency</a:t>
            </a:r>
            <a:br/>
            <a:r>
              <a:t>from exact tool data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55480" y="3383280"/>
            <a:ext cx="246887" cy="0"/>
          </a:xfrm>
          <a:prstGeom prst="line">
            <a:avLst/>
          </a:prstGeom>
          <a:ln w="22860">
            <a:solidFill>
              <a:srgbClr val="22B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829800" y="1901952"/>
            <a:ext cx="205740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533888" y="2221992"/>
            <a:ext cx="658368" cy="658368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33888" y="2377440"/>
            <a:ext cx="6583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3081528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229967"/>
                </a:solidFill>
                <a:latin typeface="Arial"/>
              </a:defRPr>
            </a:pPr>
            <a:r>
              <a:t>DECIDE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30968" y="3639312"/>
            <a:ext cx="1645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0">
                <a:solidFill>
                  <a:srgbClr val="596978"/>
                </a:solidFill>
                <a:latin typeface="Arial"/>
              </a:defRPr>
            </a:pPr>
            <a:r>
              <a:t>Recommend next action, owner,</a:t>
            </a:r>
            <a:br/>
            <a:r>
              <a:t>risk and approval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7240" y="5541264"/>
            <a:ext cx="1063447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400" y="5687568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1F6FD6"/>
                </a:solidFill>
                <a:latin typeface="Arial"/>
              </a:defRPr>
            </a:pPr>
            <a:r>
              <a:t>Demo success means seeing the source, tool, chart and approval boundary — not only an answer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Demo 1 — Establish the Current Situation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00" b="1">
                <a:solidFill>
                  <a:srgbClr val="1F6FD6"/>
                </a:solidFill>
                <a:latin typeface="Arial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93392"/>
            <a:ext cx="1083564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286000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700" b="1">
                <a:solidFill>
                  <a:srgbClr val="182635"/>
                </a:solidFill>
                <a:latin typeface="Arial"/>
              </a:defRPr>
            </a:pPr>
            <a:r>
              <a:t>Summarize important alerts and events related to Mobile Banking during the last 60 minutes. Identify the impact and any missing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57600"/>
            <a:ext cx="52303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657600"/>
            <a:ext cx="64008" cy="1417320"/>
          </a:xfrm>
          <a:prstGeom prst="rect">
            <a:avLst/>
          </a:prstGeom>
          <a:solidFill>
            <a:srgbClr val="1F6FD6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3858768"/>
            <a:ext cx="438912" cy="438912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86791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840480"/>
            <a:ext cx="42245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What we must see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343400"/>
            <a:ext cx="4754879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Executive summary, time window, affected service and evidence links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657600"/>
            <a:ext cx="528523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3657600"/>
            <a:ext cx="64008" cy="1417320"/>
          </a:xfrm>
          <a:prstGeom prst="rect">
            <a:avLst/>
          </a:prstGeom>
          <a:solidFill>
            <a:srgbClr val="22B5C1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3858768"/>
            <a:ext cx="438912" cy="438912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86791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3840480"/>
            <a:ext cx="427939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Evidence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43400"/>
            <a:ext cx="4809744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Datadog monitor/event results with timestamps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559552"/>
            <a:ext cx="1143000" cy="310896"/>
          </a:xfrm>
          <a:prstGeom prst="roundRect">
            <a:avLst>
              <a:gd name="adj" fmla="val 12000"/>
            </a:avLst>
          </a:prstGeom>
          <a:solidFill>
            <a:srgbClr val="E8F8F0"/>
          </a:solidFill>
          <a:ln w="10160">
            <a:solidFill>
              <a:srgbClr val="E8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568696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229967"/>
                </a:solidFill>
                <a:latin typeface="Arial"/>
              </a:defRPr>
            </a:pPr>
            <a:r>
              <a:t>READ-ONLY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5559552"/>
            <a:ext cx="1143000" cy="310896"/>
          </a:xfrm>
          <a:prstGeom prst="roundRect">
            <a:avLst>
              <a:gd name="adj" fmla="val 12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5568696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1F6FD6"/>
                </a:solidFill>
                <a:latin typeface="Arial"/>
              </a:defRPr>
            </a:pPr>
            <a:r>
              <a:t>AUDITABLE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10128" y="5559552"/>
            <a:ext cx="1508760" cy="310896"/>
          </a:xfrm>
          <a:prstGeom prst="roundRect">
            <a:avLst>
              <a:gd name="adj" fmla="val 12000"/>
            </a:avLst>
          </a:prstGeom>
          <a:solidFill>
            <a:srgbClr val="FFF2E4"/>
          </a:solidFill>
          <a:ln w="10160">
            <a:solidFill>
              <a:srgbClr val="FF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0128" y="5568696"/>
            <a:ext cx="15087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57F22"/>
                </a:solidFill>
                <a:latin typeface="Arial"/>
              </a:defRPr>
            </a:pPr>
            <a:r>
              <a:t>NO CUSTOMER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Demo 2 — Turn Data into a Visual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00" b="1">
                <a:solidFill>
                  <a:srgbClr val="6F4FC4"/>
                </a:solidFill>
                <a:latin typeface="Arial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93392"/>
            <a:ext cx="1083564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286000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700" b="1">
                <a:solidFill>
                  <a:srgbClr val="182635"/>
                </a:solidFill>
                <a:latin typeface="Arial"/>
              </a:defRPr>
            </a:pPr>
            <a:r>
              <a:t>Create an alert trend chart by severity for the investigated period and summarize major turning points. Use only exact retrieved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57600"/>
            <a:ext cx="52303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657600"/>
            <a:ext cx="64008" cy="1417320"/>
          </a:xfrm>
          <a:prstGeom prst="rect">
            <a:avLst/>
          </a:prstGeom>
          <a:solidFill>
            <a:srgbClr val="6F4FC4"/>
          </a:solidFill>
          <a:ln w="10160"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3858768"/>
            <a:ext cx="438912" cy="438912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86791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840480"/>
            <a:ext cx="42245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What we must see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343400"/>
            <a:ext cx="4754879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A readable chart with no model-invented numbers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657600"/>
            <a:ext cx="528523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3657600"/>
            <a:ext cx="64008" cy="1417320"/>
          </a:xfrm>
          <a:prstGeom prst="rect">
            <a:avLst/>
          </a:prstGeom>
          <a:solidFill>
            <a:srgbClr val="22B5C1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3858768"/>
            <a:ext cx="438912" cy="438912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86791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3840480"/>
            <a:ext cx="427939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Evidence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43400"/>
            <a:ext cx="4809744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Exact successful Datadog tool 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559552"/>
            <a:ext cx="1143000" cy="310896"/>
          </a:xfrm>
          <a:prstGeom prst="roundRect">
            <a:avLst>
              <a:gd name="adj" fmla="val 12000"/>
            </a:avLst>
          </a:prstGeom>
          <a:solidFill>
            <a:srgbClr val="E8F8F0"/>
          </a:solidFill>
          <a:ln w="10160">
            <a:solidFill>
              <a:srgbClr val="E8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568696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229967"/>
                </a:solidFill>
                <a:latin typeface="Arial"/>
              </a:defRPr>
            </a:pPr>
            <a:r>
              <a:t>READ-ONLY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5559552"/>
            <a:ext cx="1143000" cy="310896"/>
          </a:xfrm>
          <a:prstGeom prst="roundRect">
            <a:avLst>
              <a:gd name="adj" fmla="val 12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5568696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1F6FD6"/>
                </a:solidFill>
                <a:latin typeface="Arial"/>
              </a:defRPr>
            </a:pPr>
            <a:r>
              <a:t>AUDITABLE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10128" y="5559552"/>
            <a:ext cx="1508760" cy="310896"/>
          </a:xfrm>
          <a:prstGeom prst="roundRect">
            <a:avLst>
              <a:gd name="adj" fmla="val 12000"/>
            </a:avLst>
          </a:prstGeom>
          <a:solidFill>
            <a:srgbClr val="FFF2E4"/>
          </a:solidFill>
          <a:ln w="10160">
            <a:solidFill>
              <a:srgbClr val="FF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0128" y="5568696"/>
            <a:ext cx="15087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57F22"/>
                </a:solidFill>
                <a:latin typeface="Arial"/>
              </a:defRPr>
            </a:pPr>
            <a:r>
              <a:t>NO CUSTOMER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Demo 3 — Connect Datadog with Knowledge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00" b="1">
                <a:solidFill>
                  <a:srgbClr val="F57F22"/>
                </a:solidFill>
                <a:latin typeface="Arial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93392"/>
            <a:ext cx="1083564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286000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700" b="1">
                <a:solidFill>
                  <a:srgbClr val="182635"/>
                </a:solidFill>
                <a:latin typeface="Arial"/>
              </a:defRPr>
            </a:pPr>
            <a:r>
              <a:t>Correlate the alert timeline with relevant changes, search authorized runbooks, then rank hypotheses with evidence, gaps and approval-required next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57600"/>
            <a:ext cx="52303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657600"/>
            <a:ext cx="64008" cy="1417320"/>
          </a:xfrm>
          <a:prstGeom prst="rect">
            <a:avLst/>
          </a:prstGeom>
          <a:solidFill>
            <a:srgbClr val="F57F22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3858768"/>
            <a:ext cx="438912" cy="438912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86791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840480"/>
            <a:ext cx="42245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What we must see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343400"/>
            <a:ext cx="4754879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Ranked hypotheses, confidence, gaps, owner and approval boundary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657600"/>
            <a:ext cx="528523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3657600"/>
            <a:ext cx="64008" cy="1417320"/>
          </a:xfrm>
          <a:prstGeom prst="rect">
            <a:avLst/>
          </a:prstGeom>
          <a:solidFill>
            <a:srgbClr val="22B5C1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3858768"/>
            <a:ext cx="438912" cy="438912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86791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3840480"/>
            <a:ext cx="427939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Evidence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43400"/>
            <a:ext cx="4809744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Datadog evidence + authorized Change/Runbook Knowledge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559552"/>
            <a:ext cx="1143000" cy="310896"/>
          </a:xfrm>
          <a:prstGeom prst="roundRect">
            <a:avLst>
              <a:gd name="adj" fmla="val 12000"/>
            </a:avLst>
          </a:prstGeom>
          <a:solidFill>
            <a:srgbClr val="E8F8F0"/>
          </a:solidFill>
          <a:ln w="10160">
            <a:solidFill>
              <a:srgbClr val="E8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568696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229967"/>
                </a:solidFill>
                <a:latin typeface="Arial"/>
              </a:defRPr>
            </a:pPr>
            <a:r>
              <a:t>READ-ONLY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5559552"/>
            <a:ext cx="1143000" cy="310896"/>
          </a:xfrm>
          <a:prstGeom prst="roundRect">
            <a:avLst>
              <a:gd name="adj" fmla="val 12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5568696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1F6FD6"/>
                </a:solidFill>
                <a:latin typeface="Arial"/>
              </a:defRPr>
            </a:pPr>
            <a:r>
              <a:t>AUDITABLE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10128" y="5559552"/>
            <a:ext cx="1508760" cy="310896"/>
          </a:xfrm>
          <a:prstGeom prst="roundRect">
            <a:avLst>
              <a:gd name="adj" fmla="val 12000"/>
            </a:avLst>
          </a:prstGeom>
          <a:solidFill>
            <a:srgbClr val="FFF2E4"/>
          </a:solidFill>
          <a:ln w="10160">
            <a:solidFill>
              <a:srgbClr val="FF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0128" y="5568696"/>
            <a:ext cx="15087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57F22"/>
                </a:solidFill>
                <a:latin typeface="Arial"/>
              </a:defRPr>
            </a:pPr>
            <a:r>
              <a:t>NO CUSTOMER DATA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DEMO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A Good Result Explains What We Know, Why We Know It and What Comes Next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10972800" cy="4407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1856231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65375"/>
            <a:ext cx="14173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1F6FD6"/>
                </a:solidFill>
                <a:latin typeface="Arial"/>
              </a:defRPr>
            </a:pPr>
            <a:r>
              <a:t>INCIDENT 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13432"/>
            <a:ext cx="7132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800" b="1">
                <a:solidFill>
                  <a:srgbClr val="182635"/>
                </a:solidFill>
                <a:latin typeface="Arial"/>
              </a:defRPr>
            </a:pPr>
            <a:r>
              <a:t>Mobile Transfer latency increased after application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07792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1">
                <a:solidFill>
                  <a:srgbClr val="596978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2907792"/>
            <a:ext cx="6400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50" b="0">
                <a:solidFill>
                  <a:srgbClr val="182635"/>
                </a:solidFill>
                <a:latin typeface="Arial"/>
              </a:defRPr>
            </a:pPr>
            <a:r>
              <a:t>P95 latency +180% • Error rate concentrated in transfer confirmation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2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1">
                <a:solidFill>
                  <a:srgbClr val="596978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3502152"/>
            <a:ext cx="6400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50" b="0">
                <a:solidFill>
                  <a:srgbClr val="182635"/>
                </a:solidFill>
                <a:latin typeface="Arial"/>
              </a:defRPr>
            </a:pPr>
            <a:r>
              <a:t>RUM journey → APM dependency → DB wait → change at 10:05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096512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1">
                <a:solidFill>
                  <a:srgbClr val="596978"/>
                </a:solidFill>
                <a:latin typeface="Arial"/>
              </a:defRPr>
            </a:pPr>
            <a:r>
              <a:t>Hypothesis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4096512"/>
            <a:ext cx="6400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50" b="0">
                <a:solidFill>
                  <a:srgbClr val="182635"/>
                </a:solidFill>
                <a:latin typeface="Arial"/>
              </a:defRPr>
            </a:pPr>
            <a:r>
              <a:t>Connection-pool regression after release • Confidence: Medium–High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13648" y="1975104"/>
            <a:ext cx="2578608" cy="3401568"/>
          </a:xfrm>
          <a:prstGeom prst="roundRect">
            <a:avLst>
              <a:gd name="adj" fmla="val 12000"/>
            </a:avLst>
          </a:prstGeom>
          <a:solidFill>
            <a:srgbClr val="E8F8F0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87968" y="2258568"/>
            <a:ext cx="20299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229967"/>
                </a:solidFill>
                <a:latin typeface="Arial"/>
              </a:defRPr>
            </a:pPr>
            <a:r>
              <a:t>NEXT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788920"/>
            <a:ext cx="1965960" cy="1783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182635"/>
                </a:solidFill>
                <a:latin typeface="Arial"/>
              </a:defRPr>
            </a:pPr>
            <a:r>
              <a:t>Validate pool setting</a:t>
            </a:r>
            <a:br/>
            <a:r>
              <a:t>Compare previous release</a:t>
            </a:r>
            <a:br/>
            <a:r>
              <a:t>Prepare rollback</a:t>
            </a:r>
            <a:br/>
            <a:br/>
            <a:r>
              <a:t>Owner: App + DBA</a:t>
            </a:r>
            <a:br/>
            <a:r>
              <a:t>Approval: Required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42832" y="4828032"/>
            <a:ext cx="1901952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42832" y="4837176"/>
            <a:ext cx="190195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CA4146"/>
                </a:solidFill>
                <a:latin typeface="Arial"/>
              </a:defRPr>
            </a:pPr>
            <a:r>
              <a:t>NO AUTO-CHANGE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BANKING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From One Incident to Enterprise-Wide Operational Capabilities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64008" cy="1600200"/>
          </a:xfrm>
          <a:prstGeom prst="rect">
            <a:avLst/>
          </a:prstGeom>
          <a:solidFill>
            <a:srgbClr val="1F6FD6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865376"/>
            <a:ext cx="438912" cy="438912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47088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END-OF-DAY / BATCH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50008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Investigate job delays, dependencies and settlement impact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64208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664208"/>
            <a:ext cx="64008" cy="1600200"/>
          </a:xfrm>
          <a:prstGeom prst="rect">
            <a:avLst/>
          </a:prstGeom>
          <a:solidFill>
            <a:srgbClr val="22B5C1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16552" y="1865376"/>
            <a:ext cx="438912" cy="438912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874519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847088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ATM /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350008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Summarize availability by area and prioritize dispatch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2672" y="1664208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62672" y="1664208"/>
            <a:ext cx="64008" cy="1600200"/>
          </a:xfrm>
          <a:prstGeom prst="rect">
            <a:avLst/>
          </a:prstGeom>
          <a:solidFill>
            <a:srgbClr val="F57F22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18704" y="1865376"/>
            <a:ext cx="438912" cy="438912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18704" y="1874519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847088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CHANGE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8704" y="2350008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Correlate releases with error/latency before and after change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785615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785615"/>
            <a:ext cx="64008" cy="1600200"/>
          </a:xfrm>
          <a:prstGeom prst="rect">
            <a:avLst/>
          </a:prstGeom>
          <a:solidFill>
            <a:srgbClr val="6F4FC4"/>
          </a:solidFill>
          <a:ln w="10160"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3986783"/>
            <a:ext cx="438912" cy="438912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995927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3968496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AUDIT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71416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Collect evidence with sources and timestamps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3785615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3785615"/>
            <a:ext cx="64008" cy="1600200"/>
          </a:xfrm>
          <a:prstGeom prst="rect">
            <a:avLst/>
          </a:prstGeom>
          <a:solidFill>
            <a:srgbClr val="229967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16552" y="3986783"/>
            <a:ext cx="438912" cy="438912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16552" y="3995927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3968496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CAPACITY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4471416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Detect saturation trends before thresholds are breached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62672" y="3785615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62672" y="3785615"/>
            <a:ext cx="64008" cy="1600200"/>
          </a:xfrm>
          <a:prstGeom prst="rect">
            <a:avLst/>
          </a:prstGeom>
          <a:solidFill>
            <a:srgbClr val="CA4146"/>
          </a:solidFill>
          <a:ln w="10160">
            <a:solidFill>
              <a:srgbClr val="CA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918704" y="3986783"/>
            <a:ext cx="438912" cy="438912"/>
          </a:xfrm>
          <a:prstGeom prst="ellipse">
            <a:avLst/>
          </a:prstGeom>
          <a:solidFill>
            <a:srgbClr val="CA4146"/>
          </a:solidFill>
          <a:ln>
            <a:solidFill>
              <a:srgbClr val="CA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18704" y="3995927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5632" y="3968496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POST-INCIDENT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18704" y="4471416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Draft the timeline, lessons learned and KM update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22B5C1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</a:defRPr>
            </a:pPr>
            <a:r>
              <a:t>Enterprise AI Must Be Secure from Identity to Action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132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B6CADC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B6CADC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600200"/>
            <a:ext cx="9281160" cy="512064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1737360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50" b="1">
                <a:solidFill>
                  <a:srgbClr val="1F6FD6"/>
                </a:solidFill>
                <a:latin typeface="Arial"/>
              </a:defRPr>
            </a:pPr>
            <a: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737360"/>
            <a:ext cx="6766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950" b="0">
                <a:solidFill>
                  <a:srgbClr val="FFFFFF"/>
                </a:solidFill>
                <a:latin typeface="Arial"/>
              </a:defRPr>
            </a:pPr>
            <a:r>
              <a:t>User / Team / Service identity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" y="2221992"/>
            <a:ext cx="8695944" cy="512064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9616" y="2359152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50" b="1">
                <a:solidFill>
                  <a:srgbClr val="22B5C1"/>
                </a:solidFill>
                <a:latin typeface="Arial"/>
              </a:defRPr>
            </a:pPr>
            <a: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359152"/>
            <a:ext cx="618134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950" b="0">
                <a:solidFill>
                  <a:srgbClr val="FFFFFF"/>
                </a:solidFill>
                <a:latin typeface="Arial"/>
              </a:defRPr>
            </a:pPr>
            <a:r>
              <a:t>Personal / Team / Global ACL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91056" y="2843784"/>
            <a:ext cx="8110728" cy="512064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92224" y="2980944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50" b="1">
                <a:solidFill>
                  <a:srgbClr val="6F4FC4"/>
                </a:solidFill>
                <a:latin typeface="Arial"/>
              </a:defRPr>
            </a:pPr>
            <a:r>
              <a:t>KNOWLEDGE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1256" y="2980944"/>
            <a:ext cx="55961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950" b="0">
                <a:solidFill>
                  <a:srgbClr val="FFFFFF"/>
                </a:solidFill>
                <a:latin typeface="Arial"/>
              </a:defRPr>
            </a:pPr>
            <a:r>
              <a:t>Source, page, freshness, citation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83664" y="3465576"/>
            <a:ext cx="7525512" cy="512064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4832" y="3602736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50" b="1">
                <a:solidFill>
                  <a:srgbClr val="F57F22"/>
                </a:solidFill>
                <a:latin typeface="Arial"/>
              </a:defRPr>
            </a:pPr>
            <a: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3602736"/>
            <a:ext cx="5010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950" b="0">
                <a:solidFill>
                  <a:srgbClr val="FFFFFF"/>
                </a:solidFill>
                <a:latin typeface="Arial"/>
              </a:defRPr>
            </a:pPr>
            <a:r>
              <a:t>Connection ownership, allowlist, read-only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76272" y="4087368"/>
            <a:ext cx="6940296" cy="512064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4224528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50" b="1">
                <a:solidFill>
                  <a:srgbClr val="229967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6472" y="4224528"/>
            <a:ext cx="44256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950" b="0">
                <a:solidFill>
                  <a:srgbClr val="FFFFFF"/>
                </a:solidFill>
                <a:latin typeface="Arial"/>
              </a:defRPr>
            </a:pPr>
            <a:r>
              <a:t>Guardrail, PII/DLP, prompt boundary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4709160"/>
            <a:ext cx="6355080" cy="512064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CA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0048" y="4846320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50" b="1">
                <a:solidFill>
                  <a:srgbClr val="CA4146"/>
                </a:solidFill>
                <a:latin typeface="Arial"/>
              </a:defRPr>
            </a:pPr>
            <a:r>
              <a:t>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846320"/>
            <a:ext cx="3840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950" b="0">
                <a:solidFill>
                  <a:srgbClr val="FFFFFF"/>
                </a:solidFill>
                <a:latin typeface="Arial"/>
              </a:defRPr>
            </a:pPr>
            <a:r>
              <a:t>Risk class, approval, audit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5614416"/>
            <a:ext cx="10634472" cy="0"/>
          </a:xfrm>
          <a:prstGeom prst="line">
            <a:avLst/>
          </a:prstGeom>
          <a:ln w="10160">
            <a:solidFill>
              <a:srgbClr val="132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5760720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Guardrails governing access and tools must be enforced server-side — never by prompt alone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90-Day Pilot: Prove Value and Control Together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3529584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3529584" cy="694944"/>
          </a:xfrm>
          <a:prstGeom prst="roundRect">
            <a:avLst>
              <a:gd name="adj" fmla="val 12000"/>
            </a:avLst>
          </a:prstGeom>
          <a:solidFill>
            <a:srgbClr val="1F6FD6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865376"/>
            <a:ext cx="316382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0–30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15184"/>
            <a:ext cx="307238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600" b="1">
                <a:solidFill>
                  <a:srgbClr val="1F6FD6"/>
                </a:solidFill>
                <a:latin typeface="Arial"/>
              </a:defRPr>
            </a:pPr>
            <a:r>
              <a:t>FOUNDATION</a:t>
            </a:r>
          </a:p>
        </p:txBody>
      </p:sp>
      <p:sp>
        <p:nvSpPr>
          <p:cNvPr id="11" name="Oval 10"/>
          <p:cNvSpPr/>
          <p:nvPr/>
        </p:nvSpPr>
        <p:spPr>
          <a:xfrm>
            <a:off x="978407" y="3218688"/>
            <a:ext cx="292608" cy="292608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7" y="3227832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3209544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Select one service</a:t>
            </a:r>
          </a:p>
        </p:txBody>
      </p:sp>
      <p:sp>
        <p:nvSpPr>
          <p:cNvPr id="14" name="Oval 13"/>
          <p:cNvSpPr/>
          <p:nvPr/>
        </p:nvSpPr>
        <p:spPr>
          <a:xfrm>
            <a:off x="978407" y="3739896"/>
            <a:ext cx="292608" cy="292608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7" y="3749039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730752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Connect Datadog read-only</a:t>
            </a:r>
          </a:p>
        </p:txBody>
      </p:sp>
      <p:sp>
        <p:nvSpPr>
          <p:cNvPr id="17" name="Oval 16"/>
          <p:cNvSpPr/>
          <p:nvPr/>
        </p:nvSpPr>
        <p:spPr>
          <a:xfrm>
            <a:off x="978407" y="4261104"/>
            <a:ext cx="292608" cy="292608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7" y="4270248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4251959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Prepare runbooks / KM</a:t>
            </a:r>
          </a:p>
        </p:txBody>
      </p:sp>
      <p:sp>
        <p:nvSpPr>
          <p:cNvPr id="20" name="Oval 19"/>
          <p:cNvSpPr/>
          <p:nvPr/>
        </p:nvSpPr>
        <p:spPr>
          <a:xfrm>
            <a:off x="978407" y="4782312"/>
            <a:ext cx="292608" cy="292608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7" y="4791456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773168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Establish the baseline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1664208"/>
            <a:ext cx="3529584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89120" y="1664208"/>
            <a:ext cx="3529584" cy="694944"/>
          </a:xfrm>
          <a:prstGeom prst="roundRect">
            <a:avLst>
              <a:gd name="adj" fmla="val 12000"/>
            </a:avLst>
          </a:prstGeom>
          <a:solidFill>
            <a:srgbClr val="F57F22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1865376"/>
            <a:ext cx="316382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31–60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2615184"/>
            <a:ext cx="307238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600" b="1">
                <a:solidFill>
                  <a:srgbClr val="F57F22"/>
                </a:solidFill>
                <a:latin typeface="Arial"/>
              </a:defRPr>
            </a:pPr>
            <a:r>
              <a:t>PILOT</a:t>
            </a:r>
          </a:p>
        </p:txBody>
      </p:sp>
      <p:sp>
        <p:nvSpPr>
          <p:cNvPr id="27" name="Oval 26"/>
          <p:cNvSpPr/>
          <p:nvPr/>
        </p:nvSpPr>
        <p:spPr>
          <a:xfrm>
            <a:off x="4709159" y="3218688"/>
            <a:ext cx="292608" cy="292608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59" y="3227832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8928" y="3209544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Incident prompts</a:t>
            </a:r>
          </a:p>
        </p:txBody>
      </p:sp>
      <p:sp>
        <p:nvSpPr>
          <p:cNvPr id="30" name="Oval 29"/>
          <p:cNvSpPr/>
          <p:nvPr/>
        </p:nvSpPr>
        <p:spPr>
          <a:xfrm>
            <a:off x="4709159" y="3739896"/>
            <a:ext cx="292608" cy="292608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59" y="3749039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8928" y="3730752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Evidence timeline</a:t>
            </a:r>
          </a:p>
        </p:txBody>
      </p:sp>
      <p:sp>
        <p:nvSpPr>
          <p:cNvPr id="33" name="Oval 32"/>
          <p:cNvSpPr/>
          <p:nvPr/>
        </p:nvSpPr>
        <p:spPr>
          <a:xfrm>
            <a:off x="4709159" y="4261104"/>
            <a:ext cx="292608" cy="292608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59" y="4270248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8928" y="4251959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Chart + citation</a:t>
            </a:r>
          </a:p>
        </p:txBody>
      </p:sp>
      <p:sp>
        <p:nvSpPr>
          <p:cNvPr id="36" name="Oval 35"/>
          <p:cNvSpPr/>
          <p:nvPr/>
        </p:nvSpPr>
        <p:spPr>
          <a:xfrm>
            <a:off x="4709159" y="4782312"/>
            <a:ext cx="292608" cy="292608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59" y="4791456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4773168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Measure accuracy / MTTR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19871" y="1664208"/>
            <a:ext cx="3529584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19871" y="1664208"/>
            <a:ext cx="3529584" cy="694944"/>
          </a:xfrm>
          <a:prstGeom prst="roundRect">
            <a:avLst>
              <a:gd name="adj" fmla="val 12000"/>
            </a:avLst>
          </a:prstGeom>
          <a:solidFill>
            <a:srgbClr val="229967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2751" y="1865376"/>
            <a:ext cx="316382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61–90 DAYS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8471" y="2615184"/>
            <a:ext cx="307238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600" b="1">
                <a:solidFill>
                  <a:srgbClr val="229967"/>
                </a:solidFill>
                <a:latin typeface="Arial"/>
              </a:defRPr>
            </a:pPr>
            <a:r>
              <a:t>OPERATE</a:t>
            </a:r>
          </a:p>
        </p:txBody>
      </p:sp>
      <p:sp>
        <p:nvSpPr>
          <p:cNvPr id="43" name="Oval 42"/>
          <p:cNvSpPr/>
          <p:nvPr/>
        </p:nvSpPr>
        <p:spPr>
          <a:xfrm>
            <a:off x="8439911" y="3218688"/>
            <a:ext cx="292608" cy="292608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9911" y="3227832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3209544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UAT with NOC / SRE</a:t>
            </a:r>
          </a:p>
        </p:txBody>
      </p:sp>
      <p:sp>
        <p:nvSpPr>
          <p:cNvPr id="46" name="Oval 45"/>
          <p:cNvSpPr/>
          <p:nvPr/>
        </p:nvSpPr>
        <p:spPr>
          <a:xfrm>
            <a:off x="8439911" y="3739896"/>
            <a:ext cx="292608" cy="292608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39911" y="3749039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3730752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Guardrail review</a:t>
            </a:r>
          </a:p>
        </p:txBody>
      </p:sp>
      <p:sp>
        <p:nvSpPr>
          <p:cNvPr id="49" name="Oval 48"/>
          <p:cNvSpPr/>
          <p:nvPr/>
        </p:nvSpPr>
        <p:spPr>
          <a:xfrm>
            <a:off x="8439911" y="4261104"/>
            <a:ext cx="292608" cy="292608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39911" y="4270248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4251959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Runbook feedback</a:t>
            </a:r>
          </a:p>
        </p:txBody>
      </p:sp>
      <p:sp>
        <p:nvSpPr>
          <p:cNvPr id="52" name="Oval 51"/>
          <p:cNvSpPr/>
          <p:nvPr/>
        </p:nvSpPr>
        <p:spPr>
          <a:xfrm>
            <a:off x="8439911" y="4782312"/>
            <a:ext cx="292608" cy="292608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39911" y="4791456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4773168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Scale decision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22B5C1"/>
                </a:solidFill>
                <a:latin typeface="Arial"/>
              </a:defRPr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</a:defRPr>
            </a:pPr>
            <a:r>
              <a:t>Three Ideas to Remember Before the Game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132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B6CADC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B6CADC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74720" cy="3566160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93391" y="2084831"/>
            <a:ext cx="868680" cy="868680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1" y="2295144"/>
            <a:ext cx="868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10128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700" b="1">
                <a:solidFill>
                  <a:srgbClr val="1F6FD6"/>
                </a:solidFill>
                <a:latin typeface="Arial"/>
              </a:defRPr>
            </a:pPr>
            <a:r>
              <a:t>AI IS A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968496"/>
            <a:ext cx="2706624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AI connects Systems of Record</a:t>
            </a:r>
            <a:br/>
            <a:r>
              <a:t>without replacing every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55648"/>
            <a:ext cx="3474720" cy="3566160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96712" y="2084831"/>
            <a:ext cx="868680" cy="868680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96712" y="2295144"/>
            <a:ext cx="868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310128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700" b="1">
                <a:solidFill>
                  <a:srgbClr val="F57F22"/>
                </a:solidFill>
                <a:latin typeface="Arial"/>
              </a:defRPr>
            </a:pPr>
            <a:r>
              <a:t>EVIDENCE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3968496"/>
            <a:ext cx="2706624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Good answers include source, context,</a:t>
            </a:r>
            <a:br/>
            <a:r>
              <a:t>confidence and gaps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755648"/>
            <a:ext cx="3474720" cy="3566160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00031" y="2084831"/>
            <a:ext cx="868680" cy="868680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1" y="2295144"/>
            <a:ext cx="868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310128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700" b="1">
                <a:solidFill>
                  <a:srgbClr val="229967"/>
                </a:solidFill>
                <a:latin typeface="Arial"/>
              </a:defRPr>
            </a:pPr>
            <a:r>
              <a:t>CONTROL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7" y="3968496"/>
            <a:ext cx="2706624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Access, guardrails, approval and audit</a:t>
            </a:r>
            <a:br/>
            <a:r>
              <a:t>must exist from day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833872"/>
            <a:ext cx="9921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600" b="1">
                <a:solidFill>
                  <a:srgbClr val="22B5C1"/>
                </a:solidFill>
                <a:latin typeface="Arial"/>
              </a:defRPr>
            </a:pPr>
            <a:r>
              <a:t>From Observability → Understanding → Decision → Governed Action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F4F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21792"/>
            <a:ext cx="3200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89888"/>
            <a:ext cx="4572000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rial"/>
              </a:defRPr>
            </a:pPr>
            <a:r>
              <a:t>15 Questions</a:t>
            </a:r>
            <a:br/>
            <a:r>
              <a:t>15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182112"/>
            <a:ext cx="54864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500" b="1">
                <a:solidFill>
                  <a:srgbClr val="E7E0FC"/>
                </a:solidFill>
                <a:latin typeface="Arial"/>
              </a:defRPr>
            </a:pPr>
            <a:r>
              <a:t>Choose A / B / C / D  •  About 45 seconds each  •  No Google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143000"/>
            <a:ext cx="4343400" cy="4407408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0" y="1600200"/>
            <a:ext cx="36118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2000" b="1">
                <a:solidFill>
                  <a:srgbClr val="6F4FC4"/>
                </a:solidFill>
                <a:latin typeface="Arial"/>
              </a:defRPr>
            </a:pPr>
            <a:r>
              <a:t>How to play</a:t>
            </a:r>
          </a:p>
        </p:txBody>
      </p:sp>
      <p:sp>
        <p:nvSpPr>
          <p:cNvPr id="7" name="Oval 6"/>
          <p:cNvSpPr/>
          <p:nvPr/>
        </p:nvSpPr>
        <p:spPr>
          <a:xfrm>
            <a:off x="7269480" y="2359152"/>
            <a:ext cx="347472" cy="347472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2368296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86584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1">
                <a:solidFill>
                  <a:srgbClr val="182635"/>
                </a:solidFill>
                <a:latin typeface="Arial"/>
              </a:defRPr>
            </a:pPr>
            <a:r>
              <a:t>Form one team per table</a:t>
            </a:r>
          </a:p>
        </p:txBody>
      </p:sp>
      <p:sp>
        <p:nvSpPr>
          <p:cNvPr id="10" name="Oval 9"/>
          <p:cNvSpPr/>
          <p:nvPr/>
        </p:nvSpPr>
        <p:spPr>
          <a:xfrm>
            <a:off x="7269480" y="2980944"/>
            <a:ext cx="347472" cy="347472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2990088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008376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182635"/>
                </a:solidFill>
                <a:latin typeface="Arial"/>
              </a:defRPr>
            </a:pPr>
            <a:r>
              <a:t>Answer in Kahoot / Slido or raise a card</a:t>
            </a:r>
          </a:p>
        </p:txBody>
      </p:sp>
      <p:sp>
        <p:nvSpPr>
          <p:cNvPr id="13" name="Oval 12"/>
          <p:cNvSpPr/>
          <p:nvPr/>
        </p:nvSpPr>
        <p:spPr>
          <a:xfrm>
            <a:off x="7269480" y="3602736"/>
            <a:ext cx="347472" cy="347472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3611880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630168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182635"/>
                </a:solidFill>
                <a:latin typeface="Arial"/>
              </a:defRPr>
            </a:pPr>
            <a:r>
              <a:t>One point for each correct answer</a:t>
            </a:r>
          </a:p>
        </p:txBody>
      </p:sp>
      <p:sp>
        <p:nvSpPr>
          <p:cNvPr id="16" name="Oval 15"/>
          <p:cNvSpPr/>
          <p:nvPr/>
        </p:nvSpPr>
        <p:spPr>
          <a:xfrm>
            <a:off x="7269480" y="4224528"/>
            <a:ext cx="347472" cy="347472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4233672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25196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182635"/>
                </a:solidFill>
                <a:latin typeface="Arial"/>
              </a:defRPr>
            </a:pPr>
            <a:r>
              <a:t>Tie-breaker: fastest correct answer on the final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983480"/>
            <a:ext cx="36118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700" b="1">
                <a:solidFill>
                  <a:srgbClr val="F57F22"/>
                </a:solidFill>
                <a:latin typeface="Arial"/>
              </a:defRPr>
            </a:pPr>
            <a:r>
              <a:t>Ready?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01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What is the primary goal of Applied AI in IT Operations?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Increase the number of dashboards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Turn connected data into faster, safer decisions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Replace the entire IT 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Move every system to the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Choose your answer within 15 seconds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02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How should an AI Operations Platform relate to Systems of Record?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Remove and rebuild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Copy all data into the AI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Act as an intelligence/orchestration layer across them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Disable 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Choose your answer within 15 seconds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03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Which is the correct Applied AI sequence?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Act → Guess → Hide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Sense → Understand → Recommend → Orchestrate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Search → Delete → Replace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Train → Deploy → Forget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Choose your answer within 15 seconds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04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When a user reports slow Mobile Banking, what should AI do first?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Restart production immediately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Guess the root cause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Collect signals and define the scope/time window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Close the 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Choose your answer within 15 seconds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05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What is Datadog's primary role in the demo?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Provide telemetry and event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Act as an HR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Approve loans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Edit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Choose your answer within 15 seconds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06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What do Knowledge and runbooks add that telemetry often lacks?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Dashboard colors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Known fixes, owners and operating procedures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Administrator passwords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All customer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Choose your answer within 15 seconds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07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What should a good incident analysis contain?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A short answer without 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One root cause stated with 100% confidence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Timeline, hypotheses, evidence, confidence and gaps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Every raw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Choose your answer within 15 seconds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08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Why should a pilot start read-only?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Because AI cannot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Reduce risk while proving value and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Avoid audit requirements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Delete data faster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Choose your answer within 15 seconds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09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Which is an appropriate guardrail?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Tool allowlists and least privilege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Share one API key across all teams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Store credentials in prompts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Disable 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Choose your answer within 15 seconds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10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Why must important guardrails not rely on prompts alone?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Prompts cannot use Thai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Access and tool policy must be enforced server-side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Prompts contain no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Servers cannot identify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Choose your answer within 15 seconds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11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Which metric is most directly related to incident response?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Number of slides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MTTR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Number of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Number of dashboard themes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Choose your answer within 15 seconds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12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What should an AI-generated decision chart be based 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Numbers guessed by the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Exact data from successful tool calls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Rumors in 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Random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Choose your answer within 15 seconds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13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Which use case is best suited for the first pilot?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Autonomous production remediation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Read-only incident triage and morning briefing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Replace core banking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Approve transactions automatically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Choose your answer within 15 seconds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14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What should AI Platform audit records avoid storing?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Time and actor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Tool name and outcome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Raw prompts, credentials and sensitive tool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Trace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Choose your answer within 15 seconds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15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Which statement best summarizes today's message?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AI replaces every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AI connects Evidence and Context to support decisions under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AI does not need real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Good AI needs no 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Choose your answer within 15 seconds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57F22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1">
                <a:solidFill>
                  <a:srgbClr val="22B5C1"/>
                </a:solidFill>
                <a:latin typeface="Arial"/>
              </a:defRPr>
            </a:pPr>
            <a:r>
              <a:t>FROM SIGNAL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27048"/>
            <a:ext cx="6400800" cy="1298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Operational Excellence</a:t>
            </a:r>
            <a:br/>
            <a:r>
              <a:t>is a Team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182112"/>
            <a:ext cx="612648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700" b="0">
                <a:solidFill>
                  <a:srgbClr val="C6D9EA"/>
                </a:solidFill>
                <a:latin typeface="Arial"/>
              </a:defRPr>
            </a:pPr>
            <a:r>
              <a:t>Datadog provides the signal.</a:t>
            </a:r>
            <a:br/>
            <a:r>
              <a:t>NexoraAI connects context, knowledge and governed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325880"/>
            <a:ext cx="3749039" cy="4114800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737360"/>
            <a:ext cx="30175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F57F22"/>
                </a:solidFill>
                <a:latin typeface="Arial"/>
              </a:defRPr>
            </a:pPr>
            <a:r>
              <a:t>NEXORAAI + DATADOG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432304"/>
            <a:ext cx="2926080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Select one Critical Service</a:t>
            </a:r>
            <a:br/>
            <a:br/>
            <a:r>
              <a:t>Connect Datadog Read-only</a:t>
            </a:r>
            <a:br/>
            <a:br/>
            <a:r>
              <a:t>Prepare Runbooks / KM</a:t>
            </a:r>
            <a:br/>
            <a:br/>
            <a:r>
              <a:t>Prove value in 90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897880"/>
            <a:ext cx="27432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100" b="1">
                <a:solidFill>
                  <a:srgbClr val="F57F22"/>
                </a:solidFill>
                <a:latin typeface="Arial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Operational Excellence Through Applied AI to New IT Operational Capabilities — English</dc:title>
  <dc:subject>Banking IT outing talk with Datadog and Applied AI demonstration</dc:subject>
  <dc:creator>Enterprise AI Solutions Team</dc:creator>
  <cp:keywords/>
  <dc:description>English banking IT outing deck with NexoraAI and Datadog demonstration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