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 — Enterprise AI Platform (ประมาณ 1 นาที)</a:t>
            </a:r>
          </a:p>
          <a:p/>
          <a:p>
            <a:r>
              <a:t>สารที่ต้องการสื่อ:</a:t>
            </a:r>
          </a:p>
          <a:p>
            <a:r>
              <a:t>วันนี้เราไม่ได้มานำเสนอ Chatbot อีกหนึ่งตัว แต่ต้องการหารือว่า AI จะกลายเป็นชั้น Intelligence และ Orchestration ที่ปลอดภัยเหนือองค์ความรู้ ระบบโครงสร้างพื้นฐาน และระบบธุรกิจเดิมได้อย่างไร</a:t>
            </a:r>
          </a:p>
          <a:p/>
          <a:p>
            <a:r>
              <a:t>แนวทางพูด:</a:t>
            </a:r>
          </a:p>
          <a:p>
            <a:r>
              <a:t>เปิดด้วยภาพใหญ่ก่อนว่าองค์กรมีข้อมูลและระบบที่ดีอยู่แล้ว เช่น PeopleSoft, K2, ระบบฐานข้อมูล และ Observability สิ่งที่ยังขาดคือชั้นกลางที่เข้าใจความต้องการของผู้ใช้ ค้นข้อมูลที่ได้รับอนุญาต เชื่อมโยงหลักฐาน และเรียกใช้ระบบเดิมอย่างมีการกำกับดูแล</a:t>
            </a:r>
          </a:p>
          <a:p/>
          <a:p>
            <a:r>
              <a:t>ย้ำว่า AI ไม่ได้เข้ามาแทน Systems of Record แต่ช่วยให้คนเข้าถึงความรู้และดำเนินงานผ่านระบบเหล่านั้นได้ง่ายและรวดเร็วขึ้น</a:t>
            </a:r>
          </a:p>
          <a:p/>
          <a:p>
            <a:r>
              <a:t>ประโยคเชื่อม:</a:t>
            </a:r>
          </a:p>
          <a:p>
            <a:r>
              <a:t>ก่อนดูสถาปัตยกรรม เรามาดูกันก่อนว่า Enterprise AI กำลังพัฒนาไปไกลกว่า Chat 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 — AI Is Moving Beyond Chat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คุณค่าของ AI เพิ่มขึ้นตามลำดับจากการสนทนา ไปสู่การรู้ข้อมูลขององค์กร การให้เหตุผล การลงมือทำ และการทำงานอัตโนมัติภายใต้การควบคุม</a:t>
            </a:r>
          </a:p>
          <a:p/>
          <a:p>
            <a:r>
              <a:t>แนวทางพูด:</a:t>
            </a:r>
          </a:p>
          <a:p>
            <a:r>
              <a:t>อธิบายจากซ้ายไปขวา</a:t>
            </a:r>
          </a:p>
          <a:p>
            <a:r>
              <a:t>- Chat: ตอบคำถามทั่วไป แต่ยังไม่รู้บริบทองค์กร</a:t>
            </a:r>
          </a:p>
          <a:p>
            <a:r>
              <a:t>- Know: ใช้ RAG เพื่ออ้างอิงข้อมูลภายใน</a:t>
            </a:r>
          </a:p>
          <a:p>
            <a:r>
              <a:t>- Reason: เข้าใจบริบทและเชื่อมโยงข้อมูลหลายแหล่ง</a:t>
            </a:r>
          </a:p>
          <a:p>
            <a:r>
              <a:t>- Act: เรียก API, Workflow หรือ Enterprise Systems</a:t>
            </a:r>
          </a:p>
          <a:p>
            <a:r>
              <a:t>- Autonomy: ดำเนิน Workflow หลายขั้นตอน โดยยังมี Policy, Approval และ Audit</a:t>
            </a:r>
          </a:p>
          <a:p/>
          <a:p>
            <a:r>
              <a:t>จุดสำคัญคือไม่จำเป็นต้องกระโดดไป Autonomy ทันที องค์กรควรไต่ระดับตามความพร้อมของข้อมูล ความเสี่ยง และการกำกับดูแล</a:t>
            </a:r>
          </a:p>
          <a:p/>
          <a:p>
            <a:r>
              <a:t>ประโยคเชื่อม:</a:t>
            </a:r>
          </a:p>
          <a:p>
            <a:r>
              <a:t>คำถามต่อไปคือ เหตุใดความสามารถเหล่านี้จึงเริ่มเป็นจริงได้ในช่วงเวลานี้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 — Why Enterprise AI, Why Now?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Enterprise AI เกิดขึ้นได้เพราะสี่องค์ประกอบสำคัญกำลังมาบรรจบกัน</a:t>
            </a:r>
          </a:p>
          <a:p/>
          <a:p>
            <a:r>
              <a:t>แนวทางพูด:</a:t>
            </a:r>
          </a:p>
          <a:p>
            <a:r>
              <a:t>1. Model Intelligence: โมเดลมี Reasoning, Tool Calling และ Multimodal ดีขึ้น</a:t>
            </a:r>
          </a:p>
          <a:p>
            <a:r>
              <a:t>2. Enterprise Knowledge: RAG, Vector Search และ Document Intelligence พร้อมใช้งานจริง</a:t>
            </a:r>
          </a:p>
          <a:p>
            <a:r>
              <a:t>3. System Connectivity: API, MCP และ Workflow ทำให้ AI เชื่อมกับระบบงานได้</a:t>
            </a:r>
          </a:p>
          <a:p>
            <a:r>
              <a:t>4. AI Infrastructure: มีทั้ง GPU, Local LLM และ Cloud AI ให้เลือกตามนโยบาย</a:t>
            </a:r>
          </a:p>
          <a:p/>
          <a:p>
            <a:r>
              <a:t>ย้ำว่าโมเดลเพียงอย่างเดียวไม่เพียงพอ ต้องมีข้อมูล การเชื่อมต่อ โครงสร้างพื้นฐาน และ Governance ทำงานร่วมกัน</a:t>
            </a:r>
          </a:p>
          <a:p/>
          <a:p>
            <a:r>
              <a:t>ประโยคเชื่อม:</a:t>
            </a:r>
          </a:p>
          <a:p>
            <a:r>
              <a:t>เมื่อองค์ประกอบพร้อม สิ่งที่ไม่ควรทำคือสร้าง Bot แยกทีละ Use Case โดยไม่มีรากฐานร่วมกัน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4 — The Opportunity Is Bigger Than a Chatbot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องค์กรควรสร้างรากฐาน Enterprise AI ร่วมกัน แล้วขยายผ่าน Agent เฉพาะทาง แทนการสร้าง Bot และ Infrastructure แยกกันทุก Use Case</a:t>
            </a:r>
          </a:p>
          <a:p/>
          <a:p>
            <a:r>
              <a:t>แนวทางพูด:</a:t>
            </a:r>
          </a:p>
          <a:p>
            <a:r>
              <a:t>ฝั่งซ้ายแสดงผลของการทำแบบ Use-Case-by-Use-Case: ข้อมูลซ้ำ ระบบซ้ำ Security ไม่สม่ำเสมอ ความรู้แยกส่วน และควบคุมยาก</a:t>
            </a:r>
          </a:p>
          <a:p/>
          <a:p>
            <a:r>
              <a:t>ฝั่งขวาคือ Platform เดียวที่แชร์ Knowledge, Models, Integration, Security, Governance และ Observability ขณะที่ Agent แต่ละตัวมีบทบาท Model, Data Scope และ Tools ของตนเองได้</a:t>
            </a:r>
          </a:p>
          <a:p/>
          <a:p>
            <a:r>
              <a:t>ย้ำว่า Shared Platform ไม่ได้หมายถึงทุกทีมเห็นข้อมูลร่วมกัน แต่หมายถึงใช้มาตรฐานและ Control Plane เดียวกัน โดยยังแยกสิทธิ์ตามทีมและข้อมูล</a:t>
            </a:r>
          </a:p>
          <a:p/>
          <a:p>
            <a:r>
              <a:t>ประโยคเชื่อม:</a:t>
            </a:r>
          </a:p>
          <a:p>
            <a:r>
              <a:t>จาก Platform Concept นี้ เราสามารถสรุปคุณค่าหลักเป็นสามขั้นคือ Know, Think และ 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5 — The Enterprise AI Value Chain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Enterprise AI ต้องรู้สิ่งที่องค์กรรู้ เข้าใจสิ่งที่ผู้ใช้ต้องการ และลงมือผ่านระบบที่องค์กรไว้วางใจ</a:t>
            </a:r>
          </a:p>
          <a:p/>
          <a:p>
            <a:r>
              <a:t>แนวทางพูด:</a:t>
            </a:r>
          </a:p>
          <a:p>
            <a:r>
              <a:t>- KNOW: เอกสาร นโยบาย ฐานข้อมูล และ Knowledge Base</a:t>
            </a:r>
          </a:p>
          <a:p>
            <a:r>
              <a:t>- THINK: โมเดล บริบท Agent และ Decision Support</a:t>
            </a:r>
          </a:p>
          <a:p>
            <a:r>
              <a:t>- ACT: PeopleSoft, K2, API, Workflow และ Automation</a:t>
            </a:r>
          </a:p>
          <a:p/>
          <a:p>
            <a:r>
              <a:t>ชี้แถบด้านล่างว่า Identity, Security, Governance และ Audit ครอบคลุมทั้งสามขั้น ไม่ใช่เพิ่มเข้ามาภายหลัง</a:t>
            </a:r>
          </a:p>
          <a:p/>
          <a:p>
            <a:r>
              <a:t>ย้ำ Core Message: AI ไม่แทนระบบเดิม แต่เพิ่มความเข้าใจและการประสานงานระหว่างคน ความรู้ และระบบเดิม</a:t>
            </a:r>
          </a:p>
          <a:p/>
          <a:p>
            <a:r>
              <a:t>ประโยคเชื่อม:</a:t>
            </a:r>
          </a:p>
          <a:p>
            <a:r>
              <a:t>ดังนั้น Platform ที่พร้อมใช้จริงจึงต้องมีมากกว่า LLM หนึ่งตัว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6 — Enterprise AI Requires More Than an LLM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Production Enterprise AI เป็นสถาปัตยกรรมหลายชั้น และ Security กับ Operations ต้องครอบคลุมทุกชั้น</a:t>
            </a:r>
          </a:p>
          <a:p/>
          <a:p>
            <a:r>
              <a:t>แนวทางพูด:</a:t>
            </a:r>
          </a:p>
          <a:p>
            <a:r>
              <a:t>ไล่จากบนลงล่าง:</a:t>
            </a:r>
          </a:p>
          <a:p>
            <a:r>
              <a:t>- Experience: ช่องทางที่ผู้ใช้และระบบภายนอกเข้าถึง</a:t>
            </a:r>
          </a:p>
          <a:p>
            <a:r>
              <a:t>- AI Agents: Agent ตามบทบาทธุรกิจ</a:t>
            </a:r>
          </a:p>
          <a:p>
            <a:r>
              <a:t>- Intelligence: Orchestration, RAG, Reasoning และ Memory</a:t>
            </a:r>
          </a:p>
          <a:p>
            <a:r>
              <a:t>- Connectivity: API, MCP, Database, Workflow และ Tools</a:t>
            </a:r>
          </a:p>
          <a:p>
            <a:r>
              <a:t>- Model Layer: Local, Private, Cloud, Embedding และ Vision</a:t>
            </a:r>
          </a:p>
          <a:p>
            <a:r>
              <a:t>- Data &amp; Knowledge: Documents, Database, Vector และ Object Storage</a:t>
            </a:r>
          </a:p>
          <a:p/>
          <a:p>
            <a:r>
              <a:t>ชี้ด้านซ้ายและขวาว่า Security/Governance กับ AI Operations เป็นแนวตั้ง เพราะต้องตรวจตั้งแต่ Retrieval จนถึง Tool Execution และ Output</a:t>
            </a:r>
          </a:p>
          <a:p/>
          <a:p>
            <a:r>
              <a:t>ประโยคเชื่อม:</a:t>
            </a:r>
          </a:p>
          <a:p>
            <a:r>
              <a:t>เรามาดูองค์ประกอบสำคัญที่สุดอันหนึ่งก่อน คือการเปลี่ยนข้อมูลกระจัดกระจายให้เป็นความรู้ที่ AI ใช้ได้อย่างน่าเชื่อถือ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7 — Trusted Enterprise Knowledge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การทำ RAG ที่ดีไม่ใช่เพียงนำเอกสารไปทำ Vector แต่เป็น Lifecycle ตั้งแต่รับข้อมูลจนถึงการอ้างอิงแหล่งที่มาอย่างมีสิทธิ์</a:t>
            </a:r>
          </a:p>
          <a:p/>
          <a:p>
            <a:r>
              <a:t>แนวทางพูด:</a:t>
            </a:r>
          </a:p>
          <a:p>
            <a:r>
              <a:t>อธิบาย Pipeline จาก Source → Ingest → Understand → Govern → Retrieve → Answer</a:t>
            </a:r>
          </a:p>
          <a:p/>
          <a:p>
            <a:r>
              <a:t>เน้นจุด Govern: Metadata, ACL, Classification และ Retention ต้องถูกนำไปใช้ตั้งแต่ตอนจัดเก็บและตอนค้นคืน ไม่ใช่กรองเฉพาะหน้า UI</a:t>
            </a:r>
          </a:p>
          <a:p/>
          <a:p>
            <a:r>
              <a:t>เมื่อ AI แสดง Citation ระบบควรตรวจสิทธิ์ซ้ำก่อนเปิด Source Document เพื่อป้องกันข้อมูลหลุดผ่าน Link หรือ Citation</a:t>
            </a:r>
          </a:p>
          <a:p/>
          <a:p>
            <a:r>
              <a:t>ประโยคเชื่อม:</a:t>
            </a:r>
          </a:p>
          <a:p>
            <a:r>
              <a:t>เมื่อข้อมูลมีความสำคัญ คำถามเรื่องตำแหน่งที่ประมวลผลและการควบคุมโมเดลจึงตามมา โดยเฉพาะ Local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8 — Why Local AI Matters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Local AI ให้การควบคุมข้อมูลและ Infrastructure มากขึ้น แต่แลกกับภาระในการบริหาร Capacity, Model Lifecycle และ Operations</a:t>
            </a:r>
          </a:p>
          <a:p/>
          <a:p>
            <a:r>
              <a:t>แนวทางพูด:</a:t>
            </a:r>
          </a:p>
          <a:p>
            <a:r>
              <a:t>อธิบาย Driver หลัก: Data Control, Privacy, Infrastructure Control, Network Isolation และ Workload Economics</a:t>
            </a:r>
          </a:p>
          <a:p/>
          <a:p>
            <a:r>
              <a:t>พูดอย่างตรงไปตรงมาว่า Local AI ไม่ได้แปลว่าปลอดภัยหรือถูกกว่าโดยอัตโนมัติ ยังต้องออกแบบ Authentication, Network Segmentation, Patch, Monitoring, Backup และ GPU Capacity</a:t>
            </a:r>
          </a:p>
          <a:p/>
          <a:p>
            <a:r>
              <a:t>ต้นทุนต้องดู Total Cost of Ownership รวมทั้ง GPU, ไฟฟ้า, Cooling, ทีมดูแล และรอบอัปเกรดโมเดล</a:t>
            </a:r>
          </a:p>
          <a:p/>
          <a:p>
            <a:r>
              <a:t>ประโยคเชื่อม:</a:t>
            </a:r>
          </a:p>
          <a:p>
            <a:r>
              <a:t>ดังนั้นโจทย์ที่ถูกต้องไม่ใช่เลือก Local หรือ Cloud อย่างใดอย่างหนึ่ง แต่คือควบคุมการเลือกโมเดลตามลักษณะงาน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9 — Controlled Model Choice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Model Gateway และ Policy Engine ช่วยส่งงานแต่ละประเภทไปยังโมเดลที่เหมาะสม โดยไม่ผูกองค์กรกับ Provider เดียว</a:t>
            </a:r>
          </a:p>
          <a:p/>
          <a:p>
            <a:r>
              <a:t>แนวทางพูด:</a:t>
            </a:r>
          </a:p>
          <a:p>
            <a:r>
              <a:t>Policy Engine พิจารณา Data Classification, Agent Policy, Capability, Cost และ Latency ก่อนเลือก Local LLM, Private/Managed AI หรือ Frontier Cloud AI</a:t>
            </a:r>
          </a:p>
          <a:p/>
          <a:p>
            <a:r>
              <a:t>ยกตัวอย่าง:</a:t>
            </a:r>
          </a:p>
          <a:p>
            <a:r>
              <a:t>- ข้อมูลภายในที่อ่อนไหวและงานสม่ำเสมอ อาจเหมาะกับ Local</a:t>
            </a:r>
          </a:p>
          <a:p>
            <a:r>
              <a:t>- งาน Enterprise ที่ต้องการ SLA อาจใช้ Managed Private AI</a:t>
            </a:r>
          </a:p>
          <a:p>
            <a:r>
              <a:t>- งาน Reasoning เฉพาะทางอาจใช้ Cloud ภายใต้นโยบาย</a:t>
            </a:r>
          </a:p>
          <a:p/>
          <a:p>
            <a:r>
              <a:t>การเลือกควรเกิดระดับ Agent หรือ Workload ไม่ใช่ตั้งค่าครั้งเดียวทั้งองค์กร</a:t>
            </a:r>
          </a:p>
          <a:p/>
          <a:p>
            <a:r>
              <a:t>ประโยคเชื่อม:</a:t>
            </a:r>
          </a:p>
          <a:p>
            <a:r>
              <a:t>ไม่ว่าโมเดลจะอยู่ที่ใด หลัก Zero Trust ต้องขยายเข้าไปครอบคลุมการทำงานของ AI 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10 — Zero Trust Must Extend into AI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Prompt จากผู้ใช้ไม่ควรถูกเชื่อโดยอัตโนมัติ ทุกขั้นต้องตรวจ Identity, Agent, Knowledge, Tool, Action และ Audit</a:t>
            </a:r>
          </a:p>
          <a:p/>
          <a:p>
            <a:r>
              <a:t>แนวทางพูด:</a:t>
            </a:r>
          </a:p>
          <a:p>
            <a:r>
              <a:t>ไล่ Checkpoint ทั้งหก:</a:t>
            </a:r>
          </a:p>
          <a:p>
            <a:r>
              <a:t>1. Authenticate ผู้ใช้</a:t>
            </a:r>
          </a:p>
          <a:p>
            <a:r>
              <a:t>2. ตรวจสิทธิ์ Agent</a:t>
            </a:r>
          </a:p>
          <a:p>
            <a:r>
              <a:t>3. ตรวจ Data Scope ที่ค้นได้</a:t>
            </a:r>
          </a:p>
          <a:p>
            <a:r>
              <a:t>4. ตรวจ Tool และระบบที่เรียกได้</a:t>
            </a:r>
          </a:p>
          <a:p>
            <a:r>
              <a:t>5. ตรวจ Action และระดับ Approval</a:t>
            </a:r>
          </a:p>
          <a:p>
            <a:r>
              <a:t>6. เก็บ Audit ว่าใครทำอะไร เมื่อใด ผ่าน Agent และ Tool ใด</a:t>
            </a:r>
          </a:p>
          <a:p/>
          <a:p>
            <a:r>
              <a:t>ย้ำว่า Prompt เป็น Untrusted Input เช่นเดียวกับ Request จากภายนอก จึงต้องมี Validation และ Policy Enforcement ฝั่ง Server</a:t>
            </a:r>
          </a:p>
          <a:p/>
          <a:p>
            <a:r>
              <a:t>ประโยคเชื่อม:</a:t>
            </a:r>
          </a:p>
          <a:p>
            <a:r>
              <a:t>Zero Trust ช่วยกำหนดหลักการ ส่วน Guardrails และ Governance คือกลไกที่นำหลักการไปบังคับใช้จริง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11 — Governed Agentic AI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Guardrails ที่ดีต้องลดความเสี่ยงและยังคงทำให้ AI ส่งมอบคำตอบหรือ Action ที่ควบคุมได้</a:t>
            </a:r>
          </a:p>
          <a:p/>
          <a:p>
            <a:r>
              <a:t>แนวทางพูด:</a:t>
            </a:r>
          </a:p>
          <a:p>
            <a:r>
              <a:t>ฝั่งซ้ายคือภัยคุกคาม เช่น Prompt Injection, Data Leakage, Unauthorized Retrieval, Excessive Agency และ Unsafe Tool Execution</a:t>
            </a:r>
          </a:p>
          <a:p/>
          <a:p>
            <a:r>
              <a:t>ตรงกลางคือ Control ได้แก่ Input Guardrail, ACL, PII/DLP, Tool Policy, Output Guardrail และ Human Approval</a:t>
            </a:r>
          </a:p>
          <a:p/>
          <a:p>
            <a:r>
              <a:t>ฝั่งขวาคือผลลัพธ์ที่ต้องการ: Authorized Answer, Approved Action และ Audit Trail</a:t>
            </a:r>
          </a:p>
          <a:p/>
          <a:p>
            <a:r>
              <a:t>อธิบายว่า Human Approval ควรใช้ตาม Risk Tier ไม่จำเป็นต้องอนุมัติทุก Tool Call แต่ Action ที่มีผลกระทบสูงต้องมี Approval หรือ Workflow Control</a:t>
            </a:r>
          </a:p>
          <a:p/>
          <a:p>
            <a:r>
              <a:t>ประโยคเชื่อม:</a:t>
            </a:r>
          </a:p>
          <a:p>
            <a:r>
              <a:t>จากหลักการและสถาปัตยกรรม ต่อไปเราจะทำให้ภาพชัดผ่าน Use Case 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12 — Let’s Make It Real (ประมาณ 30 วินาที)</a:t>
            </a:r>
          </a:p>
          <a:p/>
          <a:p>
            <a:r>
              <a:t>สารที่ต้องการสื่อ:</a:t>
            </a:r>
          </a:p>
          <a:p>
            <a:r>
              <a:t>เปลี่ยนจากการอธิบาย Platform มาสู่สิ่งที่ผู้ใช้สัมผัสได้จริงใน Employee Services, IT Operations และงานที่มีข้อกำกับ</a:t>
            </a:r>
          </a:p>
          <a:p/>
          <a:p>
            <a:r>
              <a:t>แนวทางพูด:</a:t>
            </a:r>
          </a:p>
          <a:p>
            <a:r>
              <a:t>บอกผู้ฟังว่าสามกลุ่มตัวอย่างใช้ Foundation เดียวกัน แต่ต่างกันที่ Agent, Data Scope, Tools และระดับ Governance</a:t>
            </a:r>
          </a:p>
          <a:p/>
          <a:p>
            <a:r>
              <a:t>ประโยคเชื่อม:</a:t>
            </a:r>
          </a:p>
          <a:p>
            <a:r>
              <a:t>เริ่มจากงานที่ทุกคนเข้าใจง่ายที่สุด คือคำถามและบริการด้าน 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13 — HR Agent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HR Agent เชื่อมบทสนทนาของพนักงานกับความรู้ HR, PeopleSoft และ Talent Data โดย PeopleSoft ยังเป็น System of Record</a:t>
            </a:r>
          </a:p>
          <a:p/>
          <a:p>
            <a:r>
              <a:t>แนวทางพูด:</a:t>
            </a:r>
          </a:p>
          <a:p>
            <a:r>
              <a:t>พนักงานถามด้วยภาษาธรรมชาติ Agent อ่านนโยบาย ดึงข้อมูลเฉพาะที่ผู้ใช้มีสิทธิ์ และช่วยเริ่ม Workflow</a:t>
            </a:r>
          </a:p>
          <a:p/>
          <a:p>
            <a:r>
              <a:t>แยกประเภทข้อมูลให้ชัด:</a:t>
            </a:r>
          </a:p>
          <a:p>
            <a:r>
              <a:t>- HR Knowledge สำหรับนโยบายและขั้นตอน</a:t>
            </a:r>
          </a:p>
          <a:p>
            <a:r>
              <a:t>- PeopleSoft สำหรับข้อมูลพนักงาน สิทธิประโยชน์ และ Transaction</a:t>
            </a:r>
          </a:p>
          <a:p>
            <a:r>
              <a:t>- Talent Data สำหรับ Skills, Certifications และ Experience</a:t>
            </a:r>
          </a:p>
          <a:p/>
          <a:p>
            <a:r>
              <a:t>ย้ำว่า Agent ไม่ได้สร้างข้อมูล HR ชุดใหม่ แต่ใช้ระบบเดิมผ่าน API และสิทธิ์ที่ควบคุม</a:t>
            </a:r>
          </a:p>
          <a:p/>
          <a:p>
            <a:r>
              <a:t>ประโยคเชื่อม:</a:t>
            </a:r>
          </a:p>
          <a:p>
            <a:r>
              <a:t>ลองดูคำถามง่าย ๆ หนึ่งคำถามที่เปลี่ยนจากการค้นข้อมูลหลายจุดให้เป็นบริการครบขั้นตอน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14 — Leave Request Use Case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คำถามเดียวสามารถเชื่อม Identity, System of Record, Policy และ Workflow โดยยังขออนุมัติจากผู้ใช้ก่อนสร้างรายการ</a:t>
            </a:r>
          </a:p>
          <a:p/>
          <a:p>
            <a:r>
              <a:t>แนวทางพูด:</a:t>
            </a:r>
          </a:p>
          <a:p>
            <a:r>
              <a:t>เดินทีละขั้น:</a:t>
            </a:r>
          </a:p>
          <a:p>
            <a:r>
              <a:t>1. ยืนยันตัวพนักงาน</a:t>
            </a:r>
          </a:p>
          <a:p>
            <a:r>
              <a:t>2. อ่านยอดวันลาจาก PeopleSoft</a:t>
            </a:r>
          </a:p>
          <a:p>
            <a:r>
              <a:t>3. ค้นนโยบายที่เกี่ยวข้อง</a:t>
            </a:r>
          </a:p>
          <a:p>
            <a:r>
              <a:t>4. ตรวจสิทธิ์และเงื่อนไข</a:t>
            </a:r>
          </a:p>
          <a:p>
            <a:r>
              <a:t>5. อธิบายผลพร้อมเหตุผล</a:t>
            </a:r>
          </a:p>
          <a:p>
            <a:r>
              <a:t>6. เสนอให้ส่งคำขอ</a:t>
            </a:r>
          </a:p>
          <a:p/>
          <a:p>
            <a:r>
              <a:t>หลังผู้ใช้ตอบ Yes จึงเรียก PeopleSoft และส่งเลขอ้างอิงกลับมา หาก Action ต้องผ่านหัวหน้า Workflow เดิมยังคงทำงานตามปกติ</a:t>
            </a:r>
          </a:p>
          <a:p/>
          <a:p>
            <a:r>
              <a:t>ย้ำว่า AI เป็น Interface และ Orchestration Layer ไม่ใช่ระบบบันทึกวันลา</a:t>
            </a:r>
          </a:p>
          <a:p/>
          <a:p>
            <a:r>
              <a:t>ประโยคเชื่อม:</a:t>
            </a:r>
          </a:p>
          <a:p>
            <a:r>
              <a:t>นอกจากบริการรายบุคคล ข้อมูล HR ยังช่วยวางแผนกำลังคนได้ หากควบคุมสิทธิ์อย่างเหมาะสม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15 — Talent Intelligence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AI สามารถรวม Skills, Certifications, Training และ Experience เพื่อช่วยค้นบุคลากรและวิเคราะห์ Skill Gap ภายใต้สิทธิ์ HR หรือ Manager</a:t>
            </a:r>
          </a:p>
          <a:p/>
          <a:p>
            <a:r>
              <a:t>แนวทางพูด:</a:t>
            </a:r>
          </a:p>
          <a:p>
            <a:r>
              <a:t>เริ่มจากคำถามของ Manager แล้วแสดงผลเป็น Candidate แบบไม่เปิดเผยข้อมูลที่ไม่จำเป็นในขั้นแรก</a:t>
            </a:r>
          </a:p>
          <a:p/>
          <a:p>
            <a:r>
              <a:t>Agent ไม่ควรเพียงจัดอันดับคน แต่ควรอธิบาย Evidence ว่าความสามารถมาจาก Certification, Project หรือ Training ใด และระบุ Gap อย่างตรงไปตรงมา</a:t>
            </a:r>
          </a:p>
          <a:p/>
          <a:p>
            <a:r>
              <a:t>ผลต่อเนื่องคือการวางแผน Upskill/Reskill ไม่ใช่การตัดสินใจด้านบุคคลโดยอัตโนมัติ</a:t>
            </a:r>
          </a:p>
          <a:p/>
          <a:p>
            <a:r>
              <a:t>ประโยคเชื่อม:</a:t>
            </a:r>
          </a:p>
          <a:p>
            <a:r>
              <a:t>รูปแบบเดียวกันสามารถนำไปใช้กับ IT Helpdesk เพื่อยกระดับทั้ง Self-Service และคุณภาพ Ticket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16 — IT Helpdesk Agent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AI ไม่ได้มีเป้าหมายเพียงลดจำนวน Ticket แต่ช่วยแก้ปัญหาเบื้องต้นและทำให้ Ticket ที่ต้องส่งต่อมีข้อมูลพร้อมวิเคราะห์มากขึ้น</a:t>
            </a:r>
          </a:p>
          <a:p/>
          <a:p>
            <a:r>
              <a:t>แนวทางพูด:</a:t>
            </a:r>
          </a:p>
          <a:p>
            <a:r>
              <a:t>ตัวอย่างผู้ใช้เชื่อมต่อ VPN ไม่ได้ Agent จะทำความเข้าใจ User, Device, Location และ Symptoms จากนั้นค้น KB ตรวจ Identity, Known Incident และ K2 Ticket ก่อนทำ Guided Troubleshooting</a:t>
            </a:r>
          </a:p>
          <a:p/>
          <a:p>
            <a:r>
              <a:t>หากแก้ได้ ให้บันทึกวิธีการและผล หากแก้ไม่ได้ ให้สร้าง Incident ที่มี Device, Error, Diagnostics, Actions ที่ลองแล้ว และ Evidence แทนข้อความสั้น ๆ ว่า VPN ใช้ไม่ได้</a:t>
            </a:r>
          </a:p>
          <a:p/>
          <a:p>
            <a:r>
              <a:t>ประโยคเชื่อม:</a:t>
            </a:r>
          </a:p>
          <a:p>
            <a:r>
              <a:t>Helpdesk ยังเริ่มจากผู้ใช้แจ้งปัญหา แต่ระดับถัดไปคือ AI Operations ที่มองเห็นสัญญาณก่อนหรือพร้อมกับผู้ใช้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17 — What If AI Could See What IT Sees? (ประมาณ 1 นาที)</a:t>
            </a:r>
          </a:p>
          <a:p/>
          <a:p>
            <a:r>
              <a:t>สารที่ต้องการสื่อ:</a:t>
            </a:r>
          </a:p>
          <a:p>
            <a:r>
              <a:t>AI Operations Agent ผสานสิ่งที่ Service Desk รู้ สิ่งที่ Knowledge Base รู้ และสิ่งที่ Observability เห็นแบบ Real Time</a:t>
            </a:r>
          </a:p>
          <a:p/>
          <a:p>
            <a:r>
              <a:t>แนวทางพูด:</a:t>
            </a:r>
          </a:p>
          <a:p>
            <a:r>
              <a:t>หยุดเล็กน้อยที่ประโยค “The trading application is very slow.” เพราะนี่เป็นอาการ ไม่ใช่ Root Cause</a:t>
            </a:r>
          </a:p>
          <a:p/>
          <a:p>
            <a:r>
              <a:t>อธิบายว่า Agent ต้องไม่รีบตอบจากความจำ แต่ต้องรวบรวม Evidence จาก Incident, Runbook, Change และ Telemetry</a:t>
            </a:r>
          </a:p>
          <a:p/>
          <a:p>
            <a:r>
              <a:t>ประโยคเชื่อม:</a:t>
            </a:r>
          </a:p>
          <a:p>
            <a:r>
              <a:t>หน้าถัดไปคือภาพการสอบสวนเหตุการณ์แบบครบวงจร และเป็น Use Case หลักของชุดนี้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18 — AI-Assisted Incident Investigation (ประมาณ 4 นาที)</a:t>
            </a:r>
          </a:p>
          <a:p/>
          <a:p>
            <a:r>
              <a:t>สารที่ต้องการสื่อ:</a:t>
            </a:r>
          </a:p>
          <a:p>
            <a:r>
              <a:t>AI Operations Agent ควร Correlate หลักฐานจากหลายระบบ แล้วเสนอ Probable Cause และ Action ที่ตรวจสอบได้ ไม่ใช่เดาสาเหตุ</a:t>
            </a:r>
          </a:p>
          <a:p/>
          <a:p>
            <a:r>
              <a:t>แนวทางพูด:</a:t>
            </a:r>
          </a:p>
          <a:p>
            <a:r>
              <a:t>เริ่มจากผู้ใช้รายงานว่า Trading Application ช้า Agent ตรวจพร้อมกัน:</a:t>
            </a:r>
          </a:p>
          <a:p>
            <a:r>
              <a:t>- K2 มี Incident ที่เกี่ยวข้องหรือไม่</a:t>
            </a:r>
          </a:p>
          <a:p>
            <a:r>
              <a:t>- Knowledge มี Known Issue หรือ Runbook หรือไม่</a:t>
            </a:r>
          </a:p>
          <a:p>
            <a:r>
              <a:t>- Change มี Deployment ล่าสุดหรือไม่</a:t>
            </a:r>
          </a:p>
          <a:p>
            <a:r>
              <a:t>- Observability แสดงอะไรใน RUM, APM, Database, Infrastructure และ Logs</a:t>
            </a:r>
          </a:p>
          <a:p/>
          <a:p>
            <a:r>
              <a:t>จากนั้นชี้ Evidence Correlation: เวลา User Impact, Application Latency, Database Latency และการไม่พบ Network Anomaly</a:t>
            </a:r>
          </a:p>
          <a:p/>
          <a:p>
            <a:r>
              <a:t>Agent สรุป Probable Cause พร้อม Evidence และ Runbook แล้วสร้างหรืออัปเดต Incident หลังผ่าน Approval จึงเข้าสู่ Remediation</a:t>
            </a:r>
          </a:p>
          <a:p/>
          <a:p>
            <a:r>
              <a:t>ข้อควรย้ำ:</a:t>
            </a:r>
          </a:p>
          <a:p>
            <a:r>
              <a:t>คำว่า Probable Cause ต้องต่างจาก Confirmed Root Cause และทุกข้อสรุปต้องย้อนกลับไปยังหลักฐานได้</a:t>
            </a:r>
          </a:p>
          <a:p/>
          <a:p>
            <a:r>
              <a:t>ประโยคเชื่อม:</a:t>
            </a:r>
          </a:p>
          <a:p>
            <a:r>
              <a:t>ความสามารถนี้เกิดไม่ได้หาก AI ไม่มี Operational Context จาก Observability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19 — AI + Observability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Observability ส่งสัญญาณ ส่วน AI ช่วยตั้งคำถาม เชื่อมโยงบริบท และประสานงานกับระบบอื่น</a:t>
            </a:r>
          </a:p>
          <a:p/>
          <a:p>
            <a:r>
              <a:t>แนวทางพูด:</a:t>
            </a:r>
          </a:p>
          <a:p>
            <a:r>
              <a:t>Telemetry Pillars ครอบคลุม RUM, APM, Logs, Infrastructure และ Database ขณะที่ Datadog เป็นเพียงตัวอย่างหนึ่งของ Implementation</a:t>
            </a:r>
          </a:p>
          <a:p/>
          <a:p>
            <a:r>
              <a:t>AI สามารถถามว่าอะไร Alert อยู่ มีอะไรเปลี่ยน บริการใดได้รับผลกระทบ ปัญหาอยู่ชั้น Application, Database หรือ Infrastructure และเคยเกิดมาก่อนหรือไม่</a:t>
            </a:r>
          </a:p>
          <a:p/>
          <a:p>
            <a:r>
              <a:t>ย้ำว่า AI ไม่ควรแทน Detection Engine หรือ Monitoring Platform แต่ช่วยลดเวลารวบรวมและเชื่อมโยงข้อมูล</a:t>
            </a:r>
          </a:p>
          <a:p/>
          <a:p>
            <a:r>
              <a:t>ประโยคเชื่อม:</a:t>
            </a:r>
          </a:p>
          <a:p>
            <a:r>
              <a:t>เมื่อ Agent มองเห็นสัญญาณได้ต่อเนื่อง รูปแบบการทำงานของ IT สามารถขยับจาก Reactive ไปสู่ Proactive 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20 — Proactive IT Operations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AI สามารถเริ่ม Investigate จาก Anomaly ก่อนที่ผู้ใช้จะเปิด Ticket แล้วเตรียม Context สำหรับทีม Operations</a:t>
            </a:r>
          </a:p>
          <a:p/>
          <a:p>
            <a:r>
              <a:t>แนวทางพูด:</a:t>
            </a:r>
          </a:p>
          <a:p>
            <a:r>
              <a:t>อธิบาย Flow: Detect → Investigate → Understand → Respond → Approve</a:t>
            </a:r>
          </a:p>
          <a:p/>
          <a:p>
            <a:r>
              <a:t>ตัวอย่างผลลัพธ์คือสร้าง K2 Incident อัตโนมัติ แนบ Evidence แนะนำ Runbook และแจ้งทีมที่เกี่ยวข้อง จากนั้น Human หรือ Approved Automation เป็นผู้ดำเนิน Remediation</a:t>
            </a:r>
          </a:p>
          <a:p/>
          <a:p>
            <a:r>
              <a:t>ชี้ว่าความอัตโนมัติควรเพิ่มตามระดับความมั่นใจและความเสี่ยง เริ่มจาก Read-only และ Recommendation ก่อน Write Action</a:t>
            </a:r>
          </a:p>
          <a:p/>
          <a:p>
            <a:r>
              <a:t>ประโยคเชื่อม:</a:t>
            </a:r>
          </a:p>
          <a:p>
            <a:r>
              <a:t>Foundation เดียวกันไม่ได้จำกัดอยู่เฉพาะ HR และ IT แต่รองรับ Use Case ระดับองค์กรอีกหลายกลุ่ม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21 — Multiple Enterprise AI Opportunities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Platform เดียวรองรับ Agent หลายบทบาทโดยใช้ Knowledge, Models, Integration และ Governance ร่วมกัน</a:t>
            </a:r>
          </a:p>
          <a:p/>
          <a:p>
            <a:r>
              <a:t>แนวทางพูด:</a:t>
            </a:r>
          </a:p>
          <a:p>
            <a:r>
              <a:t>แบ่งโอกาสเป็นสี่กลุ่ม: Employee, IT &amp; Security, Risk &amp; Compliance และ Business</a:t>
            </a:r>
          </a:p>
          <a:p/>
          <a:p>
            <a:r>
              <a:t>อย่านำเสนอว่าจะทำทุก Use Case พร้อมกัน จุดประสงค์ของสไลด์คือแสดงว่า Foundation ที่ลงทุนใน Pilot สามารถนำกลับมาใช้ซ้ำได้</a:t>
            </a:r>
          </a:p>
          <a:p/>
          <a:p>
            <a:r>
              <a:t>เลือก Use Case ด้วยเกณฑ์: มี Owner, มีข้อมูลที่เข้าถึงได้, Pain Point ชัด, ความเสี่ยงควบคุมได้ และมี KPI วัดผล</a:t>
            </a:r>
          </a:p>
          <a:p/>
          <a:p>
            <a:r>
              <a:t>ประโยคเชื่อม:</a:t>
            </a:r>
          </a:p>
          <a:p>
            <a:r>
              <a:t>สำหรับธุรกิจหลักทรัพย์ ตัวอย่างที่เห็นคุณค่าชัดคือการเตรียมหลักฐานสำหรับ KYC/CDD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22 — AI-Assisted KYC/CDD Review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AI ช่วยรวบรวมและจัดโครงสร้าง Evidence แต่ไม่เป็นผู้ตัดสินใจด้าน Compliance</a:t>
            </a:r>
          </a:p>
          <a:p/>
          <a:p>
            <a:r>
              <a:t>แนวทางพูด:</a:t>
            </a:r>
          </a:p>
          <a:p>
            <a:r>
              <a:t>Input ได้แก่ Customer Profile, KYC Documents, UBO, Risk Classification, Transaction Alerts และ Previous Review</a:t>
            </a:r>
          </a:p>
          <a:p/>
          <a:p>
            <a:r>
              <a:t>Agent สร้าง Review Pack ที่มี Identity Summary, UBO Structure, Missing Documents, Risk Indicators, Inconsistencies และ Supporting Evidence</a:t>
            </a:r>
          </a:p>
          <a:p/>
          <a:p>
            <a:r>
              <a:t>ผลลัพธ์ทั้งหมดต้องมี Citation และสถานะความมั่นใจ ประเด็นที่ไม่พบข้อมูลต้องระบุว่า Gap ไม่ควรเติมข้อมูลจากการคาดเดา</a:t>
            </a:r>
          </a:p>
          <a:p/>
          <a:p>
            <a:r>
              <a:t>ท้ายที่สุด Human Compliance Officer เป็นผู้ตรวจสอบและตัดสินใจตาม Policy และ Regulation</a:t>
            </a:r>
          </a:p>
          <a:p/>
          <a:p>
            <a:r>
              <a:t>ประโยคเชื่อม:</a:t>
            </a:r>
          </a:p>
          <a:p>
            <a:r>
              <a:t>นอกจากทบทวนลูกค้า AI ยังช่วยวิเคราะห์ผลกระทบจากกฎใหม่ต่อ Policy และ Process ภายในได้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23 — Regulatory Knowledge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AI ลดเวลาการเปรียบเทียบ Regulation กับ Policy, Procedure, SOP และ Control โดยแสดง Gap พร้อม Citation</a:t>
            </a:r>
          </a:p>
          <a:p/>
          <a:p>
            <a:r>
              <a:t>แนวทางพูด:</a:t>
            </a:r>
          </a:p>
          <a:p>
            <a:r>
              <a:t>เริ่มจาก Regulatory Change จากนั้น Agent แยก Requirement และค้นเอกสารภายในที่เกี่ยวข้อง</a:t>
            </a:r>
          </a:p>
          <a:p/>
          <a:p>
            <a:r>
              <a:t>Gap/Impact View ควรแสดง Requirement, Existing Policy, Potential Gap, Affected Process และ Evidence</a:t>
            </a:r>
          </a:p>
          <a:p/>
          <a:p>
            <a:r>
              <a:t>อธิบายว่า AI ช่วยเตรียม Analysis แต่ Compliance ยังต้องตีความและอนุมัติการแก้ไข การไม่มีหลักฐานต้องแสดงเป็น Not Found ไม่ใช่ Supported</a:t>
            </a:r>
          </a:p>
          <a:p/>
          <a:p>
            <a:r>
              <a:t>ประโยคเชื่อม:</a:t>
            </a:r>
          </a:p>
          <a:p>
            <a:r>
              <a:t>Use Case ทั้งหมดนี้สามารถวางอยู่บน Target Architecture เดียวกันได้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24 — Target Enterprise AI Architecture (ประมาณ 4 นาที)</a:t>
            </a:r>
          </a:p>
          <a:p/>
          <a:p>
            <a:r>
              <a:t>สารที่ต้องการสื่อ:</a:t>
            </a:r>
          </a:p>
          <a:p>
            <a:r>
              <a:t>Target Architecture วาง Enterprise AI เป็นชั้นกลางระหว่างผู้ใช้กับระบบเดิม โดยมี Security และ AI Operations ครอบทุกส่วน</a:t>
            </a:r>
          </a:p>
          <a:p/>
          <a:p>
            <a:r>
              <a:t>แนวทางพูด:</a:t>
            </a:r>
          </a:p>
          <a:p>
            <a:r>
              <a:t>ไล่จากบนลงล่าง:</a:t>
            </a:r>
          </a:p>
          <a:p>
            <a:r>
              <a:t>1. Users หลายกลุ่มเข้าผ่าน Web, Teams, Mobile หรือ API</a:t>
            </a:r>
          </a:p>
          <a:p>
            <a:r>
              <a:t>2. Agent Runtime แยก Agent ตามบทบาท</a:t>
            </a:r>
          </a:p>
          <a:p>
            <a:r>
              <a:t>3. Intelligence จัดการ RAG, Reasoning, Memory และ Orchestration</a:t>
            </a:r>
          </a:p>
          <a:p>
            <a:r>
              <a:t>4. Model Gateway เลือก Local, Private หรือ Cloud</a:t>
            </a:r>
          </a:p>
          <a:p>
            <a:r>
              <a:t>5. Integration Gateway เชื่อม API, MCP, Workflow และ Tools</a:t>
            </a:r>
          </a:p>
          <a:p>
            <a:r>
              <a:t>6. Enterprise Systems และ Data ยังคงเป็น Source of Truth</a:t>
            </a:r>
          </a:p>
          <a:p/>
          <a:p>
            <a:r>
              <a:t>ด้านซ้ายคือ Identity, RBAC/ABAC, Guardrails, DLP และ Audit ด้านขวาคือ Quality, Latency, Usage, Cost และ LLM Observability</a:t>
            </a:r>
          </a:p>
          <a:p/>
          <a:p>
            <a:r>
              <a:t>ประโยคเชื่อม:</a:t>
            </a:r>
          </a:p>
          <a:p>
            <a:r>
              <a:t>หากเลือกประมวลผล Local ส่วนล่างของ Architecture ต้องถูกออกแบบเป็น Infrastructure Platform ที่พร้อมใช้งานจริง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25 — Production Local AI Infrastructure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Local AI สำหรับ Production ต้องมีหลาย Tier และ Operations ครบ ไม่ใช่เพียงติดตั้ง LLM บน GPU หนึ่งเครื่อง</a:t>
            </a:r>
          </a:p>
          <a:p/>
          <a:p>
            <a:r>
              <a:t>แนวทางพูด:</a:t>
            </a:r>
          </a:p>
          <a:p>
            <a:r>
              <a:t>อธิบาย Stack: Access, Application, Processing, Data และ AI Inference</a:t>
            </a:r>
          </a:p>
          <a:p/>
          <a:p>
            <a:r>
              <a:t>ด้าน Operations ต้องมี Monitoring, Backup, HA/DR, Security และ Capacity Planning</a:t>
            </a:r>
          </a:p>
          <a:p/>
          <a:p>
            <a:r>
              <a:t>ย้ำว่า GPU Sizing ไม่ได้คำนวณจากจำนวนพนักงาน แต่จาก Concurrent Generations, Model Size, Context Length, Tokens per Second, RAG และ Tool Workload</a:t>
            </a:r>
          </a:p>
          <a:p/>
          <a:p>
            <a:r>
              <a:t>Pilot อาจเริ่มจาก Single Node ได้ แต่ต้องระบุข้อจำกัดและแผนยกระดับอย่างชัดเจน</a:t>
            </a:r>
          </a:p>
          <a:p/>
          <a:p>
            <a:r>
              <a:t>ประโยคเชื่อม:</a:t>
            </a:r>
          </a:p>
          <a:p>
            <a:r>
              <a:t>เพื่อไม่ให้ลงทุนใหญ่เกินไปตั้งแต่แรก เราแนะนำ Roadmap แบบค่อยเป็นค่อยไป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26 — Enterprise AI Roadmap (ประมาณ 3 นาที)</a:t>
            </a:r>
          </a:p>
          <a:p/>
          <a:p>
            <a:r>
              <a:t>สารที่ต้องการสื่อ:</a:t>
            </a:r>
          </a:p>
          <a:p>
            <a:r>
              <a:t>Roadmap เริ่มจาก Foundation แล้วเพิ่มความสามารถจาก Assist ไป Act, Intelligence และ Scale</a:t>
            </a:r>
          </a:p>
          <a:p/>
          <a:p>
            <a:r>
              <a:t>แนวทางพูด:</a:t>
            </a:r>
          </a:p>
          <a:p>
            <a:r>
              <a:t>1. Foundation: Local AI, Knowledge, Security, Governance</a:t>
            </a:r>
          </a:p>
          <a:p>
            <a:r>
              <a:t>2. Assist: HR Agent และ IT Helpdesk</a:t>
            </a:r>
          </a:p>
          <a:p>
            <a:r>
              <a:t>3. Act: เชื่อม PeopleSoft, K2, Workflow, API/MCP</a:t>
            </a:r>
          </a:p>
          <a:p>
            <a:r>
              <a:t>4. Intelligence: Observability, Incident Correlation, Talent และ Compliance</a:t>
            </a:r>
          </a:p>
          <a:p>
            <a:r>
              <a:t>5. Scale: เพิ่ม Agent, Data และ Automation</a:t>
            </a:r>
          </a:p>
          <a:p/>
          <a:p>
            <a:r>
              <a:t>แถบ People, Process และ Technology ต้องเดินคู่กัน เช่น Data Owner, Approval Process, Operations Model และ Technical Platform</a:t>
            </a:r>
          </a:p>
          <a:p/>
          <a:p>
            <a:r>
              <a:t>ประโยคเชื่อม:</a:t>
            </a:r>
          </a:p>
          <a:p>
            <a:r>
              <a:t>สำหรับการเริ่มต้นจริง เราไม่จำเป็นต้องทำทุกขั้นพร้อมกัน แต่ควรเลือก Pilot ที่วัดผลได้บน Foundation ที่ขยายต่อได้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27 — Recommended Starting Point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เริ่มด้วย Platform Foundation พร้อม HR Pilot และ IT Pilot ที่มีขอบเขตชัด แล้วค่อยขยายสู่ Observability, Security และ Compliance</a:t>
            </a:r>
          </a:p>
          <a:p/>
          <a:p>
            <a:r>
              <a:t>แนวทางพูด:</a:t>
            </a:r>
          </a:p>
          <a:p>
            <a:r>
              <a:t>Foundation ควรมี Model, RAG, Identity, Security และ Governance ขั้นต่ำก่อนเปิดให้ผู้ใช้</a:t>
            </a:r>
          </a:p>
          <a:p/>
          <a:p>
            <a:r>
              <a:t>HR Pilot อาจเริ่มจาก Knowledge + PeopleSoft Read และ Leave/Benefit ส่วน IT Pilot เริ่มจาก IT Knowledge + K2 + Guided Troubleshooting</a:t>
            </a:r>
          </a:p>
          <a:p/>
          <a:p>
            <a:r>
              <a:t>แต่ละ Pilot ต้องมี Business Owner, Data Owner, User Group, Test Cases, Security Acceptance และ KPI</a:t>
            </a:r>
          </a:p>
          <a:p/>
          <a:p>
            <a:r>
              <a:t>ประโยคเชื่อม:</a:t>
            </a:r>
          </a:p>
          <a:p>
            <a:r>
              <a:t>ความสำเร็จควรวัดจาก Business Outcome และ Operational Quality ไม่ใช่ความประทับใจจาก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28 — Measure Business Outcomes (ประมาณ 2 นาที)</a:t>
            </a:r>
          </a:p>
          <a:p/>
          <a:p>
            <a:r>
              <a:t>สารที่ต้องการสื่อ:</a:t>
            </a:r>
          </a:p>
          <a:p>
            <a:r>
              <a:t>การประเมิน Pilot ต้องมี Baseline และ KPI ครบด้าน Knowledge, HR, IT, Platform และ Security</a:t>
            </a:r>
          </a:p>
          <a:p/>
          <a:p>
            <a:r>
              <a:t>แนวทางพูด:</a:t>
            </a:r>
          </a:p>
          <a:p>
            <a:r>
              <a:t>- Knowledge: Answer Accuracy, Citation Accuracy, Coverage</a:t>
            </a:r>
          </a:p>
          <a:p>
            <a:r>
              <a:t>- HR: Self-Service Completion, Time-to-Service, Adoption</a:t>
            </a:r>
          </a:p>
          <a:p>
            <a:r>
              <a:t>- IT: First Contact Resolution, MTTR, Ticket Quality</a:t>
            </a:r>
          </a:p>
          <a:p>
            <a:r>
              <a:t>- Platform: p95 Latency, Utilization, Cost per Task, Availability</a:t>
            </a:r>
          </a:p>
          <a:p>
            <a:r>
              <a:t>- Security: Unauthorized Access ต้องเป็นศูนย์, Policy Violations และ Audit Coverage</a:t>
            </a:r>
          </a:p>
          <a:p/>
          <a:p>
            <a:r>
              <a:t>ไม่ควรสัญญาตัวเลขลดต้นทุนโดยไม่มี Baseline ให้ใช้วงจร Baseline → Pilot → Measure → Improve → Scale</a:t>
            </a:r>
          </a:p>
          <a:p/>
          <a:p>
            <a:r>
              <a:t>ประโยคเชื่อม:</a:t>
            </a:r>
          </a:p>
          <a:p>
            <a:r>
              <a:t>หากเห็นตรงกัน ขั้นต่อไปคือ Workshop เพื่อกำหนด Use Case, Architecture และ Pilot ที่เหมาะสม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29 — Closing (ประมาณ 1 นาที)</a:t>
            </a:r>
          </a:p>
          <a:p/>
          <a:p>
            <a:r>
              <a:t>สารที่ต้องการสื่อ:</a:t>
            </a:r>
          </a:p>
          <a:p>
            <a:r>
              <a:t>เป้าหมายคือเปลี่ยน Knowledge ให้เป็น Intelligence และ Action อย่างปลอดภัย เป็นส่วนตัว มี Governance และตรวจสอบได้</a:t>
            </a:r>
          </a:p>
          <a:p/>
          <a:p>
            <a:r>
              <a:t>แนวทางพูด:</a:t>
            </a:r>
          </a:p>
          <a:p>
            <a:r>
              <a:t>สรุปว่าเริ่มจาก HR และ IT ได้ แต่ Foundation ถูกออกแบบเพื่อรองรับ Enterprise-wide AI</a:t>
            </a:r>
          </a:p>
          <a:p/>
          <a:p>
            <a:r>
              <a:t>เสนอ Next Steps สามขั้น:</a:t>
            </a:r>
          </a:p>
          <a:p>
            <a:r>
              <a:t>1. Use-Case Workshop</a:t>
            </a:r>
          </a:p>
          <a:p>
            <a:r>
              <a:t>2. Technical Assessment</a:t>
            </a:r>
          </a:p>
          <a:p>
            <a:r>
              <a:t>3. Pilot ที่มี Scope และ Success Criteria ชัดเจน</a:t>
            </a:r>
          </a:p>
          <a:p/>
          <a:p>
            <a:r>
              <a:t>ปิดด้วย Core Message อีกครั้ง:</a:t>
            </a:r>
          </a:p>
          <a:p>
            <a:r>
              <a:t>AI does not replace enterprise systems of record. AI becomes the secure intelligence and orchestration layer across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30 — Local LLM Model Selection (Backup)</a:t>
            </a:r>
          </a:p>
          <a:p/>
          <a:p>
            <a:r>
              <a:t>ใช้เมื่อมีคำถามว่าจะเลือกโมเดล Local อย่างไร</a:t>
            </a:r>
          </a:p>
          <a:p/>
          <a:p>
            <a:r>
              <a:t>แนวทางพูด:</a:t>
            </a:r>
          </a:p>
          <a:p>
            <a:r>
              <a:t>อย่าเลือกจาก Parameter Count อย่างเดียว ต้องประเมิน Capability, Tool Calling, ภาษาไทย/อังกฤษ, Context, VRAM, Quantization, Latency และคุณภาพบนงานจริง</a:t>
            </a:r>
          </a:p>
          <a:p/>
          <a:p>
            <a:r>
              <a:t>โมเดลเล็กอาจเร็วและคุ้มกว่าสำหรับ Classification หรือ FAQ ขณะที่งาน Reasoning และ Document Analysis อาจต้องโมเดลใหญ่ขึ้น</a:t>
            </a:r>
          </a:p>
          <a:p/>
          <a:p>
            <a:r>
              <a:t>ข้อเสนอคือสร้าง Benchmark Dataset จาก Prompt, Document, RAG และ Tool Workflow จริง แล้วเปรียบเทียบ Accuracy, Latency, Throughput และ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31 — GPU &amp; Capacity Planning (Backup)</a:t>
            </a:r>
          </a:p>
          <a:p/>
          <a:p>
            <a:r>
              <a:t>ใช้เมื่อมีคำถามเรื่อง Hardware หรือจำนวนผู้ใช้ที่รองรับ</a:t>
            </a:r>
          </a:p>
          <a:p/>
          <a:p>
            <a:r>
              <a:t>แนวทางพูด:</a:t>
            </a:r>
          </a:p>
          <a:p>
            <a:r>
              <a:t>Capacity ขึ้นกับ Concurrent Generations ไม่ใช่จำนวน Account ปัจจัยหลักคือ Tokens per Second, Context Length, KV Cache, Model Size, RAG และ Tools</a:t>
            </a:r>
          </a:p>
          <a:p/>
          <a:p>
            <a:r>
              <a:t>ต้องแยก Total Users, Active Users, In-flight Requests และ Simultaneous LLM Generations</a:t>
            </a:r>
          </a:p>
          <a:p/>
          <a:p>
            <a:r>
              <a:t>แนวทางที่ถูกต้องคือเก็บ Workload Profile จาก Pilot แล้วทำ Load Test วัด p50/p95 Latency, Queue Depth, GPU Utilization, Memory และ Throughput ก่อน Sizing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32 — Local vs Cloud Decision Matrix (Backup)</a:t>
            </a:r>
          </a:p>
          <a:p/>
          <a:p>
            <a:r>
              <a:t>ใช้เมื่อมีการเปรียบเทียบ Local กับ Cloud</a:t>
            </a:r>
          </a:p>
          <a:p/>
          <a:p>
            <a:r>
              <a:t>แนวทางพูด:</a:t>
            </a:r>
          </a:p>
          <a:p>
            <a:r>
              <a:t>Local เหมาะเมื่อ Data Isolation, Network Independence หรือ Workload Economics มีน้ำหนักสูง แต่ต้องรับภาระ Lifecycle และ Capacity</a:t>
            </a:r>
          </a:p>
          <a:p/>
          <a:p>
            <a:r>
              <a:t>Cloud เหมาะกับ Frontier Capability, Rapid Model Access และ Elastic Burst แต่ต้องตรวจ Data Policy, Connectivity, Quota และ Cost</a:t>
            </a:r>
          </a:p>
          <a:p/>
          <a:p>
            <a:r>
              <a:t>ข้อสรุปไม่ควรเป็นคำตอบเดียวทั้งองค์กร ควรใช้ Policy Routing ตาม Data Classification และ Agent Workload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33 — RAG Security &amp; ACL Flow (Backup)</a:t>
            </a:r>
          </a:p>
          <a:p/>
          <a:p>
            <a:r>
              <a:t>ใช้ตอบคำถามว่าป้องกัน AI เห็นข้อมูลข้ามทีมอย่างไร</a:t>
            </a:r>
          </a:p>
          <a:p/>
          <a:p>
            <a:r>
              <a:t>แนวทางพูด:</a:t>
            </a:r>
          </a:p>
          <a:p>
            <a:r>
              <a:t>Identity และ Group Claims ถูกนำไปสร้าง Query Scope จากนั้น Filter Personal, Team และ Global ACL ก่อน Retrieval</a:t>
            </a:r>
          </a:p>
          <a:p/>
          <a:p>
            <a:r>
              <a:t>Vector Search ต้องคืนเฉพาะ Chunk ที่ผู้ใช้มีสิทธิ์ และเมื่อเปิด Citation ต้องตรวจสิทธิ์ Source Document อีกครั้ง</a:t>
            </a:r>
          </a:p>
          <a:p/>
          <a:p>
            <a:r>
              <a:t>ห้ามพึ่งการซ่อนข้อมูลหน้า UI เพราะ Authorization ต้องอยู่ฝั่ง Server และครอบคลุมทั้ง Search, Retrieval, Citation และ File Download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34 — MCP vs API Integration Architecture (Backup)</a:t>
            </a:r>
          </a:p>
          <a:p/>
          <a:p>
            <a:r>
              <a:t>ใช้เมื่อมีคำถามว่า Integration ต่างจาก MCP อย่างไร</a:t>
            </a:r>
          </a:p>
          <a:p/>
          <a:p>
            <a:r>
              <a:t>แนวทางพูด:</a:t>
            </a:r>
          </a:p>
          <a:p>
            <a:r>
              <a:t>MCP ให้ Interface มาตรฐานสำหรับ Agent ค้นพบและเรียก Tools ส่วน REST/Event API เหมาะกับ Contract และ Workflow ที่กำหนดชัด</a:t>
            </a:r>
          </a:p>
          <a:p/>
          <a:p>
            <a:r>
              <a:t>ทั้งสองควรอยู่ภายใต้ Integration Layer เดียวกัน มี Credential Management, Team Scope, Allowlist, Timeout, Rate Limit, Audit และ Read/Write Policy</a:t>
            </a:r>
          </a:p>
          <a:p/>
          <a:p>
            <a:r>
              <a:t>ไม่ได้จำเป็นต้องเปลี่ยนทุก API เป็น MCP ให้เลือก Pattern ตามระบบปลายทาง ความพร้อม และ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35 — AI Threat Model (Backup)</a:t>
            </a:r>
          </a:p>
          <a:p/>
          <a:p>
            <a:r>
              <a:t>ใช้เมื่อ Security Team ต้องการมอง Threat และ Control</a:t>
            </a:r>
          </a:p>
          <a:p/>
          <a:p>
            <a:r>
              <a:t>แนวทางพูด:</a:t>
            </a:r>
          </a:p>
          <a:p>
            <a:r>
              <a:t>Threat หลักคือ Prompt Injection, Data Exfiltration และ Tool Abuse โดยต้องป้องกันทุกช่วงตั้งแต่ Input, Retrieval, Reasoning, Tool จนถึง Output</a:t>
            </a:r>
          </a:p>
          <a:p/>
          <a:p>
            <a:r>
              <a:t>Control ที่ควรมี ได้แก่ Instruction Boundary, ACL, PII/DLP, Tool Allowlist, Least Privilege, Human Approval และ Metadata Audit</a:t>
            </a:r>
          </a:p>
          <a:p/>
          <a:p>
            <a:r>
              <a:t>ย้ำว่า Guardrail จาก Model เพียงอย่างเดียวไม่เพียงพอ Policy ที่มีผลต่อสิทธิ์และ Tool ต้องบังคับใช้ฝั่ง Application/Server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36 — HA / DR / Backup for Local AI (Backup)</a:t>
            </a:r>
          </a:p>
          <a:p/>
          <a:p>
            <a:r>
              <a:t>ใช้เมื่อ Infrastructure Team ถามถึง Production Readiness</a:t>
            </a:r>
          </a:p>
          <a:p/>
          <a:p>
            <a:r>
              <a:t>แนวทางพูด:</a:t>
            </a:r>
          </a:p>
          <a:p>
            <a:r>
              <a:t>HA ต้องครอบคลุม Access, App Replicas, Workers, Queue, Database, Vector DB, Object Storage และ Inference Gateway/GPU Nodes</a:t>
            </a:r>
          </a:p>
          <a:p/>
          <a:p>
            <a:r>
              <a:t>Backup ต้องเป็น Consistent Set ระหว่าง Metadata, Source Objects และ Vector Index ไม่เช่นนั้น Restore แล้ว Citation หรือ Retrieval อาจไม่สอดคล้องกัน</a:t>
            </a:r>
          </a:p>
          <a:p/>
          <a:p>
            <a:r>
              <a:t>กำหนด RTO/RPO, Monitoring, Backup Retention, Off-site Copy และทำ Restore Drill ตามรอบ เพราะ Backup ที่ไม่เคย Restore ยังถือว่าไม่ได้พิสูจน์</a:t>
            </a:r>
          </a:p>
          <a:p/>
          <a:p>
            <a:r>
              <a:t>ปิดท้ายว่า Production AI ต้องพร้อมทั้งด้าน Security, Recoverability และ Operational 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B1CD"/>
                </a:solidFill>
                <a:latin typeface="Arial"/>
              </a:defRPr>
            </a:pPr>
            <a:r>
              <a:t>ENTERPRISE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566928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Enterprise AI</a:t>
            </a:r>
            <a:br/>
            <a: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26080"/>
            <a:ext cx="525780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200" b="0">
                <a:solidFill>
                  <a:srgbClr val="C9DBEB"/>
                </a:solidFill>
                <a:latin typeface="Arial"/>
              </a:defRPr>
            </a:pPr>
            <a:r>
              <a:t>From Enterprise Knowledge</a:t>
            </a:r>
            <a:br/>
            <a:r>
              <a:t>to Intelligent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1605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169663"/>
            <a:ext cx="16916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25B1CD"/>
                </a:solidFill>
                <a:latin typeface="Arial"/>
              </a:defRPr>
            </a:pPr>
            <a:r>
              <a:t>DISCUSSION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700016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0BAD2"/>
                </a:solidFill>
                <a:latin typeface="Arial"/>
              </a:defRPr>
            </a:pPr>
            <a:r>
              <a:t>Local AI  •  Agentic AI  •  Enterprise Knowledge  •  Secure Integration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3429000"/>
            <a:ext cx="3520440" cy="0"/>
          </a:xfrm>
          <a:prstGeom prst="line">
            <a:avLst/>
          </a:prstGeom>
          <a:ln w="25400">
            <a:solidFill>
              <a:srgbClr val="577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720840" y="2907792"/>
            <a:ext cx="1005840" cy="1005840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916936"/>
            <a:ext cx="1005840" cy="9875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2" name="Oval 11"/>
          <p:cNvSpPr/>
          <p:nvPr/>
        </p:nvSpPr>
        <p:spPr>
          <a:xfrm>
            <a:off x="8823960" y="2487168"/>
            <a:ext cx="1874519" cy="1874519"/>
          </a:xfrm>
          <a:prstGeom prst="ellipse">
            <a:avLst/>
          </a:prstGeom>
          <a:solidFill>
            <a:srgbClr val="1A3754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907792"/>
            <a:ext cx="1874519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2700" b="1">
                <a:solidFill>
                  <a:srgbClr val="F47E20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4" name="Oval 13"/>
          <p:cNvSpPr/>
          <p:nvPr/>
        </p:nvSpPr>
        <p:spPr>
          <a:xfrm>
            <a:off x="10561320" y="2907792"/>
            <a:ext cx="1005840" cy="1005840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1320" y="2916936"/>
            <a:ext cx="1005840" cy="9875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7909560" y="2240280"/>
            <a:ext cx="164592" cy="164592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7991856" y="2322576"/>
            <a:ext cx="1773936" cy="1106424"/>
          </a:xfrm>
          <a:prstGeom prst="line">
            <a:avLst/>
          </a:prstGeom>
          <a:ln w="11430">
            <a:solidFill>
              <a:srgbClr val="466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065008" y="4434840"/>
            <a:ext cx="128016" cy="128016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8129016" y="3429000"/>
            <a:ext cx="1636776" cy="1069848"/>
          </a:xfrm>
          <a:prstGeom prst="line">
            <a:avLst/>
          </a:prstGeom>
          <a:ln w="11430">
            <a:solidFill>
              <a:srgbClr val="466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607040" y="2011680"/>
            <a:ext cx="137160" cy="137160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9765792" y="2080260"/>
            <a:ext cx="909827" cy="1348740"/>
          </a:xfrm>
          <a:prstGeom prst="line">
            <a:avLst/>
          </a:prstGeom>
          <a:ln w="11430">
            <a:solidFill>
              <a:srgbClr val="466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1292840" y="4224528"/>
            <a:ext cx="182880" cy="182880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765792" y="3429000"/>
            <a:ext cx="1618488" cy="886968"/>
          </a:xfrm>
          <a:prstGeom prst="line">
            <a:avLst/>
          </a:prstGeom>
          <a:ln w="11430">
            <a:solidFill>
              <a:srgbClr val="466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738360" y="5074920"/>
            <a:ext cx="118872" cy="118872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765792" y="3429000"/>
            <a:ext cx="32004" cy="1705356"/>
          </a:xfrm>
          <a:prstGeom prst="line">
            <a:avLst/>
          </a:prstGeom>
          <a:ln w="11430">
            <a:solidFill>
              <a:srgbClr val="466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37960" y="5559552"/>
            <a:ext cx="4983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AI becomes the secure intelligence and orchestration layer across existing systems.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217920"/>
            <a:ext cx="3840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8BA6BE"/>
                </a:solidFill>
                <a:latin typeface="Arial"/>
              </a:defRPr>
            </a:pPr>
            <a:r>
              <a:t>Prepared for KGI Securities Thailand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AI Is Moving Beyond Chat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803904"/>
            <a:ext cx="9966960" cy="0"/>
          </a:xfrm>
          <a:prstGeom prst="line">
            <a:avLst/>
          </a:prstGeom>
          <a:ln w="6350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13232" y="3511296"/>
            <a:ext cx="585216" cy="585216"/>
          </a:xfrm>
          <a:prstGeom prst="ellipse">
            <a:avLst/>
          </a:prstGeom>
          <a:solidFill>
            <a:srgbClr val="B0BECA"/>
          </a:solidFill>
          <a:ln>
            <a:solidFill>
              <a:srgbClr val="B0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48840"/>
            <a:ext cx="95097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B0BECA"/>
                </a:solidFill>
                <a:latin typeface="Arial"/>
              </a:defRPr>
            </a:pPr>
            <a:r>
              <a:t>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633472"/>
            <a:ext cx="1225295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General conversation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1609344" y="3547872"/>
            <a:ext cx="347472" cy="475488"/>
          </a:xfrm>
          <a:prstGeom prst="chevron">
            <a:avLst/>
          </a:prstGeom>
          <a:solidFill>
            <a:srgbClr val="B0BECA"/>
          </a:solidFill>
          <a:ln>
            <a:solidFill>
              <a:srgbClr val="B0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26080" y="3429000"/>
            <a:ext cx="749808" cy="749808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148840"/>
            <a:ext cx="1115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C70CA"/>
                </a:solidFill>
                <a:latin typeface="Arial"/>
              </a:defRPr>
            </a:pPr>
            <a:r>
              <a:t>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633472"/>
            <a:ext cx="1389888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Enterprise RAG</a:t>
            </a:r>
          </a:p>
        </p:txBody>
      </p:sp>
      <p:sp>
        <p:nvSpPr>
          <p:cNvPr id="14" name="Chevron 13"/>
          <p:cNvSpPr/>
          <p:nvPr/>
        </p:nvSpPr>
        <p:spPr>
          <a:xfrm>
            <a:off x="3986784" y="3547872"/>
            <a:ext cx="347472" cy="475488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800" y="3332988"/>
            <a:ext cx="941832" cy="941832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148840"/>
            <a:ext cx="13075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25B1CD"/>
                </a:solidFill>
                <a:latin typeface="Arial"/>
              </a:defRPr>
            </a:pPr>
            <a: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33472"/>
            <a:ext cx="1581912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Understand context</a:t>
            </a:r>
          </a:p>
        </p:txBody>
      </p:sp>
      <p:sp>
        <p:nvSpPr>
          <p:cNvPr id="18" name="Chevron 17"/>
          <p:cNvSpPr/>
          <p:nvPr/>
        </p:nvSpPr>
        <p:spPr>
          <a:xfrm>
            <a:off x="6510528" y="3547872"/>
            <a:ext cx="347472" cy="475488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26679" y="3236976"/>
            <a:ext cx="1133856" cy="1133856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148840"/>
            <a:ext cx="14996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47E20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33472"/>
            <a:ext cx="177393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Call enterprise systems</a:t>
            </a:r>
          </a:p>
        </p:txBody>
      </p:sp>
      <p:sp>
        <p:nvSpPr>
          <p:cNvPr id="22" name="Chevron 21"/>
          <p:cNvSpPr/>
          <p:nvPr/>
        </p:nvSpPr>
        <p:spPr>
          <a:xfrm>
            <a:off x="9171432" y="3547872"/>
            <a:ext cx="347472" cy="475488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0" y="3127248"/>
            <a:ext cx="1353312" cy="1353312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148840"/>
            <a:ext cx="17190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249465"/>
                </a:solidFill>
                <a:latin typeface="Arial"/>
              </a:defRPr>
            </a:pPr>
            <a:r>
              <a:t>AUTONOMY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633472"/>
            <a:ext cx="1993391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Execute governed workflows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458968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623560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The next wave of enterprise AI is not only about generating answers — it is about completing 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Why Enterprise AI, Why Now?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6592" y="2670048"/>
            <a:ext cx="2743200" cy="1234440"/>
          </a:xfrm>
          <a:prstGeom prst="roundRect">
            <a:avLst>
              <a:gd name="adj" fmla="val 12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36592" y="2953512"/>
            <a:ext cx="27432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ENTERPRISE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32461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64008" cy="1124712"/>
          </a:xfrm>
          <a:prstGeom prst="rect">
            <a:avLst/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280720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MODEL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77063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Reasoning  •  Tool calling  •  Multimodal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221992"/>
            <a:ext cx="832105" cy="1060704"/>
          </a:xfrm>
          <a:prstGeom prst="line">
            <a:avLst/>
          </a:prstGeom>
          <a:ln w="2286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4370832"/>
            <a:ext cx="32461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370832"/>
            <a:ext cx="64008" cy="1124712"/>
          </a:xfrm>
          <a:prstGeom prst="rect">
            <a:avLst/>
          </a:prstGeom>
          <a:solidFill>
            <a:srgbClr val="25B1CD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81144"/>
            <a:ext cx="280720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ENTERPRISE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84064"/>
            <a:ext cx="277063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RAG  •  Vector search  •  Document intelligence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904487" y="3282696"/>
            <a:ext cx="832105" cy="1645920"/>
          </a:xfrm>
          <a:prstGeom prst="line">
            <a:avLst/>
          </a:prstGeom>
          <a:ln w="22860">
            <a:solidFill>
              <a:srgbClr val="25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02752" y="1664208"/>
            <a:ext cx="32461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1664208"/>
            <a:ext cx="64008" cy="1124712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4" y="1874520"/>
            <a:ext cx="280720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SYSTEM CONNECTIVITY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2377440"/>
            <a:ext cx="277063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API  •  MCP  •  Workflow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479792" y="2221992"/>
            <a:ext cx="822960" cy="1060704"/>
          </a:xfrm>
          <a:prstGeom prst="line">
            <a:avLst/>
          </a:prstGeom>
          <a:ln w="2286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02752" y="4370832"/>
            <a:ext cx="3246120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2752" y="4370832"/>
            <a:ext cx="64008" cy="1124712"/>
          </a:xfrm>
          <a:prstGeom prst="rect">
            <a:avLst/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4581144"/>
            <a:ext cx="280720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AI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5084064"/>
            <a:ext cx="277063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GPU  •  Local LLM  •  Cloud AI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7479792" y="3282696"/>
            <a:ext cx="822960" cy="1645920"/>
          </a:xfrm>
          <a:prstGeom prst="line">
            <a:avLst/>
          </a:prstGeom>
          <a:ln w="2286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" y="5760720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5925312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The capabilities required to move AI from experimentation into enterprise operations are now converging.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The Opportunity Is Bigger Than a Chatbot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4297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BE3D3D"/>
                </a:solidFill>
                <a:latin typeface="Arial"/>
              </a:defRPr>
            </a:pPr>
            <a:r>
              <a:t>USE-CASE-BY-USE-CASE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48840"/>
            <a:ext cx="1097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1097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920240"/>
            <a:ext cx="1097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057400"/>
            <a:ext cx="1097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0752" y="2240280"/>
            <a:ext cx="1097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377440"/>
            <a:ext cx="1097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DOC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3520440"/>
            <a:ext cx="1097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657600"/>
            <a:ext cx="1097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SEC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3493008"/>
            <a:ext cx="10972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3630168"/>
            <a:ext cx="1097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R&amp;D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681728"/>
            <a:ext cx="388620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rial"/>
              </a:defRPr>
            </a:pPr>
            <a:r>
              <a:t>Duplicated infrastructure</a:t>
            </a:r>
            <a:br/>
            <a:r>
              <a:t>Inconsistent security</a:t>
            </a:r>
            <a:br/>
            <a:r>
              <a:t>Isolated knowledge</a:t>
            </a:r>
            <a:br/>
            <a:r>
              <a:t>Difficult governance</a:t>
            </a:r>
          </a:p>
        </p:txBody>
      </p:sp>
      <p:sp>
        <p:nvSpPr>
          <p:cNvPr id="18" name="Chevron 17"/>
          <p:cNvSpPr/>
          <p:nvPr/>
        </p:nvSpPr>
        <p:spPr>
          <a:xfrm>
            <a:off x="5486400" y="3127248"/>
            <a:ext cx="658368" cy="77724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059936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47E20"/>
                </a:solidFill>
                <a:latin typeface="Arial"/>
              </a:defRPr>
            </a:pPr>
            <a:r>
              <a:t>BUILD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1968" y="1755648"/>
            <a:ext cx="4892040" cy="3584448"/>
          </a:xfrm>
          <a:prstGeom prst="roundRect">
            <a:avLst>
              <a:gd name="adj" fmla="val 12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2029968"/>
            <a:ext cx="4160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ENTERPRISE AI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679192"/>
            <a:ext cx="43434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25B1CD"/>
                </a:solidFill>
                <a:latin typeface="Arial"/>
              </a:defRPr>
            </a:pPr>
            <a:r>
              <a:t>HR    |    IT    |    SECURITY    |    COMPLIANCE    |    RESEARCH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67728" y="3200400"/>
            <a:ext cx="4169664" cy="0"/>
          </a:xfrm>
          <a:prstGeom prst="line">
            <a:avLst/>
          </a:prstGeom>
          <a:ln w="12700">
            <a:solidFill>
              <a:srgbClr val="1A3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67728" y="3511296"/>
            <a:ext cx="1234440" cy="420624"/>
          </a:xfrm>
          <a:prstGeom prst="roundRect">
            <a:avLst>
              <a:gd name="adj" fmla="val 6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3584448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75904" y="3511296"/>
            <a:ext cx="1234440" cy="420624"/>
          </a:xfrm>
          <a:prstGeom prst="roundRect">
            <a:avLst>
              <a:gd name="adj" fmla="val 6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3584448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3511296"/>
            <a:ext cx="1234440" cy="420624"/>
          </a:xfrm>
          <a:prstGeom prst="roundRect">
            <a:avLst>
              <a:gd name="adj" fmla="val 6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584448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7728" y="4133087"/>
            <a:ext cx="1234440" cy="420624"/>
          </a:xfrm>
          <a:prstGeom prst="roundRect">
            <a:avLst>
              <a:gd name="adj" fmla="val 6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4206240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75904" y="4133087"/>
            <a:ext cx="1234440" cy="420624"/>
          </a:xfrm>
          <a:prstGeom prst="roundRect">
            <a:avLst>
              <a:gd name="adj" fmla="val 6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4206240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4133087"/>
            <a:ext cx="1234440" cy="420624"/>
          </a:xfrm>
          <a:prstGeom prst="roundRect">
            <a:avLst>
              <a:gd name="adj" fmla="val 6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206240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Observability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" y="570585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587044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Build the AI foundation once. Extend it through specialized agents.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WHAT THE PLATFORM SHOULD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The Enterprise AI Value Chain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828800"/>
            <a:ext cx="2304288" cy="2304288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30428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52928"/>
            <a:ext cx="230428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Enterprise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325112"/>
            <a:ext cx="2450592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rial"/>
              </a:defRPr>
            </a:pPr>
            <a:r>
              <a:t>Documents</a:t>
            </a:r>
            <a:br/>
            <a:r>
              <a:t>Policies</a:t>
            </a:r>
            <a:br/>
            <a:r>
              <a:t>Databases</a:t>
            </a:r>
            <a:br/>
            <a:r>
              <a:t>Knowledge bases</a:t>
            </a:r>
          </a:p>
        </p:txBody>
      </p:sp>
      <p:sp>
        <p:nvSpPr>
          <p:cNvPr id="10" name="Chevron 9"/>
          <p:cNvSpPr/>
          <p:nvPr/>
        </p:nvSpPr>
        <p:spPr>
          <a:xfrm>
            <a:off x="3840480" y="2688336"/>
            <a:ext cx="438912" cy="585216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60" y="1828800"/>
            <a:ext cx="2304288" cy="2304288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331720"/>
            <a:ext cx="230428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THINK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52928"/>
            <a:ext cx="230428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Reason &amp;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325112"/>
            <a:ext cx="2450592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rial"/>
              </a:defRPr>
            </a:pPr>
            <a:r>
              <a:t>LLM</a:t>
            </a:r>
            <a:br/>
            <a:r>
              <a:t>Context</a:t>
            </a:r>
            <a:br/>
            <a:r>
              <a:t>Agent</a:t>
            </a:r>
            <a:br/>
            <a:r>
              <a:t>Decision support</a:t>
            </a:r>
          </a:p>
        </p:txBody>
      </p:sp>
      <p:sp>
        <p:nvSpPr>
          <p:cNvPr id="15" name="Chevron 14"/>
          <p:cNvSpPr/>
          <p:nvPr/>
        </p:nvSpPr>
        <p:spPr>
          <a:xfrm>
            <a:off x="7406640" y="2688336"/>
            <a:ext cx="438912" cy="585216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1828800"/>
            <a:ext cx="2304288" cy="2304288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31720"/>
            <a:ext cx="230428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52928"/>
            <a:ext cx="230428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Enterprise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4325112"/>
            <a:ext cx="2450592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rial"/>
              </a:defRPr>
            </a:pPr>
            <a:r>
              <a:t>PeopleSoft</a:t>
            </a:r>
            <a:br/>
            <a:r>
              <a:t>K2</a:t>
            </a:r>
            <a:br/>
            <a:r>
              <a:t>API</a:t>
            </a:r>
            <a:br/>
            <a:r>
              <a:t>Workflow /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559552"/>
            <a:ext cx="10469880" cy="475488"/>
          </a:xfrm>
          <a:prstGeom prst="roundRect">
            <a:avLst>
              <a:gd name="adj" fmla="val 5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650992"/>
            <a:ext cx="10469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IDENTITY  •  SECURITY  •  GOVERNANCE  • 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WHAT THE PLATFORM SHOULD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Enterprise AI Requires More Than an LLM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627632"/>
            <a:ext cx="973836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1627632"/>
            <a:ext cx="1965960" cy="566928"/>
          </a:xfrm>
          <a:prstGeom prst="roundRect">
            <a:avLst>
              <a:gd name="adj" fmla="val 4000"/>
            </a:avLst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728216"/>
            <a:ext cx="181965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1737360"/>
            <a:ext cx="74523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Web   |   Mobile   |   Teams   |  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286000"/>
            <a:ext cx="973836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2286000"/>
            <a:ext cx="1965960" cy="566928"/>
          </a:xfrm>
          <a:prstGeom prst="roundRect">
            <a:avLst>
              <a:gd name="adj" fmla="val 4000"/>
            </a:avLst>
          </a:prstGeom>
          <a:solidFill>
            <a:srgbClr val="25B1CD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2386584"/>
            <a:ext cx="181965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395728"/>
            <a:ext cx="74523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HR   |   IT   |   Security   |   Compliance   |   Business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944368"/>
            <a:ext cx="973836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2944368"/>
            <a:ext cx="1965960" cy="566928"/>
          </a:xfrm>
          <a:prstGeom prst="roundRect">
            <a:avLst>
              <a:gd name="adj" fmla="val 4000"/>
            </a:avLst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7592" y="3044951"/>
            <a:ext cx="181965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054096"/>
            <a:ext cx="74523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Orchestration   |   RAG   |   Reasoning   |  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602736"/>
            <a:ext cx="973836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3602736"/>
            <a:ext cx="1965960" cy="566928"/>
          </a:xfrm>
          <a:prstGeom prst="roundRect">
            <a:avLst>
              <a:gd name="adj" fmla="val 4000"/>
            </a:avLst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3703320"/>
            <a:ext cx="181965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CONNECTIVITY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3712464"/>
            <a:ext cx="74523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API   |   MCP   |   Database   |   Workflow   |  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261104"/>
            <a:ext cx="973836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4261104"/>
            <a:ext cx="1965960" cy="566928"/>
          </a:xfrm>
          <a:prstGeom prst="roundRect">
            <a:avLst>
              <a:gd name="adj" fmla="val 4000"/>
            </a:avLst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07592" y="4361688"/>
            <a:ext cx="181965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MODEL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2" y="4370832"/>
            <a:ext cx="74523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Local   |   Private   |   Cloud   |   Embedding   |   Vision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919472"/>
            <a:ext cx="973836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34440" y="4919472"/>
            <a:ext cx="1965960" cy="566928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7592" y="5020056"/>
            <a:ext cx="181965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 &amp;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5029200"/>
            <a:ext cx="74523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Documents   |   Database   |   Vector   |   Object storage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1627632"/>
            <a:ext cx="493776" cy="3858768"/>
          </a:xfrm>
          <a:prstGeom prst="roundRect">
            <a:avLst>
              <a:gd name="adj" fmla="val 4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194560"/>
            <a:ext cx="493776" cy="2697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SECURITY</a:t>
            </a:r>
            <a:br/>
            <a:r>
              <a:t>&amp;</a:t>
            </a:r>
            <a:br/>
            <a:r>
              <a:t>GOVERNANCE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73968" y="1627632"/>
            <a:ext cx="493776" cy="3858768"/>
          </a:xfrm>
          <a:prstGeom prst="roundRect">
            <a:avLst>
              <a:gd name="adj" fmla="val 4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73968" y="2340864"/>
            <a:ext cx="493776" cy="2148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AI</a:t>
            </a:r>
            <a:br/>
            <a:r>
              <a:t>OPERATIONS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570585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77240" y="587044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Security and observability span every layer — from retrieval through tool execution.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ENTERPRISE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Turn Enterprise Information into Trusted AI Knowledge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965960"/>
            <a:ext cx="1572768" cy="25146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221992"/>
            <a:ext cx="548640" cy="548640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31136"/>
            <a:ext cx="548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91693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1C70CA"/>
                </a:solidFill>
                <a:latin typeface="Arial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319272"/>
            <a:ext cx="135331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PDF</a:t>
            </a:r>
            <a:br/>
            <a:r>
              <a:t>Office</a:t>
            </a:r>
            <a:br/>
            <a:r>
              <a:t>SharePoint</a:t>
            </a:r>
            <a:br/>
            <a:r>
              <a:t>Database</a:t>
            </a:r>
            <a:br/>
            <a:r>
              <a:t>Internal web</a:t>
            </a:r>
          </a:p>
        </p:txBody>
      </p:sp>
      <p:sp>
        <p:nvSpPr>
          <p:cNvPr id="11" name="Chevron 10"/>
          <p:cNvSpPr/>
          <p:nvPr/>
        </p:nvSpPr>
        <p:spPr>
          <a:xfrm>
            <a:off x="2093976" y="2862072"/>
            <a:ext cx="274320" cy="45720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14016" y="1965960"/>
            <a:ext cx="1572768" cy="25146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0" y="2221992"/>
            <a:ext cx="548640" cy="548640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231136"/>
            <a:ext cx="548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91693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25B1CD"/>
                </a:solidFill>
                <a:latin typeface="Arial"/>
              </a:defRPr>
            </a:pPr>
            <a: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3319272"/>
            <a:ext cx="135331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Extract</a:t>
            </a:r>
            <a:br/>
            <a:r>
              <a:t>OCR</a:t>
            </a:r>
            <a:br/>
            <a:r>
              <a:t>Classify</a:t>
            </a:r>
            <a:br/>
            <a:r>
              <a:t>Chunk</a:t>
            </a:r>
          </a:p>
        </p:txBody>
      </p:sp>
      <p:sp>
        <p:nvSpPr>
          <p:cNvPr id="17" name="Chevron 16"/>
          <p:cNvSpPr/>
          <p:nvPr/>
        </p:nvSpPr>
        <p:spPr>
          <a:xfrm>
            <a:off x="4032504" y="2862072"/>
            <a:ext cx="274320" cy="457200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2544" y="1965960"/>
            <a:ext cx="1572768" cy="25146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64608" y="2221992"/>
            <a:ext cx="548640" cy="548640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231136"/>
            <a:ext cx="548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91693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47E20"/>
                </a:solidFill>
                <a:latin typeface="Arial"/>
              </a:defRPr>
            </a:pPr>
            <a:r>
              <a:t>UNDERSTAND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319272"/>
            <a:ext cx="135331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Metadata</a:t>
            </a:r>
            <a:br/>
            <a:r>
              <a:t>Embedding</a:t>
            </a:r>
            <a:br/>
            <a:r>
              <a:t>Index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1031" y="2862072"/>
            <a:ext cx="274320" cy="45720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91072" y="1965960"/>
            <a:ext cx="1572768" cy="2514600"/>
          </a:xfrm>
          <a:prstGeom prst="roundRect">
            <a:avLst>
              <a:gd name="adj" fmla="val 8000"/>
            </a:avLst>
          </a:prstGeom>
          <a:solidFill>
            <a:srgbClr val="08182B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3136" y="2221992"/>
            <a:ext cx="548640" cy="548640"/>
          </a:xfrm>
          <a:prstGeom prst="ellipse">
            <a:avLst/>
          </a:prstGeom>
          <a:solidFill>
            <a:srgbClr val="1A3754"/>
          </a:solidFill>
          <a:ln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3136" y="2231136"/>
            <a:ext cx="548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1693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25B1CD"/>
                </a:solidFill>
                <a:latin typeface="Arial"/>
              </a:defRPr>
            </a:pPr>
            <a:r>
              <a:t>GOVERN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19272"/>
            <a:ext cx="135331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ACL</a:t>
            </a:r>
            <a:br/>
            <a:r>
              <a:t>Classification</a:t>
            </a:r>
            <a:br/>
            <a:r>
              <a:t>Retention</a:t>
            </a:r>
          </a:p>
        </p:txBody>
      </p:sp>
      <p:sp>
        <p:nvSpPr>
          <p:cNvPr id="29" name="Chevron 28"/>
          <p:cNvSpPr/>
          <p:nvPr/>
        </p:nvSpPr>
        <p:spPr>
          <a:xfrm>
            <a:off x="7909560" y="2862072"/>
            <a:ext cx="274320" cy="457200"/>
          </a:xfrm>
          <a:prstGeom prst="chevron">
            <a:avLst/>
          </a:prstGeom>
          <a:solidFill>
            <a:srgbClr val="1A3754"/>
          </a:solidFill>
          <a:ln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1965960"/>
            <a:ext cx="1572768" cy="25146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41664" y="2221992"/>
            <a:ext cx="548640" cy="548640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41664" y="2231136"/>
            <a:ext cx="548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91693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249465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319272"/>
            <a:ext cx="135331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Semantic</a:t>
            </a:r>
            <a:br/>
            <a:r>
              <a:t>Hybrid</a:t>
            </a:r>
            <a:br/>
            <a:r>
              <a:t>Metadata filter</a:t>
            </a:r>
          </a:p>
        </p:txBody>
      </p:sp>
      <p:sp>
        <p:nvSpPr>
          <p:cNvPr id="35" name="Chevron 34"/>
          <p:cNvSpPr/>
          <p:nvPr/>
        </p:nvSpPr>
        <p:spPr>
          <a:xfrm>
            <a:off x="9848088" y="2862072"/>
            <a:ext cx="274320" cy="457200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68128" y="1965960"/>
            <a:ext cx="1572768" cy="25146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80192" y="2221992"/>
            <a:ext cx="548640" cy="548640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80192" y="2231136"/>
            <a:ext cx="548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77856" y="2916936"/>
            <a:ext cx="1353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1C70CA"/>
                </a:solidFill>
                <a:latin typeface="Arial"/>
              </a:defRPr>
            </a:pPr>
            <a:r>
              <a:t>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7856" y="3319272"/>
            <a:ext cx="135331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Grounded response</a:t>
            </a:r>
            <a:br/>
            <a:r>
              <a:t>Citation</a:t>
            </a:r>
            <a:br/>
            <a:r>
              <a:t>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5102352"/>
            <a:ext cx="9902952" cy="566928"/>
          </a:xfrm>
          <a:prstGeom prst="roundRect">
            <a:avLst>
              <a:gd name="adj" fmla="val 5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239512"/>
            <a:ext cx="99029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47E20"/>
                </a:solidFill>
                <a:latin typeface="Arial"/>
              </a:defRPr>
            </a:pPr>
            <a:r>
              <a:t>The AI should only retrieve information the user is authorized to see.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LOCAL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Why Local AI Matters for the Enterprise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4736592" y="2029968"/>
            <a:ext cx="2670048" cy="2670048"/>
          </a:xfrm>
          <a:prstGeom prst="ellipse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36592" y="2679192"/>
            <a:ext cx="2670048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LOCAL</a:t>
            </a:r>
            <a:br/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DATA CONTROL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79" y="2487168"/>
            <a:ext cx="4059937" cy="877824"/>
          </a:xfrm>
          <a:prstGeom prst="line">
            <a:avLst/>
          </a:prstGeom>
          <a:ln w="1651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7552" y="4297680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462272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5B1CD"/>
                </a:solidFill>
                <a:latin typeface="Arial"/>
              </a:defRPr>
            </a:pPr>
            <a:r>
              <a:t>PRIVACY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249424" y="3364992"/>
            <a:ext cx="3822192" cy="932688"/>
          </a:xfrm>
          <a:prstGeom prst="line">
            <a:avLst/>
          </a:prstGeom>
          <a:ln w="16510">
            <a:solidFill>
              <a:srgbClr val="25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05672" y="1810512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1975104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49465"/>
                </a:solidFill>
                <a:latin typeface="Arial"/>
              </a:defRPr>
            </a:pPr>
            <a:r>
              <a:t>INFRASTRUCTURE CONTROL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71616" y="2468880"/>
            <a:ext cx="3995928" cy="896112"/>
          </a:xfrm>
          <a:prstGeom prst="line">
            <a:avLst/>
          </a:prstGeom>
          <a:ln w="1651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24544" y="4315968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4544" y="4480559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NETWORK ISOLATION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6071616" y="3364992"/>
            <a:ext cx="4114800" cy="950976"/>
          </a:xfrm>
          <a:prstGeom prst="line">
            <a:avLst/>
          </a:prstGeom>
          <a:ln w="1651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52544" y="5093208"/>
            <a:ext cx="2514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5257800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7E20"/>
                </a:solidFill>
                <a:latin typeface="Arial"/>
              </a:defRPr>
            </a:pPr>
            <a:r>
              <a:t>WORKLOAD ECONOMICS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614416" y="3364992"/>
            <a:ext cx="457200" cy="1728216"/>
          </a:xfrm>
          <a:prstGeom prst="line">
            <a:avLst/>
          </a:prstGeom>
          <a:ln w="1651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19872" y="5084064"/>
            <a:ext cx="3291840" cy="896112"/>
          </a:xfrm>
          <a:prstGeom prst="roundRect">
            <a:avLst>
              <a:gd name="adj" fmla="val 8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5248656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47E20"/>
                </a:solidFill>
                <a:latin typeface="Arial"/>
              </a:defRPr>
            </a:pPr>
            <a:r>
              <a:t>Operational responsibility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5559552"/>
            <a:ext cx="2834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B6C7B"/>
                </a:solidFill>
                <a:latin typeface="Arial"/>
              </a:defRPr>
            </a:pPr>
            <a:r>
              <a:t>GPU capacity  •  Lifecycle  •  Performance  •  AI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LOCAL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The Target Is Controlled Model Choice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2468880" cy="3063240"/>
          </a:xfrm>
          <a:prstGeom prst="roundRect">
            <a:avLst>
              <a:gd name="adj" fmla="val 10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39696"/>
            <a:ext cx="24688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POLICY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88920"/>
            <a:ext cx="1874519" cy="1536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C7D9EA"/>
                </a:solidFill>
                <a:latin typeface="Arial"/>
              </a:defRPr>
            </a:pPr>
            <a:r>
              <a:t>Data classification</a:t>
            </a:r>
            <a:br/>
            <a:r>
              <a:t>Agent policy</a:t>
            </a:r>
            <a:br/>
            <a:r>
              <a:t>Model capability</a:t>
            </a:r>
            <a:br/>
            <a:r>
              <a:t>Cost</a:t>
            </a:r>
            <a:br/>
            <a:r>
              <a:t>Latency</a:t>
            </a:r>
          </a:p>
        </p:txBody>
      </p:sp>
      <p:sp>
        <p:nvSpPr>
          <p:cNvPr id="9" name="Chevron 8"/>
          <p:cNvSpPr/>
          <p:nvPr/>
        </p:nvSpPr>
        <p:spPr>
          <a:xfrm>
            <a:off x="3474720" y="3044952"/>
            <a:ext cx="594360" cy="694944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47088"/>
            <a:ext cx="2057400" cy="3063240"/>
          </a:xfrm>
          <a:prstGeom prst="roundRect">
            <a:avLst>
              <a:gd name="adj" fmla="val 10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852928"/>
            <a:ext cx="205740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F47E20"/>
                </a:solidFill>
                <a:latin typeface="Arial"/>
              </a:defRPr>
            </a:pPr>
            <a:r>
              <a:t>AI MODEL</a:t>
            </a:r>
            <a:br/>
            <a:r>
              <a:t>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4848" y="1783080"/>
            <a:ext cx="425196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947672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70CA"/>
                </a:solidFill>
                <a:latin typeface="Arial"/>
              </a:defRPr>
            </a:pPr>
            <a:r>
              <a:t>LOCAL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1965960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0">
                <a:solidFill>
                  <a:srgbClr val="5B6C7B"/>
                </a:solidFill>
                <a:latin typeface="Arial"/>
              </a:defRPr>
            </a:pPr>
            <a:r>
              <a:t>Sensitive / internal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400800" y="2212848"/>
            <a:ext cx="384048" cy="1161288"/>
          </a:xfrm>
          <a:prstGeom prst="line">
            <a:avLst/>
          </a:prstGeom>
          <a:ln w="1778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84848" y="2953512"/>
            <a:ext cx="425196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3118104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249465"/>
                </a:solidFill>
                <a:latin typeface="Arial"/>
              </a:defRPr>
            </a:pPr>
            <a:r>
              <a:t>PRIVATE / MANAGED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136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0">
                <a:solidFill>
                  <a:srgbClr val="5B6C7B"/>
                </a:solidFill>
                <a:latin typeface="Arial"/>
              </a:defRPr>
            </a:pPr>
            <a:r>
              <a:t>Controlled enterprise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3374136"/>
            <a:ext cx="384048" cy="9144"/>
          </a:xfrm>
          <a:prstGeom prst="line">
            <a:avLst/>
          </a:prstGeom>
          <a:ln w="1778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4848" y="4123944"/>
            <a:ext cx="4251960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4288536"/>
            <a:ext cx="2514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F47E20"/>
                </a:solidFill>
                <a:latin typeface="Arial"/>
              </a:defRPr>
            </a:pPr>
            <a:r>
              <a:t>FRONTIER CLOUD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4306824"/>
            <a:ext cx="1508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0">
                <a:solidFill>
                  <a:srgbClr val="5B6C7B"/>
                </a:solidFill>
                <a:latin typeface="Arial"/>
              </a:defRPr>
            </a:pPr>
            <a:r>
              <a:t>Advanced / specialized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3374136"/>
            <a:ext cx="384048" cy="1179576"/>
          </a:xfrm>
          <a:prstGeom prst="line">
            <a:avLst/>
          </a:prstGeom>
          <a:ln w="1778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" y="5596128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760720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Route each workload to the right model under enterprise policy.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Zero Trust Must Extend into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758952" y="1965960"/>
            <a:ext cx="822960" cy="822960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0552"/>
            <a:ext cx="822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035808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438144"/>
            <a:ext cx="15727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Identity</a:t>
            </a:r>
          </a:p>
        </p:txBody>
      </p:sp>
      <p:sp>
        <p:nvSpPr>
          <p:cNvPr id="10" name="Chevron 9"/>
          <p:cNvSpPr/>
          <p:nvPr/>
        </p:nvSpPr>
        <p:spPr>
          <a:xfrm>
            <a:off x="1837944" y="2185416"/>
            <a:ext cx="256032" cy="384048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32304" y="1965960"/>
            <a:ext cx="822960" cy="822960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2304" y="2130552"/>
            <a:ext cx="822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035808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AUTHENTICATE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438144"/>
            <a:ext cx="15727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Who are you?</a:t>
            </a:r>
          </a:p>
        </p:txBody>
      </p:sp>
      <p:sp>
        <p:nvSpPr>
          <p:cNvPr id="15" name="Chevron 14"/>
          <p:cNvSpPr/>
          <p:nvPr/>
        </p:nvSpPr>
        <p:spPr>
          <a:xfrm>
            <a:off x="3511296" y="2185416"/>
            <a:ext cx="256032" cy="384048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5656" y="1965960"/>
            <a:ext cx="822960" cy="822960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2130552"/>
            <a:ext cx="822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035808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25B1CD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3438144"/>
            <a:ext cx="15727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Which agent?</a:t>
            </a:r>
          </a:p>
        </p:txBody>
      </p:sp>
      <p:sp>
        <p:nvSpPr>
          <p:cNvPr id="20" name="Chevron 19"/>
          <p:cNvSpPr/>
          <p:nvPr/>
        </p:nvSpPr>
        <p:spPr>
          <a:xfrm>
            <a:off x="5184648" y="2185416"/>
            <a:ext cx="256032" cy="384048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79008" y="1965960"/>
            <a:ext cx="822960" cy="822960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2130552"/>
            <a:ext cx="822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3035808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249465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3438144"/>
            <a:ext cx="15727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Which data?</a:t>
            </a:r>
          </a:p>
        </p:txBody>
      </p:sp>
      <p:sp>
        <p:nvSpPr>
          <p:cNvPr id="25" name="Chevron 24"/>
          <p:cNvSpPr/>
          <p:nvPr/>
        </p:nvSpPr>
        <p:spPr>
          <a:xfrm>
            <a:off x="6858000" y="2185416"/>
            <a:ext cx="256032" cy="384048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52360" y="1965960"/>
            <a:ext cx="822960" cy="822960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30552"/>
            <a:ext cx="822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456" y="3035808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3438144"/>
            <a:ext cx="15727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Which system?</a:t>
            </a:r>
          </a:p>
        </p:txBody>
      </p:sp>
      <p:sp>
        <p:nvSpPr>
          <p:cNvPr id="30" name="Chevron 29"/>
          <p:cNvSpPr/>
          <p:nvPr/>
        </p:nvSpPr>
        <p:spPr>
          <a:xfrm>
            <a:off x="8531352" y="2185416"/>
            <a:ext cx="256032" cy="384048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25712" y="1965960"/>
            <a:ext cx="822960" cy="822960"/>
          </a:xfrm>
          <a:prstGeom prst="ellipse">
            <a:avLst/>
          </a:prstGeom>
          <a:solidFill>
            <a:srgbClr val="BE3D3D"/>
          </a:solidFill>
          <a:ln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5712" y="2130552"/>
            <a:ext cx="822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3035808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BE3D3D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3438144"/>
            <a:ext cx="15727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What can execute?</a:t>
            </a:r>
          </a:p>
        </p:txBody>
      </p:sp>
      <p:sp>
        <p:nvSpPr>
          <p:cNvPr id="35" name="Chevron 34"/>
          <p:cNvSpPr/>
          <p:nvPr/>
        </p:nvSpPr>
        <p:spPr>
          <a:xfrm>
            <a:off x="10204704" y="2185416"/>
            <a:ext cx="256032" cy="384048"/>
          </a:xfrm>
          <a:prstGeom prst="chevron">
            <a:avLst/>
          </a:prstGeom>
          <a:solidFill>
            <a:srgbClr val="BE3D3D"/>
          </a:solidFill>
          <a:ln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99064" y="1965960"/>
            <a:ext cx="822960" cy="822960"/>
          </a:xfrm>
          <a:prstGeom prst="ellipse">
            <a:avLst/>
          </a:prstGeom>
          <a:solidFill>
            <a:srgbClr val="1A3754"/>
          </a:solidFill>
          <a:ln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9064" y="2130552"/>
            <a:ext cx="822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3035808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A3754"/>
                </a:solidFill>
                <a:latin typeface="Arial"/>
              </a:defRPr>
            </a:pPr>
            <a: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3438144"/>
            <a:ext cx="157276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What happened?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" y="4325112"/>
            <a:ext cx="10588752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8992" y="4553712"/>
            <a:ext cx="502920" cy="502920"/>
          </a:xfrm>
          <a:prstGeom prst="ellipse">
            <a:avLst/>
          </a:prstGeom>
          <a:solidFill>
            <a:srgbClr val="1A3754"/>
          </a:solidFill>
          <a:ln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" y="4562856"/>
            <a:ext cx="502920" cy="4846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0512" y="4507992"/>
            <a:ext cx="2788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8182B"/>
                </a:solidFill>
                <a:latin typeface="Arial"/>
              </a:defRPr>
            </a:pPr>
            <a:r>
              <a:t>Never trust the prompt.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507992"/>
            <a:ext cx="5943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C70CA"/>
                </a:solidFill>
                <a:latin typeface="Arial"/>
              </a:defRPr>
            </a:pPr>
            <a:r>
              <a:t>Verify identity, data, tools and actions.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From AI Guardrails to Controlled 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BE3D3D"/>
                </a:solidFill>
                <a:latin typeface="Arial"/>
              </a:defRPr>
            </a:pPr>
            <a:r>
              <a:t>THREATS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93392"/>
            <a:ext cx="2971800" cy="30632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1016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2395728" cy="2340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5B6C7B"/>
                </a:solidFill>
                <a:latin typeface="Arial"/>
              </a:defRPr>
            </a:pPr>
            <a:r>
              <a:t>Prompt injection</a:t>
            </a:r>
            <a:br/>
            <a:br/>
            <a:r>
              <a:t>Sensitive data leakage</a:t>
            </a:r>
            <a:br/>
            <a:br/>
            <a:r>
              <a:t>Unauthorized retrieval</a:t>
            </a:r>
            <a:br/>
            <a:br/>
            <a:r>
              <a:t>Excessive agency</a:t>
            </a:r>
            <a:br/>
            <a:br/>
            <a:r>
              <a:t>Unsafe tool execution</a:t>
            </a:r>
          </a:p>
        </p:txBody>
      </p:sp>
      <p:sp>
        <p:nvSpPr>
          <p:cNvPr id="9" name="Chevron 8"/>
          <p:cNvSpPr/>
          <p:nvPr/>
        </p:nvSpPr>
        <p:spPr>
          <a:xfrm>
            <a:off x="3867912" y="3200400"/>
            <a:ext cx="502920" cy="658368"/>
          </a:xfrm>
          <a:prstGeom prst="chevron">
            <a:avLst/>
          </a:prstGeom>
          <a:solidFill>
            <a:srgbClr val="BE3D3D"/>
          </a:solidFill>
          <a:ln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73936"/>
            <a:ext cx="3063240" cy="3529584"/>
          </a:xfrm>
          <a:prstGeom prst="roundRect">
            <a:avLst>
              <a:gd name="adj" fmla="val 10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63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AI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679192"/>
            <a:ext cx="2286000" cy="20391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CDDDEC"/>
                </a:solidFill>
                <a:latin typeface="Arial"/>
              </a:defRPr>
            </a:pPr>
            <a:r>
              <a:t>Input guardrail</a:t>
            </a:r>
            <a:br/>
            <a:r>
              <a:t>ACL</a:t>
            </a:r>
            <a:br/>
            <a:r>
              <a:t>PII / DLP</a:t>
            </a:r>
            <a:br/>
            <a:r>
              <a:t>Tool policy</a:t>
            </a:r>
            <a:br/>
            <a:r>
              <a:t>Output guardrail</a:t>
            </a:r>
            <a:br/>
            <a:r>
              <a:t>Human approval</a:t>
            </a:r>
          </a:p>
        </p:txBody>
      </p:sp>
      <p:sp>
        <p:nvSpPr>
          <p:cNvPr id="13" name="Chevron 12"/>
          <p:cNvSpPr/>
          <p:nvPr/>
        </p:nvSpPr>
        <p:spPr>
          <a:xfrm>
            <a:off x="7909560" y="3200400"/>
            <a:ext cx="502920" cy="658368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66420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49465"/>
                </a:solidFill>
                <a:latin typeface="Arial"/>
              </a:defRPr>
            </a:pPr>
            <a:r>
              <a:t>CONTROLLED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7072" y="1993392"/>
            <a:ext cx="2971800" cy="3063240"/>
          </a:xfrm>
          <a:prstGeom prst="roundRect">
            <a:avLst>
              <a:gd name="adj" fmla="val 10000"/>
            </a:avLst>
          </a:prstGeom>
          <a:solidFill>
            <a:srgbClr val="E7F7E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56648" y="2423160"/>
            <a:ext cx="603504" cy="603504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6648" y="2432303"/>
            <a:ext cx="603504" cy="5852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246120"/>
            <a:ext cx="2212848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82635"/>
                </a:solidFill>
                <a:latin typeface="Arial"/>
              </a:defRPr>
            </a:pPr>
            <a:r>
              <a:t>Authorized answer</a:t>
            </a:r>
            <a:br/>
            <a:br/>
            <a:r>
              <a:t>Approved action</a:t>
            </a:r>
            <a:br/>
            <a:br/>
            <a:r>
              <a:t>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3474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25B1CD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Let’s make it real.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0" y="3136392"/>
            <a:ext cx="5330952" cy="0"/>
          </a:xfrm>
          <a:prstGeom prst="line">
            <a:avLst/>
          </a:prstGeom>
          <a:ln w="2794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17320" y="3502152"/>
            <a:ext cx="93726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0">
                <a:solidFill>
                  <a:srgbClr val="C4D7E9"/>
                </a:solidFill>
                <a:latin typeface="Arial"/>
              </a:defRPr>
            </a:pPr>
            <a:r>
              <a:t>Employee Services  →  IT Operations  →  Regulated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96AFC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91A5B8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EMPLOYEE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HR Agent — From Employee Question to HR Service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743200"/>
            <a:ext cx="1078992" cy="1078992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752344"/>
            <a:ext cx="1078992" cy="10607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1737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EMPLOYEE</a:t>
            </a:r>
          </a:p>
        </p:txBody>
      </p:sp>
      <p:sp>
        <p:nvSpPr>
          <p:cNvPr id="9" name="Chevron 8"/>
          <p:cNvSpPr/>
          <p:nvPr/>
        </p:nvSpPr>
        <p:spPr>
          <a:xfrm>
            <a:off x="2240280" y="2971800"/>
            <a:ext cx="530352" cy="64008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27248" y="2322576"/>
            <a:ext cx="2066543" cy="2066543"/>
          </a:xfrm>
          <a:prstGeom prst="ellipse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743200"/>
            <a:ext cx="2066543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HR</a:t>
            </a:r>
            <a:br/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4736592"/>
            <a:ext cx="2971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7E20"/>
                </a:solidFill>
                <a:latin typeface="Arial"/>
              </a:defRPr>
            </a:pPr>
            <a:r>
              <a:t>READ  →  ASSIST  →  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664208"/>
            <a:ext cx="4370832" cy="107899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9088" y="1664208"/>
            <a:ext cx="64008" cy="1078992"/>
          </a:xfrm>
          <a:prstGeom prst="rect">
            <a:avLst/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20"/>
            <a:ext cx="3931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HR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38953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Policies</a:t>
            </a:r>
            <a:br/>
            <a:r>
              <a:t>Benefits</a:t>
            </a:r>
            <a:br/>
            <a:r>
              <a:t>Procedures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193792" y="2203704"/>
            <a:ext cx="1225296" cy="1152144"/>
          </a:xfrm>
          <a:prstGeom prst="line">
            <a:avLst/>
          </a:prstGeom>
          <a:ln w="1778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19088" y="3063240"/>
            <a:ext cx="4370832" cy="107899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3063240"/>
            <a:ext cx="64008" cy="1078992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73552"/>
            <a:ext cx="3931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PEOPLESOFT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76472"/>
            <a:ext cx="38953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Employee</a:t>
            </a:r>
            <a:br/>
            <a:r>
              <a:t>Leave</a:t>
            </a:r>
            <a:br/>
            <a:r>
              <a:t>Benefits / Workflow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93792" y="3355848"/>
            <a:ext cx="1225296" cy="246888"/>
          </a:xfrm>
          <a:prstGeom prst="line">
            <a:avLst/>
          </a:prstGeom>
          <a:ln w="1778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19088" y="4462272"/>
            <a:ext cx="4370832" cy="107899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4462272"/>
            <a:ext cx="64008" cy="1078992"/>
          </a:xfrm>
          <a:prstGeom prst="rect">
            <a:avLst/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672584"/>
            <a:ext cx="3931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TALENT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175504"/>
            <a:ext cx="38953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Skills</a:t>
            </a:r>
            <a:br/>
            <a:r>
              <a:t>Certifications</a:t>
            </a:r>
            <a:br/>
            <a:r>
              <a:t>Experience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93792" y="3355848"/>
            <a:ext cx="1225296" cy="1645920"/>
          </a:xfrm>
          <a:prstGeom prst="line">
            <a:avLst/>
          </a:prstGeom>
          <a:ln w="1778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828800" y="5687568"/>
            <a:ext cx="8549640" cy="438912"/>
          </a:xfrm>
          <a:prstGeom prst="roundRect">
            <a:avLst>
              <a:gd name="adj" fmla="val 5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779008"/>
            <a:ext cx="85496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47E20"/>
                </a:solidFill>
                <a:latin typeface="Arial"/>
              </a:defRPr>
            </a:pPr>
            <a:r>
              <a:t>AI does not replace PeopleSoft. It makes PeopleSoft easier to access and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EMPLOYEE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A Simple Question. An End-to-End HR Service.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72768"/>
            <a:ext cx="107899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655064"/>
            <a:ext cx="493776" cy="493776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64208"/>
            <a:ext cx="49377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746504"/>
            <a:ext cx="9555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“I want to take annual leave next Friday. Can I?”</a:t>
            </a:r>
          </a:p>
        </p:txBody>
      </p:sp>
      <p:sp>
        <p:nvSpPr>
          <p:cNvPr id="10" name="Oval 9"/>
          <p:cNvSpPr/>
          <p:nvPr/>
        </p:nvSpPr>
        <p:spPr>
          <a:xfrm>
            <a:off x="475488" y="2761488"/>
            <a:ext cx="475488" cy="475488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770632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5234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C70CA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44952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Authenticate</a:t>
            </a:r>
            <a:br/>
            <a:r>
              <a:t>employee</a:t>
            </a:r>
          </a:p>
        </p:txBody>
      </p:sp>
      <p:sp>
        <p:nvSpPr>
          <p:cNvPr id="14" name="Chevron 13"/>
          <p:cNvSpPr/>
          <p:nvPr/>
        </p:nvSpPr>
        <p:spPr>
          <a:xfrm>
            <a:off x="2075688" y="2862072"/>
            <a:ext cx="228600" cy="36576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2761488"/>
            <a:ext cx="475488" cy="475488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770632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75234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C70CA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044952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Leave balance</a:t>
            </a:r>
            <a:br/>
            <a:r>
              <a:t>7 days</a:t>
            </a:r>
          </a:p>
        </p:txBody>
      </p:sp>
      <p:sp>
        <p:nvSpPr>
          <p:cNvPr id="19" name="Chevron 18"/>
          <p:cNvSpPr/>
          <p:nvPr/>
        </p:nvSpPr>
        <p:spPr>
          <a:xfrm>
            <a:off x="3977639" y="2862072"/>
            <a:ext cx="228600" cy="36576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79392" y="2761488"/>
            <a:ext cx="475488" cy="475488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9392" y="2770632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3" y="275234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5B1CD"/>
                </a:solidFill>
                <a:latin typeface="Arial"/>
              </a:defRPr>
            </a:pPr>
            <a:r>
              <a:t>KNOW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3" y="3044952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Retrieve HR</a:t>
            </a:r>
            <a:br/>
            <a:r>
              <a:t>policy</a:t>
            </a:r>
          </a:p>
        </p:txBody>
      </p:sp>
      <p:sp>
        <p:nvSpPr>
          <p:cNvPr id="24" name="Chevron 23"/>
          <p:cNvSpPr/>
          <p:nvPr/>
        </p:nvSpPr>
        <p:spPr>
          <a:xfrm>
            <a:off x="5879592" y="2862072"/>
            <a:ext cx="228600" cy="365760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81344" y="2761488"/>
            <a:ext cx="475488" cy="475488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2770632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75234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  <a:latin typeface="Arial"/>
              </a:defRPr>
            </a:pPr>
            <a:r>
              <a:t>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44952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Check</a:t>
            </a:r>
            <a:br/>
            <a:r>
              <a:t>entitlement</a:t>
            </a:r>
          </a:p>
        </p:txBody>
      </p:sp>
      <p:sp>
        <p:nvSpPr>
          <p:cNvPr id="29" name="Chevron 28"/>
          <p:cNvSpPr/>
          <p:nvPr/>
        </p:nvSpPr>
        <p:spPr>
          <a:xfrm>
            <a:off x="7781544" y="2862072"/>
            <a:ext cx="228600" cy="36576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83296" y="2761488"/>
            <a:ext cx="475488" cy="475488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2770632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275234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49465"/>
                </a:solidFill>
                <a:latin typeface="Arial"/>
              </a:defRPr>
            </a:pPr>
            <a:r>
              <a:t>ASSIST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044952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Eligible +</a:t>
            </a:r>
            <a:br/>
            <a:r>
              <a:t>sufficient balance</a:t>
            </a:r>
          </a:p>
        </p:txBody>
      </p:sp>
      <p:sp>
        <p:nvSpPr>
          <p:cNvPr id="34" name="Chevron 33"/>
          <p:cNvSpPr/>
          <p:nvPr/>
        </p:nvSpPr>
        <p:spPr>
          <a:xfrm>
            <a:off x="9683496" y="2862072"/>
            <a:ext cx="228600" cy="365760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85248" y="2761488"/>
            <a:ext cx="475488" cy="475488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85248" y="2770632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275234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3044952"/>
            <a:ext cx="10058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Submit leave</a:t>
            </a:r>
            <a:br/>
            <a:r>
              <a:t>request?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3320" y="4690872"/>
            <a:ext cx="4754880" cy="658368"/>
          </a:xfrm>
          <a:prstGeom prst="roundRect">
            <a:avLst>
              <a:gd name="adj" fmla="val 10000"/>
            </a:avLst>
          </a:prstGeom>
          <a:solidFill>
            <a:srgbClr val="E7F7E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4864608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49465"/>
                </a:solidFill>
                <a:latin typeface="Arial"/>
              </a:defRPr>
            </a:pPr>
            <a:r>
              <a:t>YES  →  PeopleSoft  →  Request submitted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632704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5B6C7B"/>
                </a:solidFill>
                <a:latin typeface="Arial"/>
              </a:defRPr>
            </a:pPr>
            <a:r>
              <a:t>PeopleSoft remains the System of Record.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EMPLOYEE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From Employee Records to Workforce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10881360" cy="603504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82635"/>
                </a:solidFill>
                <a:latin typeface="Arial"/>
              </a:defRPr>
            </a:pPr>
            <a:r>
              <a:t>Manager: “Who has Azure, Kubernetes and cybersecurity experience for our infrastructure project?”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32461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5B6C7B"/>
                </a:solidFill>
                <a:latin typeface="Arial"/>
              </a:defRPr>
            </a:pPr>
            <a:r>
              <a:t>Skills   +   Certifications   +   Training   +   Experience</a:t>
            </a:r>
          </a:p>
        </p:txBody>
      </p:sp>
      <p:sp>
        <p:nvSpPr>
          <p:cNvPr id="9" name="Chevron 8"/>
          <p:cNvSpPr/>
          <p:nvPr/>
        </p:nvSpPr>
        <p:spPr>
          <a:xfrm>
            <a:off x="4187952" y="2514600"/>
            <a:ext cx="402336" cy="50292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01184" y="2121408"/>
            <a:ext cx="1325880" cy="1325880"/>
          </a:xfrm>
          <a:prstGeom prst="ellipse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184" y="2423160"/>
            <a:ext cx="1325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TALENT</a:t>
            </a:r>
            <a:br/>
            <a:r>
              <a:t>AI</a:t>
            </a:r>
          </a:p>
        </p:txBody>
      </p:sp>
      <p:sp>
        <p:nvSpPr>
          <p:cNvPr id="12" name="Chevron 11"/>
          <p:cNvSpPr/>
          <p:nvPr/>
        </p:nvSpPr>
        <p:spPr>
          <a:xfrm>
            <a:off x="6473952" y="2514600"/>
            <a:ext cx="402336" cy="50292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2029968"/>
            <a:ext cx="12435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21992"/>
            <a:ext cx="12435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249465"/>
                </a:solidFill>
                <a:latin typeface="Arial"/>
              </a:defRPr>
            </a:pPr>
            <a:r>
              <a:t>CANDIDATE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660904"/>
            <a:ext cx="1060704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Azure ✓</a:t>
            </a:r>
            <a:br/>
            <a:r>
              <a:t>Kubernetes ✓</a:t>
            </a:r>
            <a:br/>
            <a:r>
              <a:t>Security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352" y="2029968"/>
            <a:ext cx="12435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221992"/>
            <a:ext cx="12435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47E20"/>
                </a:solidFill>
                <a:latin typeface="Arial"/>
              </a:defRPr>
            </a:pPr>
            <a:r>
              <a:t>CANDIDATE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2660904"/>
            <a:ext cx="1060704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Azure ✓</a:t>
            </a:r>
            <a:br/>
            <a:r>
              <a:t>Kubernetes ✓</a:t>
            </a:r>
            <a:br/>
            <a:r>
              <a:t>Security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30384" y="2029968"/>
            <a:ext cx="12435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0384" y="2221992"/>
            <a:ext cx="12435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47E20"/>
                </a:solidFill>
                <a:latin typeface="Arial"/>
              </a:defRPr>
            </a:pPr>
            <a:r>
              <a:t>CANDIDATE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21824" y="2660904"/>
            <a:ext cx="1060704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Azure ✓</a:t>
            </a:r>
            <a:br/>
            <a:r>
              <a:t>Security ✓</a:t>
            </a:r>
            <a:br/>
            <a:r>
              <a:t>Kubernetes gap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315968"/>
            <a:ext cx="3749039" cy="65836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507992"/>
            <a:ext cx="374903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Next question: “What skills are missing?”</a:t>
            </a:r>
          </a:p>
        </p:txBody>
      </p:sp>
      <p:sp>
        <p:nvSpPr>
          <p:cNvPr id="24" name="Chevron 23"/>
          <p:cNvSpPr/>
          <p:nvPr/>
        </p:nvSpPr>
        <p:spPr>
          <a:xfrm>
            <a:off x="5870448" y="4416552"/>
            <a:ext cx="438912" cy="50292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4315968"/>
            <a:ext cx="3566160" cy="658368"/>
          </a:xfrm>
          <a:prstGeom prst="roundRect">
            <a:avLst>
              <a:gd name="adj" fmla="val 8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07992"/>
            <a:ext cx="3566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7E20"/>
                </a:solidFill>
                <a:latin typeface="Arial"/>
              </a:defRPr>
            </a:pPr>
            <a:r>
              <a:t>SKILL GAP  →  TRAINING RECOMMENDATION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87368" y="5413248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8" y="5422392"/>
            <a:ext cx="40233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AUTHORIZED HR / MANAGER ACCESS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IT HELPDESK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From Helpdesk Q&amp;A to Intelligent Resolution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81912"/>
            <a:ext cx="1080820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28216"/>
            <a:ext cx="108082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182635"/>
                </a:solidFill>
                <a:latin typeface="Arial"/>
              </a:defRPr>
            </a:pPr>
            <a:r>
              <a:t>Employee: “I cannot connect to VPN.”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42032"/>
            <a:ext cx="18288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42032"/>
            <a:ext cx="64008" cy="1298448"/>
          </a:xfrm>
          <a:prstGeom prst="rect">
            <a:avLst/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52344"/>
            <a:ext cx="138988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5263"/>
            <a:ext cx="13533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User / device</a:t>
            </a:r>
            <a:br/>
            <a:r>
              <a:t>location / symptoms</a:t>
            </a:r>
          </a:p>
        </p:txBody>
      </p:sp>
      <p:sp>
        <p:nvSpPr>
          <p:cNvPr id="12" name="Chevron 11"/>
          <p:cNvSpPr/>
          <p:nvPr/>
        </p:nvSpPr>
        <p:spPr>
          <a:xfrm>
            <a:off x="2551176" y="2944368"/>
            <a:ext cx="256032" cy="438912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71215" y="2542032"/>
            <a:ext cx="18288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1215" y="2542032"/>
            <a:ext cx="64008" cy="1298448"/>
          </a:xfrm>
          <a:prstGeom prst="rect">
            <a:avLst/>
          </a:prstGeom>
          <a:solidFill>
            <a:srgbClr val="25B1CD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752344"/>
            <a:ext cx="138988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255263"/>
            <a:ext cx="13533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Search IT</a:t>
            </a:r>
            <a:br/>
            <a:r>
              <a:t>knowledge base</a:t>
            </a:r>
          </a:p>
        </p:txBody>
      </p:sp>
      <p:sp>
        <p:nvSpPr>
          <p:cNvPr id="17" name="Chevron 16"/>
          <p:cNvSpPr/>
          <p:nvPr/>
        </p:nvSpPr>
        <p:spPr>
          <a:xfrm>
            <a:off x="4764023" y="2944368"/>
            <a:ext cx="256032" cy="438912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4064" y="2542032"/>
            <a:ext cx="18288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2542032"/>
            <a:ext cx="64008" cy="1298448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2752344"/>
            <a:ext cx="138988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255263"/>
            <a:ext cx="13533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Identity / incident</a:t>
            </a:r>
            <a:br/>
            <a:r>
              <a:t>K2 ticket</a:t>
            </a:r>
          </a:p>
        </p:txBody>
      </p:sp>
      <p:sp>
        <p:nvSpPr>
          <p:cNvPr id="22" name="Chevron 21"/>
          <p:cNvSpPr/>
          <p:nvPr/>
        </p:nvSpPr>
        <p:spPr>
          <a:xfrm>
            <a:off x="6976871" y="2944368"/>
            <a:ext cx="256032" cy="438912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96912" y="2542032"/>
            <a:ext cx="182880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96912" y="2542032"/>
            <a:ext cx="64008" cy="1298448"/>
          </a:xfrm>
          <a:prstGeom prst="rect">
            <a:avLst/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2752344"/>
            <a:ext cx="138988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DIAGNOSE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3255263"/>
            <a:ext cx="13533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Guided</a:t>
            </a:r>
            <a:br/>
            <a:r>
              <a:t>troubleshooting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281160" y="2487168"/>
            <a:ext cx="987552" cy="704088"/>
          </a:xfrm>
          <a:prstGeom prst="line">
            <a:avLst/>
          </a:prstGeom>
          <a:ln w="1905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81160" y="3191256"/>
            <a:ext cx="987552" cy="713231"/>
          </a:xfrm>
          <a:prstGeom prst="line">
            <a:avLst/>
          </a:prstGeom>
          <a:ln w="1905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268712" y="2176272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7F7E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8712" y="2350008"/>
            <a:ext cx="1280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249465"/>
                </a:solidFill>
                <a:latin typeface="Arial"/>
              </a:defRPr>
            </a:pPr>
            <a:r>
              <a:t>RESOLVED 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3547872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68712" y="3721608"/>
            <a:ext cx="1280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47E20"/>
                </a:solidFill>
                <a:latin typeface="Arial"/>
              </a:defRPr>
            </a:pPr>
            <a:r>
              <a:t>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663440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BE3D3D"/>
                </a:solidFill>
                <a:latin typeface="Arial"/>
              </a:defRPr>
            </a:pPr>
            <a:r>
              <a:t>Before: VPN doesn’t work</a:t>
            </a:r>
          </a:p>
        </p:txBody>
      </p:sp>
      <p:sp>
        <p:nvSpPr>
          <p:cNvPr id="34" name="Chevron 33"/>
          <p:cNvSpPr/>
          <p:nvPr/>
        </p:nvSpPr>
        <p:spPr>
          <a:xfrm>
            <a:off x="3685032" y="4572000"/>
            <a:ext cx="438912" cy="50292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07408" y="4352544"/>
            <a:ext cx="6492240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4572000"/>
            <a:ext cx="6035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49465"/>
                </a:solidFill>
                <a:latin typeface="Arial"/>
              </a:defRPr>
            </a:pPr>
            <a:r>
              <a:t>After AI: User  •  Device  •  Error  •  Diagnostics  •  Attempted actions  •  Evidence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20" y="5504688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5669280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AI improves the quality of tickets that still require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3200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B1CD"/>
                </a:solidFill>
                <a:latin typeface="Arial"/>
              </a:defRPr>
            </a:pPr>
            <a:r>
              <a:t>IT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5276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“The trading application</a:t>
            </a:r>
            <a:br/>
            <a:r>
              <a:t>is very slow.”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0" y="2926080"/>
            <a:ext cx="6519672" cy="0"/>
          </a:xfrm>
          <a:prstGeom prst="line">
            <a:avLst/>
          </a:prstGeom>
          <a:ln w="15240">
            <a:solidFill>
              <a:srgbClr val="1A3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51560" y="3364992"/>
            <a:ext cx="2926080" cy="694944"/>
          </a:xfrm>
          <a:prstGeom prst="roundRect">
            <a:avLst>
              <a:gd name="adj" fmla="val 8000"/>
            </a:avLst>
          </a:prstGeom>
          <a:solidFill>
            <a:srgbClr val="1A3754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57016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KNOWLEDGE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4059936"/>
            <a:ext cx="3575304" cy="640080"/>
          </a:xfrm>
          <a:prstGeom prst="line">
            <a:avLst/>
          </a:prstGeom>
          <a:ln w="1778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27448" y="3364992"/>
            <a:ext cx="2926080" cy="694944"/>
          </a:xfrm>
          <a:prstGeom prst="roundRect">
            <a:avLst>
              <a:gd name="adj" fmla="val 8000"/>
            </a:avLst>
          </a:prstGeom>
          <a:solidFill>
            <a:srgbClr val="1A375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3557016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SERVICE DESK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089904" y="4059936"/>
            <a:ext cx="100584" cy="640080"/>
          </a:xfrm>
          <a:prstGeom prst="line">
            <a:avLst/>
          </a:prstGeom>
          <a:ln w="1778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03336" y="3364992"/>
            <a:ext cx="2926080" cy="694944"/>
          </a:xfrm>
          <a:prstGeom prst="roundRect">
            <a:avLst>
              <a:gd name="adj" fmla="val 8000"/>
            </a:avLst>
          </a:prstGeom>
          <a:solidFill>
            <a:srgbClr val="1A3754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3557016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REAL-TIME OBSERVABILITY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089904" y="4059936"/>
            <a:ext cx="3776472" cy="640080"/>
          </a:xfrm>
          <a:prstGeom prst="line">
            <a:avLst/>
          </a:prstGeom>
          <a:ln w="17780">
            <a:solidFill>
              <a:srgbClr val="25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60" y="4690872"/>
            <a:ext cx="3675887" cy="694944"/>
          </a:xfrm>
          <a:prstGeom prst="roundRect">
            <a:avLst>
              <a:gd name="adj" fmla="val 8000"/>
            </a:avLst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882896"/>
            <a:ext cx="367588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AI OPERATIONS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870448"/>
            <a:ext cx="62179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C4D8EA"/>
                </a:solidFill>
                <a:latin typeface="Arial"/>
              </a:defRPr>
            </a:pPr>
            <a:r>
              <a:t>From Helpdesk AI  →  Operations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91A5B8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IT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AI-Assisted Incident Investigation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1719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BUSINESS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17190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“Trading is very slow.”</a:t>
            </a:r>
          </a:p>
        </p:txBody>
      </p:sp>
      <p:sp>
        <p:nvSpPr>
          <p:cNvPr id="9" name="Chevron 8"/>
          <p:cNvSpPr/>
          <p:nvPr/>
        </p:nvSpPr>
        <p:spPr>
          <a:xfrm>
            <a:off x="2852928" y="1755648"/>
            <a:ext cx="457200" cy="54864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1435608"/>
            <a:ext cx="1234440" cy="1234440"/>
          </a:xfrm>
          <a:prstGeom prst="ellipse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09928"/>
            <a:ext cx="12344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AI OPS</a:t>
            </a:r>
            <a:br/>
            <a: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499616"/>
            <a:ext cx="15361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636775"/>
            <a:ext cx="15361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K2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144475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60" b="0">
                <a:solidFill>
                  <a:srgbClr val="5B6C7B"/>
                </a:solidFill>
                <a:latin typeface="Arial"/>
              </a:defRPr>
            </a:pPr>
            <a:r>
              <a:t>Existing incident?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846320" y="1911095"/>
            <a:ext cx="411480" cy="137161"/>
          </a:xfrm>
          <a:prstGeom prst="line">
            <a:avLst/>
          </a:prstGeom>
          <a:ln w="1397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1499616"/>
            <a:ext cx="187451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636775"/>
            <a:ext cx="187451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65960"/>
            <a:ext cx="17830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60" b="0">
                <a:solidFill>
                  <a:srgbClr val="5B6C7B"/>
                </a:solidFill>
                <a:latin typeface="Arial"/>
              </a:defRPr>
            </a:pPr>
            <a:r>
              <a:t>Known issue / runbook?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846320" y="1911095"/>
            <a:ext cx="2057400" cy="137161"/>
          </a:xfrm>
          <a:prstGeom prst="line">
            <a:avLst/>
          </a:prstGeom>
          <a:ln w="1397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4272" y="1499616"/>
            <a:ext cx="15361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1636775"/>
            <a:ext cx="15361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249465"/>
                </a:solidFill>
                <a:latin typeface="Arial"/>
              </a:defRPr>
            </a:pPr>
            <a:r>
              <a:t>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1965960"/>
            <a:ext cx="144475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60" b="0">
                <a:solidFill>
                  <a:srgbClr val="5B6C7B"/>
                </a:solidFill>
                <a:latin typeface="Arial"/>
              </a:defRPr>
            </a:pPr>
            <a:r>
              <a:t>Recent deployment?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846320" y="1911095"/>
            <a:ext cx="4187952" cy="137161"/>
          </a:xfrm>
          <a:prstGeom prst="line">
            <a:avLst/>
          </a:prstGeom>
          <a:ln w="1397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257800" y="2633472"/>
            <a:ext cx="5321808" cy="932688"/>
          </a:xfrm>
          <a:prstGeom prst="roundRect">
            <a:avLst>
              <a:gd name="adj" fmla="val 8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2788920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5B1CD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274320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2752344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RUM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274320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752344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APM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274320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2752344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6256" y="274320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6256" y="2752344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INFRA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56064" y="274320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4" y="2752344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LOGS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46320" y="2048256"/>
            <a:ext cx="411480" cy="1060704"/>
          </a:xfrm>
          <a:prstGeom prst="line">
            <a:avLst/>
          </a:prstGeom>
          <a:ln w="15240">
            <a:solidFill>
              <a:srgbClr val="25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3977639"/>
            <a:ext cx="560527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187952"/>
            <a:ext cx="2377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F47E20"/>
                </a:solidFill>
                <a:latin typeface="Arial"/>
              </a:defRPr>
            </a:pPr>
            <a:r>
              <a:t>EVIDENCE CORRELATION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590288"/>
            <a:ext cx="1051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82635"/>
                </a:solidFill>
                <a:latin typeface="Arial"/>
              </a:defRPr>
            </a:pPr>
            <a:r>
              <a:t>10:32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892040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50" b="0">
                <a:solidFill>
                  <a:srgbClr val="5B6C7B"/>
                </a:solidFill>
                <a:latin typeface="Arial"/>
              </a:defRPr>
            </a:pPr>
            <a:r>
              <a:t>User impact detected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4590288"/>
            <a:ext cx="1051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82635"/>
                </a:solidFill>
                <a:latin typeface="Arial"/>
              </a:defRPr>
            </a:pPr>
            <a:r>
              <a:t>+38%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4892040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50" b="0">
                <a:solidFill>
                  <a:srgbClr val="5B6C7B"/>
                </a:solidFill>
                <a:latin typeface="Arial"/>
              </a:defRPr>
            </a:pPr>
            <a:r>
              <a:t>App 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4136" y="4590288"/>
            <a:ext cx="1051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82635"/>
                </a:solidFill>
                <a:latin typeface="Arial"/>
              </a:defRPr>
            </a:pPr>
            <a:r>
              <a:t>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4136" y="4892040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50" b="0">
                <a:solidFill>
                  <a:srgbClr val="5B6C7B"/>
                </a:solidFill>
                <a:latin typeface="Arial"/>
              </a:defRPr>
            </a:pPr>
            <a:r>
              <a:t>Latency correlated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2583" y="4590288"/>
            <a:ext cx="1051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82635"/>
                </a:solidFill>
                <a:latin typeface="Arial"/>
              </a:defRPr>
            </a:pPr>
            <a:r>
              <a:t>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2583" y="4892040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50" b="0">
                <a:solidFill>
                  <a:srgbClr val="5B6C7B"/>
                </a:solidFill>
                <a:latin typeface="Arial"/>
              </a:defRPr>
            </a:pPr>
            <a:r>
              <a:t>No anomaly</a:t>
            </a:r>
          </a:p>
        </p:txBody>
      </p:sp>
      <p:sp>
        <p:nvSpPr>
          <p:cNvPr id="47" name="Chevron 46"/>
          <p:cNvSpPr/>
          <p:nvPr/>
        </p:nvSpPr>
        <p:spPr>
          <a:xfrm>
            <a:off x="6336792" y="4370832"/>
            <a:ext cx="411480" cy="566928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67728" y="3977639"/>
            <a:ext cx="1965960" cy="1353312"/>
          </a:xfrm>
          <a:prstGeom prst="roundRect">
            <a:avLst>
              <a:gd name="adj" fmla="val 8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7728" y="4187952"/>
            <a:ext cx="1965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47E20"/>
                </a:solidFill>
                <a:latin typeface="Arial"/>
              </a:defRPr>
            </a:pPr>
            <a:r>
              <a:t>RECOMMEND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4572000"/>
            <a:ext cx="155448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C7B"/>
                </a:solidFill>
                <a:latin typeface="Arial"/>
              </a:defRPr>
            </a:pPr>
            <a:r>
              <a:t>Probable cause</a:t>
            </a:r>
            <a:br/>
            <a:r>
              <a:t>Evidence</a:t>
            </a:r>
            <a:br/>
            <a:r>
              <a:t>Relevant runbook</a:t>
            </a:r>
          </a:p>
        </p:txBody>
      </p:sp>
      <p:sp>
        <p:nvSpPr>
          <p:cNvPr id="51" name="Chevron 50"/>
          <p:cNvSpPr/>
          <p:nvPr/>
        </p:nvSpPr>
        <p:spPr>
          <a:xfrm>
            <a:off x="9125712" y="4370832"/>
            <a:ext cx="411480" cy="566928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56648" y="3977639"/>
            <a:ext cx="1847088" cy="1353312"/>
          </a:xfrm>
          <a:prstGeom prst="roundRect">
            <a:avLst>
              <a:gd name="adj" fmla="val 8000"/>
            </a:avLst>
          </a:prstGeom>
          <a:solidFill>
            <a:srgbClr val="E7F7E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56648" y="4187952"/>
            <a:ext cx="18470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249465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4572000"/>
            <a:ext cx="142646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B6C7B"/>
                </a:solidFill>
                <a:latin typeface="Arial"/>
              </a:defRPr>
            </a:pPr>
            <a:r>
              <a:t>Update incident</a:t>
            </a:r>
            <a:br/>
            <a:r>
              <a:t>Human approval</a:t>
            </a:r>
            <a:br/>
            <a:r>
              <a:t>Remediation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1520" y="5632704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77240" y="5797296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47E20"/>
                </a:solidFill>
                <a:latin typeface="Arial"/>
              </a:defRPr>
            </a:pPr>
            <a:r>
              <a:t>AI should correlate evidence — not guess the root cause.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IT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Observability Gives AI the Operational Context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19072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AI OPERATIONS AGENT</a:t>
            </a:r>
          </a:p>
        </p:txBody>
      </p:sp>
      <p:sp>
        <p:nvSpPr>
          <p:cNvPr id="8" name="Chevron 7"/>
          <p:cNvSpPr/>
          <p:nvPr/>
        </p:nvSpPr>
        <p:spPr>
          <a:xfrm>
            <a:off x="3355848" y="2587752"/>
            <a:ext cx="493776" cy="54864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5943600" cy="749808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OBSERVABILITY PLATFORM  (e.g., Datadog)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389120"/>
            <a:ext cx="987552" cy="493776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17136"/>
            <a:ext cx="98755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182635"/>
                </a:solidFill>
                <a:latin typeface="Arial"/>
              </a:defRPr>
            </a:pPr>
            <a:r>
              <a:t>RUM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152144" y="3968496"/>
            <a:ext cx="2459736" cy="420624"/>
          </a:xfrm>
          <a:prstGeom prst="line">
            <a:avLst/>
          </a:prstGeom>
          <a:ln w="1143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47088" y="4389120"/>
            <a:ext cx="987552" cy="493776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47088" y="4517136"/>
            <a:ext cx="98755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182635"/>
                </a:solidFill>
                <a:latin typeface="Arial"/>
              </a:defRPr>
            </a:pPr>
            <a:r>
              <a:t>APM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340864" y="3968496"/>
            <a:ext cx="1271016" cy="420624"/>
          </a:xfrm>
          <a:prstGeom prst="line">
            <a:avLst/>
          </a:prstGeom>
          <a:ln w="1143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35808" y="4389120"/>
            <a:ext cx="987552" cy="493776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4517136"/>
            <a:ext cx="98755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182635"/>
                </a:solidFill>
                <a:latin typeface="Arial"/>
              </a:defRPr>
            </a:pPr>
            <a:r>
              <a:t>LOGS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529584" y="3968496"/>
            <a:ext cx="82296" cy="420624"/>
          </a:xfrm>
          <a:prstGeom prst="line">
            <a:avLst/>
          </a:prstGeom>
          <a:ln w="1143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24528" y="4389120"/>
            <a:ext cx="987552" cy="493776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4517136"/>
            <a:ext cx="98755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182635"/>
                </a:solidFill>
                <a:latin typeface="Arial"/>
              </a:defRPr>
            </a:pPr>
            <a:r>
              <a:t>INFRA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11880" y="3968496"/>
            <a:ext cx="1106424" cy="420624"/>
          </a:xfrm>
          <a:prstGeom prst="line">
            <a:avLst/>
          </a:prstGeom>
          <a:ln w="1143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13248" y="4389120"/>
            <a:ext cx="987552" cy="493776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4517136"/>
            <a:ext cx="98755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182635"/>
                </a:solidFill>
                <a:latin typeface="Arial"/>
              </a:defRPr>
            </a:pPr>
            <a:r>
              <a:t>DATABASE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3968496"/>
            <a:ext cx="2295144" cy="420624"/>
          </a:xfrm>
          <a:prstGeom prst="line">
            <a:avLst/>
          </a:prstGeom>
          <a:ln w="1143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67728" y="1719072"/>
            <a:ext cx="4498848" cy="36118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2039112"/>
            <a:ext cx="3840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  <a:latin typeface="Arial"/>
              </a:defRPr>
            </a:pPr>
            <a:r>
              <a:t>AI CAN ASK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2615184"/>
            <a:ext cx="283464" cy="283464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624327"/>
            <a:ext cx="283464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615184"/>
            <a:ext cx="32918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What is currently alerting?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0" y="3099815"/>
            <a:ext cx="283464" cy="283464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108959"/>
            <a:ext cx="283464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3099815"/>
            <a:ext cx="32918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What changed?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0" y="3584448"/>
            <a:ext cx="283464" cy="283464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593591"/>
            <a:ext cx="283464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3584448"/>
            <a:ext cx="32918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Which services are affected?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0" y="4069080"/>
            <a:ext cx="283464" cy="283464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4078224"/>
            <a:ext cx="283464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4069080"/>
            <a:ext cx="32918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App, database or infrastructure?</a:t>
            </a:r>
          </a:p>
        </p:txBody>
      </p:sp>
      <p:sp>
        <p:nvSpPr>
          <p:cNvPr id="40" name="Oval 39"/>
          <p:cNvSpPr/>
          <p:nvPr/>
        </p:nvSpPr>
        <p:spPr>
          <a:xfrm>
            <a:off x="7315200" y="4553712"/>
            <a:ext cx="283464" cy="283464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4562856"/>
            <a:ext cx="283464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112" y="4553712"/>
            <a:ext cx="32918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Have we seen this before?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1520" y="5632704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5797296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Observability provides signals. AI provides context, correlation and orchestration.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IT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What If IT Knows Before the User Calls?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965960"/>
            <a:ext cx="1005840" cy="1005840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8541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ANOMALY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5032"/>
            <a:ext cx="1920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APM / Infra / DB</a:t>
            </a:r>
          </a:p>
        </p:txBody>
      </p:sp>
      <p:sp>
        <p:nvSpPr>
          <p:cNvPr id="10" name="Chevron 9"/>
          <p:cNvSpPr/>
          <p:nvPr/>
        </p:nvSpPr>
        <p:spPr>
          <a:xfrm>
            <a:off x="2496312" y="2249424"/>
            <a:ext cx="310896" cy="45720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8999" y="1965960"/>
            <a:ext cx="1005840" cy="1005840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218541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24612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5B1CD"/>
                </a:solidFill>
                <a:latin typeface="Arial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685032"/>
            <a:ext cx="1920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Logs / metrics / traces / changes</a:t>
            </a:r>
          </a:p>
        </p:txBody>
      </p:sp>
      <p:sp>
        <p:nvSpPr>
          <p:cNvPr id="15" name="Chevron 14"/>
          <p:cNvSpPr/>
          <p:nvPr/>
        </p:nvSpPr>
        <p:spPr>
          <a:xfrm>
            <a:off x="4828031" y="2249424"/>
            <a:ext cx="310896" cy="457200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1965960"/>
            <a:ext cx="1005840" cy="1005840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18541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324612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7E20"/>
                </a:solidFill>
                <a:latin typeface="Arial"/>
              </a:defRPr>
            </a:pPr>
            <a:r>
              <a:t>UNDERSTAND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685032"/>
            <a:ext cx="1920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Service / impact / likely cause</a:t>
            </a:r>
          </a:p>
        </p:txBody>
      </p:sp>
      <p:sp>
        <p:nvSpPr>
          <p:cNvPr id="20" name="Chevron 19"/>
          <p:cNvSpPr/>
          <p:nvPr/>
        </p:nvSpPr>
        <p:spPr>
          <a:xfrm>
            <a:off x="7159752" y="2249424"/>
            <a:ext cx="310896" cy="45720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92440" y="1965960"/>
            <a:ext cx="1005840" cy="1005840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18541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4612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49465"/>
                </a:solidFill>
                <a:latin typeface="Arial"/>
              </a:defRPr>
            </a:pPr>
            <a:r>
              <a:t>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685032"/>
            <a:ext cx="1920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K2 / evidence / runbook / notify</a:t>
            </a:r>
          </a:p>
        </p:txBody>
      </p:sp>
      <p:sp>
        <p:nvSpPr>
          <p:cNvPr id="25" name="Chevron 24"/>
          <p:cNvSpPr/>
          <p:nvPr/>
        </p:nvSpPr>
        <p:spPr>
          <a:xfrm>
            <a:off x="9491472" y="2249424"/>
            <a:ext cx="310896" cy="457200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0" y="1965960"/>
            <a:ext cx="1005840" cy="1005840"/>
          </a:xfrm>
          <a:prstGeom prst="ellipse">
            <a:avLst/>
          </a:prstGeom>
          <a:solidFill>
            <a:srgbClr val="1A3754"/>
          </a:solidFill>
          <a:ln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218541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24612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A3754"/>
                </a:solidFill>
                <a:latin typeface="Arial"/>
              </a:defRPr>
            </a:pPr>
            <a: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685032"/>
            <a:ext cx="1920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Human or automation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956048"/>
            <a:ext cx="736092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5148072"/>
            <a:ext cx="7360920" cy="2743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500" b="1">
                <a:solidFill>
                  <a:srgbClr val="5B6C7B"/>
                </a:solidFill>
                <a:latin typeface="Arial"/>
              </a:rPr>
              <a:t>REACTIVE SUPPORT</a:t>
            </a:r>
            <a:r>
              <a:rPr sz="1500" b="1">
                <a:solidFill>
                  <a:srgbClr val="F47E20"/>
                </a:solidFill>
                <a:latin typeface="Arial"/>
              </a:rPr>
              <a:t>  →  </a:t>
            </a:r>
            <a:r>
              <a:rPr sz="1500" b="1">
                <a:solidFill>
                  <a:srgbClr val="249465"/>
                </a:solidFill>
                <a:latin typeface="Arial"/>
              </a:rPr>
              <a:t>PROACTIVE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BEYOND HR &amp;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One Platform. Multiple Enterprise AI Opportunities.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783080"/>
            <a:ext cx="2578608" cy="258775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2066543"/>
            <a:ext cx="603504" cy="603504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075687"/>
            <a:ext cx="603504" cy="5852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1635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EMPLOYEE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310128"/>
            <a:ext cx="2176272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HR self-service</a:t>
            </a:r>
            <a:br/>
            <a:r>
              <a:t>Talent intelligence</a:t>
            </a:r>
            <a:br/>
            <a:r>
              <a:t>Employee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83080"/>
            <a:ext cx="2578608" cy="258775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2066543"/>
            <a:ext cx="603504" cy="603504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75687"/>
            <a:ext cx="603504" cy="5852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81635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5B1CD"/>
                </a:solidFill>
                <a:latin typeface="Arial"/>
              </a:defRPr>
            </a:pPr>
            <a:r>
              <a:t>IT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310128"/>
            <a:ext cx="2176272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IT helpdesk</a:t>
            </a:r>
            <a:br/>
            <a:r>
              <a:t>Incident investigation</a:t>
            </a:r>
            <a:br/>
            <a:r>
              <a:t>Security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783080"/>
            <a:ext cx="2578608" cy="258775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2066543"/>
            <a:ext cx="603504" cy="603504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075687"/>
            <a:ext cx="603504" cy="5852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81635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7E20"/>
                </a:solidFill>
                <a:latin typeface="Arial"/>
              </a:defRPr>
            </a:pPr>
            <a:r>
              <a:t>RISK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310128"/>
            <a:ext cx="2176272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Regulatory knowledge</a:t>
            </a:r>
            <a:br/>
            <a:r>
              <a:t>KYC / CDD assistant</a:t>
            </a:r>
            <a:br/>
            <a:r>
              <a:t>Policy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1783080"/>
            <a:ext cx="2578608" cy="2587752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2066543"/>
            <a:ext cx="603504" cy="603504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075687"/>
            <a:ext cx="603504" cy="58521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81635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49465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3310128"/>
            <a:ext cx="2176272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rial"/>
              </a:defRPr>
            </a:pPr>
            <a:r>
              <a:t>Research assistant</a:t>
            </a:r>
            <a:br/>
            <a:r>
              <a:t>Document intelligence</a:t>
            </a:r>
            <a:br/>
            <a:r>
              <a:t>Management intelligence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" y="4892040"/>
            <a:ext cx="10058400" cy="713232"/>
          </a:xfrm>
          <a:prstGeom prst="roundRect">
            <a:avLst>
              <a:gd name="adj" fmla="val 8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592" y="5038344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SAME ENTERPRISE AI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5038344"/>
            <a:ext cx="6629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25B1CD"/>
                </a:solidFill>
                <a:latin typeface="Arial"/>
              </a:defRPr>
            </a:pPr>
            <a:r>
              <a:t>Knowledge   |   Agents   |   Models   |   Integration   |   Governance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75157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591616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HR and IT can be the starting point — not the destination.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REGULATED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AI-Assisted KYC / CDD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81912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28216"/>
            <a:ext cx="10972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82635"/>
                </a:solidFill>
                <a:latin typeface="Arial"/>
              </a:defRPr>
            </a:pPr>
            <a:r>
              <a:t>Compliance Officer: “Prepare the review pack for this customer.”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87168"/>
            <a:ext cx="27432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64008" cy="2514600"/>
          </a:xfrm>
          <a:prstGeom prst="rect">
            <a:avLst/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30428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INPUT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00400"/>
            <a:ext cx="2267712" cy="1655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Customer profile</a:t>
            </a:r>
            <a:br/>
            <a:r>
              <a:t>KYC documents</a:t>
            </a:r>
            <a:br/>
            <a:r>
              <a:t>UBO structure</a:t>
            </a:r>
            <a:br/>
            <a:r>
              <a:t>Risk classification</a:t>
            </a:r>
            <a:br/>
            <a:r>
              <a:t>Transaction alerts</a:t>
            </a:r>
            <a:br/>
            <a:r>
              <a:t>Previous 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3611880" y="3364992"/>
            <a:ext cx="502920" cy="64008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43984" y="2889504"/>
            <a:ext cx="1828800" cy="1828800"/>
          </a:xfrm>
          <a:prstGeom prst="ellipse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3355848"/>
            <a:ext cx="18288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KYC / CDD</a:t>
            </a:r>
            <a:br/>
            <a:r>
              <a:t>AGENT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6583680" y="3364992"/>
            <a:ext cx="502920" cy="64008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88352" y="2487168"/>
            <a:ext cx="38862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88352" y="2487168"/>
            <a:ext cx="64008" cy="2514600"/>
          </a:xfrm>
          <a:prstGeom prst="rect">
            <a:avLst/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4383" y="2697480"/>
            <a:ext cx="344728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REVIEW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3200400"/>
            <a:ext cx="3410712" cy="1655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Identity summary</a:t>
            </a:r>
            <a:br/>
            <a:r>
              <a:t>UBO structure</a:t>
            </a:r>
            <a:br/>
            <a:r>
              <a:t>Missing documents</a:t>
            </a:r>
            <a:br/>
            <a:r>
              <a:t>Risk indicators</a:t>
            </a:r>
            <a:br/>
            <a:r>
              <a:t>Potential inconsistencies</a:t>
            </a:r>
            <a:br/>
            <a:r>
              <a:t>Supporting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5376672"/>
            <a:ext cx="6583680" cy="530352"/>
          </a:xfrm>
          <a:prstGeom prst="roundRect">
            <a:avLst>
              <a:gd name="adj" fmla="val 8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5513832"/>
            <a:ext cx="6583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47E20"/>
                </a:solidFill>
                <a:latin typeface="Arial"/>
              </a:defRPr>
            </a:pPr>
            <a:r>
              <a:t>HUMAN COMPLIANCE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REGULATED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From Regulation to Actionable Internal Knowledge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819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10607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82635"/>
                </a:solidFill>
                <a:latin typeface="Arial"/>
              </a:defRPr>
            </a:pPr>
            <a:r>
              <a:t>“What policies and processes may require review based on this regulatory change?”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43200"/>
            <a:ext cx="475488" cy="475488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52344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734056"/>
            <a:ext cx="1435607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C70CA"/>
                </a:solidFill>
                <a:latin typeface="Arial"/>
              </a:defRPr>
            </a:pPr>
            <a:r>
              <a:t>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026664"/>
            <a:ext cx="1435607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New rule or supervisory guidance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26080" y="2862072"/>
            <a:ext cx="384048" cy="50292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2743200"/>
            <a:ext cx="475488" cy="475488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752344"/>
            <a:ext cx="47548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734056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  <a:latin typeface="Arial"/>
              </a:defRPr>
            </a:pPr>
            <a:r>
              <a:t>AI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3026664"/>
            <a:ext cx="2304288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5B6C7B"/>
                </a:solidFill>
                <a:latin typeface="Arial"/>
              </a:defRPr>
            </a:pPr>
            <a:r>
              <a:t>Compare policy / procedure / SOP / control</a:t>
            </a:r>
          </a:p>
        </p:txBody>
      </p:sp>
      <p:sp>
        <p:nvSpPr>
          <p:cNvPr id="17" name="Chevron 16"/>
          <p:cNvSpPr/>
          <p:nvPr/>
        </p:nvSpPr>
        <p:spPr>
          <a:xfrm>
            <a:off x="6473952" y="2862072"/>
            <a:ext cx="384048" cy="50292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0" y="2432304"/>
            <a:ext cx="4325112" cy="146304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651760"/>
            <a:ext cx="386791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49465"/>
                </a:solidFill>
                <a:latin typeface="Arial"/>
              </a:defRPr>
            </a:pPr>
            <a:r>
              <a:t>GAP / IMPACT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127248"/>
            <a:ext cx="3867912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Requirement  |  Existing policy  |  Potential gap</a:t>
            </a:r>
            <a:br/>
            <a:r>
              <a:t>Affected process  |  Evidence / citation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08008" y="3904487"/>
            <a:ext cx="0" cy="804673"/>
          </a:xfrm>
          <a:prstGeom prst="line">
            <a:avLst/>
          </a:prstGeom>
          <a:ln w="2032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35240" y="4736592"/>
            <a:ext cx="3154680" cy="585216"/>
          </a:xfrm>
          <a:prstGeom prst="roundRect">
            <a:avLst>
              <a:gd name="adj" fmla="val 8000"/>
            </a:avLst>
          </a:prstGeom>
          <a:solidFill>
            <a:srgbClr val="E7F7E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901184"/>
            <a:ext cx="3154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49465"/>
                </a:solidFill>
                <a:latin typeface="Arial"/>
              </a:defRPr>
            </a:pPr>
            <a:r>
              <a:t>COMPLIANCE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61441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577900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AI accelerates analysis. It does not replace compliance judgment.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5B1CD"/>
                </a:solidFill>
                <a:latin typeface="Arial"/>
              </a:defRPr>
            </a:pPr>
            <a:r>
              <a:t>PUTTING EVERYTHING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Target Enterprise AI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1A3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ACC1D5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18488"/>
            <a:ext cx="10332720" cy="566928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18488"/>
            <a:ext cx="1234440" cy="566928"/>
          </a:xfrm>
          <a:prstGeom prst="roundRect">
            <a:avLst>
              <a:gd name="adj" fmla="val 4000"/>
            </a:avLst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19072"/>
            <a:ext cx="108813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3432" y="1728216"/>
            <a:ext cx="8778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rial"/>
              </a:defRPr>
            </a:pPr>
            <a:r>
              <a:t>Employee   |   HR   |   IT   |   Security   |   Compliance   |  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67712"/>
            <a:ext cx="10332720" cy="566928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267712"/>
            <a:ext cx="1234440" cy="566928"/>
          </a:xfrm>
          <a:prstGeom prst="roundRect">
            <a:avLst>
              <a:gd name="adj" fmla="val 4000"/>
            </a:avLst>
          </a:prstGeom>
          <a:solidFill>
            <a:srgbClr val="25B1CD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368296"/>
            <a:ext cx="108813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377440"/>
            <a:ext cx="8778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rial"/>
              </a:defRPr>
            </a:pPr>
            <a:r>
              <a:t>Web   |   Teams   |   Mobile   |  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2944368"/>
            <a:ext cx="9189720" cy="2267712"/>
          </a:xfrm>
          <a:prstGeom prst="roundRect">
            <a:avLst>
              <a:gd name="adj" fmla="val 8000"/>
            </a:avLst>
          </a:prstGeom>
          <a:solidFill>
            <a:srgbClr val="102841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3136392"/>
            <a:ext cx="87050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ENTERPRISE AI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10512" y="3639312"/>
            <a:ext cx="4114800" cy="530352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47672" y="3730752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1">
                <a:solidFill>
                  <a:srgbClr val="1C70CA"/>
                </a:solidFill>
                <a:latin typeface="Arial"/>
              </a:defRPr>
            </a:pPr>
            <a:r>
              <a:t>AGENT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4" y="3730752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rial"/>
              </a:defRPr>
            </a:pPr>
            <a:r>
              <a:t>HR  |  IT  |  Security  |  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39312"/>
            <a:ext cx="4114800" cy="530352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3730752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1">
                <a:solidFill>
                  <a:srgbClr val="25B1CD"/>
                </a:solidFill>
                <a:latin typeface="Arial"/>
              </a:defRPr>
            </a:pPr>
            <a:r>
              <a:t>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3730752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rial"/>
              </a:defRPr>
            </a:pPr>
            <a:r>
              <a:t>RAG  |  Reasoning  |  Memory  |  Orchestration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10512" y="4306824"/>
            <a:ext cx="4114800" cy="530352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47672" y="4398264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1">
                <a:solidFill>
                  <a:srgbClr val="F47E20"/>
                </a:solidFill>
                <a:latin typeface="Arial"/>
              </a:defRPr>
            </a:pPr>
            <a:r>
              <a:t>MODEL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4398264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rial"/>
              </a:defRPr>
            </a:pPr>
            <a:r>
              <a:t>Local  |  Private  |  Cloud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4306824"/>
            <a:ext cx="4114800" cy="530352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398264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1">
                <a:solidFill>
                  <a:srgbClr val="249465"/>
                </a:solidFill>
                <a:latin typeface="Arial"/>
              </a:defRPr>
            </a:pPr>
            <a:r>
              <a:t>INTEGRATION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4398264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0">
                <a:solidFill>
                  <a:srgbClr val="FFFFFF"/>
                </a:solidFill>
                <a:latin typeface="Arial"/>
              </a:defRPr>
            </a:pPr>
            <a:r>
              <a:t>API  |  MCP  |  Workflow  | 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944368"/>
            <a:ext cx="676656" cy="2267712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063240"/>
            <a:ext cx="676656" cy="1965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SECURITY</a:t>
            </a:r>
            <a:br/>
            <a:r>
              <a:t>Identity</a:t>
            </a:r>
            <a:br/>
            <a:r>
              <a:t>RBAC / ABAC</a:t>
            </a:r>
            <a:br/>
            <a:r>
              <a:t>Guardrails</a:t>
            </a:r>
            <a:br/>
            <a:r>
              <a:t>DLP</a:t>
            </a:r>
            <a:br/>
            <a:r>
              <a:t>Audit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91088" y="2944368"/>
            <a:ext cx="694944" cy="2267712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91088" y="3063240"/>
            <a:ext cx="694944" cy="1965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AI OPS</a:t>
            </a:r>
            <a:br/>
            <a:r>
              <a:t>Quality</a:t>
            </a:r>
            <a:br/>
            <a:r>
              <a:t>Latency</a:t>
            </a:r>
            <a:br/>
            <a:r>
              <a:t>Usage</a:t>
            </a:r>
            <a:br/>
            <a:r>
              <a:t>Cost</a:t>
            </a:r>
            <a:br/>
            <a:r>
              <a:t>Observability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440680"/>
            <a:ext cx="10332720" cy="566928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5440680"/>
            <a:ext cx="1234440" cy="566928"/>
          </a:xfrm>
          <a:prstGeom prst="roundRect">
            <a:avLst>
              <a:gd name="adj" fmla="val 4000"/>
            </a:avLst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541264"/>
            <a:ext cx="108813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3432" y="5550408"/>
            <a:ext cx="8778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rial"/>
              </a:defRPr>
            </a:pPr>
            <a:r>
              <a:t>PeopleSoft   |   K2   |   Identity   |   Observability   |   Databases   |   Internal systems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6062472"/>
            <a:ext cx="10332720" cy="566928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" y="6062472"/>
            <a:ext cx="1234440" cy="566928"/>
          </a:xfrm>
          <a:prstGeom prst="roundRect">
            <a:avLst>
              <a:gd name="adj" fmla="val 4000"/>
            </a:avLst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6163056"/>
            <a:ext cx="108813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13432" y="6172200"/>
            <a:ext cx="8778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rial"/>
              </a:defRPr>
            </a:pPr>
            <a:r>
              <a:t>Documents   |   Vector DB   |   Database   |   Object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91A5B8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Production Local AI Is an Infrastructure Platform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27632"/>
            <a:ext cx="88696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627632"/>
            <a:ext cx="1600200" cy="566928"/>
          </a:xfrm>
          <a:prstGeom prst="roundRect">
            <a:avLst>
              <a:gd name="adj" fmla="val 4000"/>
            </a:avLst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728216"/>
            <a:ext cx="145389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2072" y="1737360"/>
            <a:ext cx="69494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Load balancer   |   API 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2194560"/>
            <a:ext cx="0" cy="155448"/>
          </a:xfrm>
          <a:prstGeom prst="line">
            <a:avLst/>
          </a:prstGeom>
          <a:ln w="1651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97280" y="2377440"/>
            <a:ext cx="88696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2377440"/>
            <a:ext cx="1600200" cy="566928"/>
          </a:xfrm>
          <a:prstGeom prst="roundRect">
            <a:avLst>
              <a:gd name="adj" fmla="val 4000"/>
            </a:avLst>
          </a:prstGeom>
          <a:solidFill>
            <a:srgbClr val="25B1CD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478024"/>
            <a:ext cx="145389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487168"/>
            <a:ext cx="69494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AI application   |   Agent runtime   |  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32120" y="2944368"/>
            <a:ext cx="0" cy="155447"/>
          </a:xfrm>
          <a:prstGeom prst="line">
            <a:avLst/>
          </a:prstGeom>
          <a:ln w="1651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97280" y="3127248"/>
            <a:ext cx="88696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127248"/>
            <a:ext cx="1600200" cy="566928"/>
          </a:xfrm>
          <a:prstGeom prst="roundRect">
            <a:avLst>
              <a:gd name="adj" fmla="val 4000"/>
            </a:avLst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227832"/>
            <a:ext cx="145389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3236976"/>
            <a:ext cx="69494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Workers   |   Ingestion   |   Document processing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3694176"/>
            <a:ext cx="0" cy="155448"/>
          </a:xfrm>
          <a:prstGeom prst="line">
            <a:avLst/>
          </a:prstGeom>
          <a:ln w="1651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97280" y="3877056"/>
            <a:ext cx="88696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3877056"/>
            <a:ext cx="1600200" cy="566928"/>
          </a:xfrm>
          <a:prstGeom prst="roundRect">
            <a:avLst>
              <a:gd name="adj" fmla="val 4000"/>
            </a:avLst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977640"/>
            <a:ext cx="145389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3986784"/>
            <a:ext cx="69494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Database   |   Vector DB   |   Object storage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32120" y="4443983"/>
            <a:ext cx="0" cy="155448"/>
          </a:xfrm>
          <a:prstGeom prst="line">
            <a:avLst/>
          </a:prstGeom>
          <a:ln w="1651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97280" y="4626864"/>
            <a:ext cx="88696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4626864"/>
            <a:ext cx="1600200" cy="566928"/>
          </a:xfrm>
          <a:prstGeom prst="roundRect">
            <a:avLst>
              <a:gd name="adj" fmla="val 4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727448"/>
            <a:ext cx="145389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AI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2072" y="4736592"/>
            <a:ext cx="69494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Inference gateway   |   GPU cluster   |   Local 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1627632"/>
            <a:ext cx="1188720" cy="3566160"/>
          </a:xfrm>
          <a:prstGeom prst="roundRect">
            <a:avLst>
              <a:gd name="adj" fmla="val 6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1920240"/>
            <a:ext cx="1188720" cy="2852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OPERATIONS</a:t>
            </a:r>
            <a:br/>
            <a:br/>
            <a:r>
              <a:t>Monitoring</a:t>
            </a:r>
            <a:br/>
            <a:r>
              <a:t>Backup</a:t>
            </a:r>
            <a:br/>
            <a:r>
              <a:t>HA / DR</a:t>
            </a:r>
            <a:br/>
            <a:r>
              <a:t>Security</a:t>
            </a:r>
            <a:br/>
            <a:r>
              <a:t>Capacity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" y="561441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577900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GPU sizing is driven by workload and concurrency — not employee count alone.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Enterprise AI Roadmap — From Ambition to Adoption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224528"/>
            <a:ext cx="1993392" cy="1417320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4407408"/>
            <a:ext cx="4389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C70C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407408"/>
            <a:ext cx="12252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C70CA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855464"/>
            <a:ext cx="159105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Local AI</a:t>
            </a:r>
            <a:br/>
            <a:r>
              <a:t>Knowledge</a:t>
            </a:r>
            <a:br/>
            <a:r>
              <a:t>Security</a:t>
            </a:r>
            <a:br/>
            <a:r>
              <a:t>Governance</a:t>
            </a:r>
          </a:p>
        </p:txBody>
      </p:sp>
      <p:sp>
        <p:nvSpPr>
          <p:cNvPr id="10" name="Chevron 9"/>
          <p:cNvSpPr/>
          <p:nvPr/>
        </p:nvSpPr>
        <p:spPr>
          <a:xfrm>
            <a:off x="2542032" y="4681728"/>
            <a:ext cx="256032" cy="41148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6352" y="3803904"/>
            <a:ext cx="1993392" cy="1837944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3986784"/>
            <a:ext cx="4389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5B1C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986784"/>
            <a:ext cx="12252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B1CD"/>
                </a:solidFill>
                <a:latin typeface="Arial"/>
              </a:defRPr>
            </a:pPr>
            <a:r>
              <a:t>ASSIST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434840"/>
            <a:ext cx="159105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HR Agent</a:t>
            </a:r>
            <a:br/>
            <a:r>
              <a:t>IT Helpdesk</a:t>
            </a:r>
          </a:p>
        </p:txBody>
      </p:sp>
      <p:sp>
        <p:nvSpPr>
          <p:cNvPr id="15" name="Chevron 14"/>
          <p:cNvSpPr/>
          <p:nvPr/>
        </p:nvSpPr>
        <p:spPr>
          <a:xfrm>
            <a:off x="4855464" y="4261104"/>
            <a:ext cx="256032" cy="411480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9783" y="3383280"/>
            <a:ext cx="1993392" cy="2258568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5" y="3566160"/>
            <a:ext cx="4389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3566160"/>
            <a:ext cx="12252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F47E20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4014216"/>
            <a:ext cx="159105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PeopleSoft</a:t>
            </a:r>
            <a:br/>
            <a:r>
              <a:t>K2</a:t>
            </a:r>
            <a:br/>
            <a:r>
              <a:t>API / MCP</a:t>
            </a:r>
          </a:p>
        </p:txBody>
      </p:sp>
      <p:sp>
        <p:nvSpPr>
          <p:cNvPr id="20" name="Chevron 19"/>
          <p:cNvSpPr/>
          <p:nvPr/>
        </p:nvSpPr>
        <p:spPr>
          <a:xfrm>
            <a:off x="7168896" y="3840480"/>
            <a:ext cx="256032" cy="41148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43216" y="2962656"/>
            <a:ext cx="1993392" cy="2679192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3145536"/>
            <a:ext cx="4389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4946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3145536"/>
            <a:ext cx="12252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49465"/>
                </a:solidFill>
                <a:latin typeface="Arial"/>
              </a:defRPr>
            </a:pPr>
            <a:r>
              <a:t>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593592"/>
            <a:ext cx="159105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Observability</a:t>
            </a:r>
            <a:br/>
            <a:r>
              <a:t>Talent</a:t>
            </a:r>
            <a:br/>
            <a:r>
              <a:t>Compliance</a:t>
            </a:r>
          </a:p>
        </p:txBody>
      </p:sp>
      <p:sp>
        <p:nvSpPr>
          <p:cNvPr id="25" name="Chevron 24"/>
          <p:cNvSpPr/>
          <p:nvPr/>
        </p:nvSpPr>
        <p:spPr>
          <a:xfrm>
            <a:off x="9482328" y="3419856"/>
            <a:ext cx="256032" cy="411480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56648" y="2542032"/>
            <a:ext cx="1993392" cy="3099816"/>
          </a:xfrm>
          <a:prstGeom prst="roundRect">
            <a:avLst>
              <a:gd name="adj" fmla="val 7000"/>
            </a:avLst>
          </a:prstGeom>
          <a:solidFill>
            <a:srgbClr val="F5F8FB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724912"/>
            <a:ext cx="4389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A375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23576" y="2724912"/>
            <a:ext cx="12252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A3754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3172968"/>
            <a:ext cx="1591056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More agents</a:t>
            </a:r>
            <a:br/>
            <a:r>
              <a:t>Automation</a:t>
            </a:r>
            <a:br/>
            <a:r>
              <a:t>Adoption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56816" y="577900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8F2FC"/>
          </a:solidFill>
          <a:ln w="10160"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56816" y="5788152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1C70CA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28616" y="577900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8616" y="5788152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47E20"/>
                </a:solidFill>
                <a:latin typeface="Arial"/>
              </a:defRPr>
            </a:pPr>
            <a:r>
              <a:t>PROCESS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0416" y="577900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7F7EF"/>
          </a:solidFill>
          <a:ln w="10160"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0416" y="5788152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249465"/>
                </a:solidFill>
                <a:latin typeface="Arial"/>
              </a:defRPr>
            </a:pPr>
            <a:r>
              <a:t>TECHNOLOGY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Start Focused. Design for Enterprise Scale.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15468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54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C70CA"/>
                </a:solidFill>
                <a:latin typeface="Arial"/>
              </a:defRPr>
            </a:pPr>
            <a:r>
              <a:t>PLATFORM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43200"/>
            <a:ext cx="25146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5B6C7B"/>
                </a:solidFill>
                <a:latin typeface="Arial"/>
              </a:defRPr>
            </a:pPr>
            <a:r>
              <a:t>Local LLM</a:t>
            </a:r>
            <a:br/>
            <a:r>
              <a:t>RAG</a:t>
            </a:r>
            <a:br/>
            <a:r>
              <a:t>Identity</a:t>
            </a:r>
            <a:br/>
            <a:r>
              <a:t>Security</a:t>
            </a:r>
            <a:br/>
            <a:r>
              <a:t>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28800"/>
            <a:ext cx="315468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103120"/>
            <a:ext cx="3154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5B1CD"/>
                </a:solidFill>
                <a:latin typeface="Arial"/>
              </a:defRPr>
            </a:pPr>
            <a:r>
              <a:t>HR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25146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5B6C7B"/>
                </a:solidFill>
                <a:latin typeface="Arial"/>
              </a:defRPr>
            </a:pPr>
            <a:r>
              <a:t>HR knowledge</a:t>
            </a:r>
            <a:br/>
            <a:r>
              <a:t>PeopleSoft read</a:t>
            </a:r>
            <a:br/>
            <a:r>
              <a:t>Leave / benefit</a:t>
            </a:r>
            <a:br/>
            <a:r>
              <a:t>Talent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3154680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31546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47E20"/>
                </a:solidFill>
                <a:latin typeface="Arial"/>
              </a:defRPr>
            </a:pPr>
            <a:r>
              <a:t>IT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2743200"/>
            <a:ext cx="25146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5B6C7B"/>
                </a:solidFill>
                <a:latin typeface="Arial"/>
              </a:defRPr>
            </a:pPr>
            <a:r>
              <a:t>IT knowledge</a:t>
            </a:r>
            <a:br/>
            <a:r>
              <a:t>K2 integration</a:t>
            </a:r>
            <a:br/>
            <a:r>
              <a:t>Troubleshooting</a:t>
            </a:r>
            <a:br/>
            <a:r>
              <a:t>Incident creation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9648" y="1828800"/>
            <a:ext cx="621792" cy="2880360"/>
          </a:xfrm>
          <a:prstGeom prst="roundRect">
            <a:avLst>
              <a:gd name="adj" fmla="val 8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99648" y="2103120"/>
            <a:ext cx="621792" cy="22494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Arial"/>
              </a:defRPr>
            </a:pPr>
            <a:r>
              <a:t>NEXT</a:t>
            </a:r>
            <a:br/>
            <a:br/>
            <a:r>
              <a:t>Observability</a:t>
            </a:r>
            <a:br/>
            <a:r>
              <a:t>Security</a:t>
            </a:r>
            <a:br/>
            <a:r>
              <a:t>Compliance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43153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559612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Start with measurable use cases while building a reusable enterprise AI foundation.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Measure Business Outcomes — Not AI Demo Quality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64792"/>
            <a:ext cx="2057400" cy="29260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9576" y="2048256"/>
            <a:ext cx="612648" cy="612648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2185416"/>
            <a:ext cx="612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62072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1C70CA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364992"/>
            <a:ext cx="17465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69" b="0">
                <a:solidFill>
                  <a:srgbClr val="5B6C7B"/>
                </a:solidFill>
                <a:latin typeface="Arial"/>
              </a:defRPr>
            </a:pPr>
            <a:r>
              <a:t>Accuracy</a:t>
            </a:r>
            <a:br/>
            <a:r>
              <a:t>Citation accuracy</a:t>
            </a:r>
            <a:br/>
            <a:r>
              <a:t>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764792"/>
            <a:ext cx="2057400" cy="29260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11296" y="2048256"/>
            <a:ext cx="612648" cy="612648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185416"/>
            <a:ext cx="612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862072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25B1CD"/>
                </a:solidFill>
                <a:latin typeface="Arial"/>
              </a:defRPr>
            </a:pPr>
            <a:r>
              <a:t>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364992"/>
            <a:ext cx="17465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69" b="0">
                <a:solidFill>
                  <a:srgbClr val="5B6C7B"/>
                </a:solidFill>
                <a:latin typeface="Arial"/>
              </a:defRPr>
            </a:pPr>
            <a:r>
              <a:t>Self-service completion</a:t>
            </a:r>
            <a:br/>
            <a:r>
              <a:t>Time-to-service</a:t>
            </a:r>
            <a:br/>
            <a:r>
              <a:t>Adoption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764792"/>
            <a:ext cx="2057400" cy="29260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43016" y="2048256"/>
            <a:ext cx="612648" cy="612648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3016" y="2185416"/>
            <a:ext cx="612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62072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47E20"/>
                </a:solidFill>
                <a:latin typeface="Arial"/>
              </a:defRPr>
            </a:pPr>
            <a:r>
              <a:t>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364992"/>
            <a:ext cx="17465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69" b="0">
                <a:solidFill>
                  <a:srgbClr val="5B6C7B"/>
                </a:solidFill>
                <a:latin typeface="Arial"/>
              </a:defRPr>
            </a:pPr>
            <a:r>
              <a:t>First-contact resolution</a:t>
            </a:r>
            <a:br/>
            <a:r>
              <a:t>MTTR</a:t>
            </a:r>
            <a:br/>
            <a:r>
              <a:t>Ticket quality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59" y="1764792"/>
            <a:ext cx="2057400" cy="29260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74735" y="2048256"/>
            <a:ext cx="612648" cy="612648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5" y="2185416"/>
            <a:ext cx="612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862072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249465"/>
                </a:solidFill>
                <a:latin typeface="Arial"/>
              </a:defRPr>
            </a:pPr>
            <a:r>
              <a:t>AI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364992"/>
            <a:ext cx="17465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69" b="0">
                <a:solidFill>
                  <a:srgbClr val="5B6C7B"/>
                </a:solidFill>
                <a:latin typeface="Arial"/>
              </a:defRPr>
            </a:pPr>
            <a:r>
              <a:t>p95 latency</a:t>
            </a:r>
            <a:br/>
            <a:r>
              <a:t>Model utilization</a:t>
            </a:r>
            <a:br/>
            <a:r>
              <a:t>Cost per task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764792"/>
            <a:ext cx="2057400" cy="29260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06455" y="2048256"/>
            <a:ext cx="612648" cy="612648"/>
          </a:xfrm>
          <a:prstGeom prst="ellipse">
            <a:avLst/>
          </a:prstGeom>
          <a:solidFill>
            <a:srgbClr val="1A3754"/>
          </a:solidFill>
          <a:ln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06455" y="2185416"/>
            <a:ext cx="612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862072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1A3754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3364992"/>
            <a:ext cx="1746504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69" b="0">
                <a:solidFill>
                  <a:srgbClr val="5B6C7B"/>
                </a:solidFill>
                <a:latin typeface="Arial"/>
              </a:defRPr>
            </a:pPr>
            <a:r>
              <a:t>Unauthorized access = 0</a:t>
            </a:r>
            <a:br/>
            <a:r>
              <a:t>Policy violation</a:t>
            </a:r>
            <a:br/>
            <a:r>
              <a:t>Audit coverage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230368"/>
            <a:ext cx="8503920" cy="548640"/>
          </a:xfrm>
          <a:prstGeom prst="roundRect">
            <a:avLst>
              <a:gd name="adj" fmla="val 6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376672"/>
            <a:ext cx="8503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BASELINE  →  PILOT  →  MEASURE  →  IMPROVE  → 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078992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t>FROM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38528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3000" b="1">
                <a:solidFill>
                  <a:srgbClr val="25B1CD"/>
                </a:solidFill>
                <a:latin typeface="Arial"/>
              </a:defRPr>
            </a:pPr>
            <a:r>
              <a:t>TO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98064"/>
            <a:ext cx="10698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3000" b="1">
                <a:solidFill>
                  <a:srgbClr val="F47E20"/>
                </a:solidFill>
                <a:latin typeface="Arial"/>
              </a:defRPr>
            </a:pPr>
            <a:r>
              <a:t>TO ACTION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3685032"/>
            <a:ext cx="5879592" cy="0"/>
          </a:xfrm>
          <a:prstGeom prst="line">
            <a:avLst/>
          </a:prstGeom>
          <a:ln w="15240">
            <a:solidFill>
              <a:srgbClr val="1A3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1600" y="4050791"/>
            <a:ext cx="9464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SECURE  •  PRIVATE  •  GOVERNED  •  ACTIONABLE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4709160"/>
            <a:ext cx="91257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0">
                <a:solidFill>
                  <a:srgbClr val="BED3E5"/>
                </a:solidFill>
                <a:latin typeface="Arial"/>
              </a:defRPr>
            </a:pPr>
            <a:r>
              <a:t>Start with HR and IT. Build the foundation for enterprise-wide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55321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5541264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25B1CD"/>
                </a:solidFill>
                <a:latin typeface="Arial"/>
              </a:defRPr>
            </a:pPr>
            <a:r>
              <a:t>USE-CASE WORKSHOP</a:t>
            </a:r>
          </a:p>
        </p:txBody>
      </p:sp>
      <p:sp>
        <p:nvSpPr>
          <p:cNvPr id="11" name="Chevron 10"/>
          <p:cNvSpPr/>
          <p:nvPr/>
        </p:nvSpPr>
        <p:spPr>
          <a:xfrm>
            <a:off x="4279392" y="5440680"/>
            <a:ext cx="365760" cy="50292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553212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1A3754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5541264"/>
            <a:ext cx="25146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25B1CD"/>
                </a:solidFill>
                <a:latin typeface="Arial"/>
              </a:defRPr>
            </a:pPr>
            <a:r>
              <a:t>TECHNICAL ASSESSMENT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452360" y="5440680"/>
            <a:ext cx="365760" cy="50292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36992" y="553212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5541264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91A5B8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Local LLM Model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514600" cy="303580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64008" cy="3035808"/>
          </a:xfrm>
          <a:prstGeom prst="rect">
            <a:avLst/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207568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MODEL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039112" cy="2176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Smaller</a:t>
            </a:r>
            <a:br/>
            <a:r>
              <a:t>7–14B</a:t>
            </a:r>
            <a:br/>
            <a:br/>
            <a:r>
              <a:t>Larger</a:t>
            </a:r>
            <a:br/>
            <a:r>
              <a:t>30–70B+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303580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64008" cy="3035808"/>
          </a:xfrm>
          <a:prstGeom prst="rect">
            <a:avLst/>
          </a:prstGeom>
          <a:solidFill>
            <a:srgbClr val="25B1CD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039112"/>
            <a:ext cx="207568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542032"/>
            <a:ext cx="2039112" cy="2176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Reasoning</a:t>
            </a:r>
            <a:br/>
            <a:r>
              <a:t>Tool calling</a:t>
            </a:r>
            <a:br/>
            <a:r>
              <a:t>Multilingual</a:t>
            </a:r>
            <a:br/>
            <a:r>
              <a:t>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2514600" cy="303580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828800"/>
            <a:ext cx="64008" cy="3035808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039112"/>
            <a:ext cx="207568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542032"/>
            <a:ext cx="2039112" cy="2176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VRAM</a:t>
            </a:r>
            <a:br/>
            <a:r>
              <a:t>Quantization</a:t>
            </a:r>
            <a:br/>
            <a:r>
              <a:t>Context</a:t>
            </a:r>
            <a:br/>
            <a:r>
              <a:t>KV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1828800"/>
            <a:ext cx="2514600" cy="303580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828800"/>
            <a:ext cx="64008" cy="3035808"/>
          </a:xfrm>
          <a:prstGeom prst="rect">
            <a:avLst/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2039112"/>
            <a:ext cx="207568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542032"/>
            <a:ext cx="2039112" cy="2176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Latency target</a:t>
            </a:r>
            <a:br/>
            <a:r>
              <a:t>Concurrency</a:t>
            </a:r>
            <a:br/>
            <a:r>
              <a:t>Data policy</a:t>
            </a:r>
            <a:br/>
            <a:r>
              <a:t>Task quality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5367528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532120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Benchmark with the real prompt, context, retrieval and tool workload — not model size alone.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GPU &amp; Capacity Planning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Oval 5"/>
          <p:cNvSpPr/>
          <p:nvPr/>
        </p:nvSpPr>
        <p:spPr>
          <a:xfrm>
            <a:off x="4425696" y="1847088"/>
            <a:ext cx="2743200" cy="2743200"/>
          </a:xfrm>
          <a:prstGeom prst="ellipse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25696" y="2606040"/>
            <a:ext cx="27432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CONCURRENT</a:t>
            </a:r>
            <a:br/>
            <a:r>
              <a:t>GENERATIONS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331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TOKENS / SEC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92808" y="2450592"/>
            <a:ext cx="3904488" cy="768096"/>
          </a:xfrm>
          <a:prstGeom prst="line">
            <a:avLst/>
          </a:prstGeom>
          <a:ln w="13970">
            <a:solidFill>
              <a:srgbClr val="1C7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" y="4160520"/>
            <a:ext cx="2331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2511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5B1CD"/>
                </a:solidFill>
                <a:latin typeface="Arial"/>
              </a:defRPr>
            </a:pPr>
            <a:r>
              <a:t>CONTEXT LENGTH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02536" y="3218688"/>
            <a:ext cx="3794760" cy="941832"/>
          </a:xfrm>
          <a:prstGeom prst="line">
            <a:avLst/>
          </a:prstGeom>
          <a:ln w="13970">
            <a:solidFill>
              <a:srgbClr val="25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59952" y="1828800"/>
            <a:ext cx="2331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199339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7E20"/>
                </a:solidFill>
                <a:latin typeface="Arial"/>
              </a:defRPr>
            </a:pPr>
            <a:r>
              <a:t>KV CACHE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797296" y="2450592"/>
            <a:ext cx="4123944" cy="768096"/>
          </a:xfrm>
          <a:prstGeom prst="line">
            <a:avLst/>
          </a:prstGeom>
          <a:ln w="13970">
            <a:solidFill>
              <a:srgbClr val="F4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05672" y="4160520"/>
            <a:ext cx="2331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432511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49465"/>
                </a:solidFill>
                <a:latin typeface="Arial"/>
              </a:defRPr>
            </a:pPr>
            <a:r>
              <a:t>MODEL SIZE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5797296" y="3218688"/>
            <a:ext cx="4169664" cy="941832"/>
          </a:xfrm>
          <a:prstGeom prst="line">
            <a:avLst/>
          </a:prstGeom>
          <a:ln w="13970">
            <a:solidFill>
              <a:srgbClr val="2494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34840" y="5166360"/>
            <a:ext cx="23317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5330952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A3754"/>
                </a:solidFill>
                <a:latin typeface="Arial"/>
              </a:defRPr>
            </a:pPr>
            <a:r>
              <a:t>RAG + TOOLS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596127" y="3218688"/>
            <a:ext cx="201169" cy="1947672"/>
          </a:xfrm>
          <a:prstGeom prst="line">
            <a:avLst/>
          </a:prstGeom>
          <a:ln w="13970">
            <a:solidFill>
              <a:srgbClr val="1A3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Local vs Cloud Decision Matrix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00784"/>
            <a:ext cx="4754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5B6C7B"/>
                </a:solidFill>
                <a:latin typeface="Arial"/>
              </a:defRPr>
            </a:pPr>
            <a:r>
              <a:t>DECISION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700784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LOCAL / PRIVATE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1700784"/>
            <a:ext cx="2880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47E20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03120"/>
            <a:ext cx="10698480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4434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82635"/>
                </a:solidFill>
                <a:latin typeface="Arial"/>
              </a:defRPr>
            </a:pPr>
            <a:r>
              <a:t>Sensitive data /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212848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212848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Policy dependent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70048"/>
            <a:ext cx="10698480" cy="475488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79776"/>
            <a:ext cx="4434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82635"/>
                </a:solidFill>
                <a:latin typeface="Arial"/>
              </a:defRPr>
            </a:pPr>
            <a:r>
              <a:t>Frontier reasoning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779776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Fit 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779776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36976"/>
            <a:ext cx="10698480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46704"/>
            <a:ext cx="4434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82635"/>
                </a:solidFill>
                <a:latin typeface="Arial"/>
              </a:defRPr>
            </a:pPr>
            <a:r>
              <a:t>Predictable high-volume workload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346704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LOCAL / 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346704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Possible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03904"/>
            <a:ext cx="10698480" cy="475488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13632"/>
            <a:ext cx="4434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82635"/>
                </a:solidFill>
                <a:latin typeface="Arial"/>
              </a:defRPr>
            </a:pPr>
            <a:r>
              <a:t>Rapid model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913632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Lifecycle overhead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13632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70831"/>
            <a:ext cx="10698480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480559"/>
            <a:ext cx="4434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82635"/>
                </a:solidFill>
                <a:latin typeface="Arial"/>
              </a:defRPr>
            </a:pPr>
            <a:r>
              <a:t>Network-independent operation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480559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LOCAL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480559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Not suitable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37760"/>
            <a:ext cx="10698480" cy="475488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47488"/>
            <a:ext cx="4434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182635"/>
                </a:solidFill>
                <a:latin typeface="Arial"/>
              </a:defRPr>
            </a:pPr>
            <a:r>
              <a:t>Elastic burst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047488"/>
            <a:ext cx="2423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70CA"/>
                </a:solidFill>
                <a:latin typeface="Arial"/>
              </a:defRPr>
            </a:pPr>
            <a:r>
              <a:t>Limited by owned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5047488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CLOUD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570585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87044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The target architecture should support controlled choice — not ideological lock-in.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RAG Security &amp; ACL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057400"/>
            <a:ext cx="1005840" cy="1005840"/>
          </a:xfrm>
          <a:prstGeom prst="ellipse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7685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2194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1C70CA"/>
                </a:solidFill>
                <a:latin typeface="Arial"/>
              </a:defRPr>
            </a:pPr>
            <a: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749039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User + group claims</a:t>
            </a:r>
          </a:p>
        </p:txBody>
      </p:sp>
      <p:sp>
        <p:nvSpPr>
          <p:cNvPr id="10" name="Chevron 9"/>
          <p:cNvSpPr/>
          <p:nvPr/>
        </p:nvSpPr>
        <p:spPr>
          <a:xfrm>
            <a:off x="2487168" y="2313432"/>
            <a:ext cx="301752" cy="438912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8999" y="2057400"/>
            <a:ext cx="1005840" cy="1005840"/>
          </a:xfrm>
          <a:prstGeom prst="ellipse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227685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337560"/>
            <a:ext cx="2194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25B1CD"/>
                </a:solidFill>
                <a:latin typeface="Arial"/>
              </a:defRPr>
            </a:pPr>
            <a:r>
              <a:t>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749039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Intent + agent scope</a:t>
            </a:r>
          </a:p>
        </p:txBody>
      </p:sp>
      <p:sp>
        <p:nvSpPr>
          <p:cNvPr id="15" name="Chevron 14"/>
          <p:cNvSpPr/>
          <p:nvPr/>
        </p:nvSpPr>
        <p:spPr>
          <a:xfrm>
            <a:off x="4818888" y="2313432"/>
            <a:ext cx="301752" cy="438912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2057400"/>
            <a:ext cx="1005840" cy="1005840"/>
          </a:xfrm>
          <a:prstGeom prst="ellipse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27685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3337560"/>
            <a:ext cx="2194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47E20"/>
                </a:solidFill>
                <a:latin typeface="Arial"/>
              </a:defRPr>
            </a:pPr>
            <a: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3749039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Personal / team / global ACL</a:t>
            </a:r>
          </a:p>
        </p:txBody>
      </p:sp>
      <p:sp>
        <p:nvSpPr>
          <p:cNvPr id="20" name="Chevron 19"/>
          <p:cNvSpPr/>
          <p:nvPr/>
        </p:nvSpPr>
        <p:spPr>
          <a:xfrm>
            <a:off x="7150607" y="2313432"/>
            <a:ext cx="301752" cy="438912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92440" y="2057400"/>
            <a:ext cx="1005840" cy="1005840"/>
          </a:xfrm>
          <a:prstGeom prst="ellipse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27685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337560"/>
            <a:ext cx="2194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249465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3749039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Authorized chunks only</a:t>
            </a:r>
          </a:p>
        </p:txBody>
      </p:sp>
      <p:sp>
        <p:nvSpPr>
          <p:cNvPr id="25" name="Chevron 24"/>
          <p:cNvSpPr/>
          <p:nvPr/>
        </p:nvSpPr>
        <p:spPr>
          <a:xfrm>
            <a:off x="9482328" y="2313432"/>
            <a:ext cx="301752" cy="438912"/>
          </a:xfrm>
          <a:prstGeom prst="chevron">
            <a:avLst/>
          </a:prstGeom>
          <a:solidFill>
            <a:srgbClr val="249465"/>
          </a:solidFill>
          <a:ln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0" y="2057400"/>
            <a:ext cx="1005840" cy="1005840"/>
          </a:xfrm>
          <a:prstGeom prst="ellipse">
            <a:avLst/>
          </a:prstGeom>
          <a:solidFill>
            <a:srgbClr val="1A3754"/>
          </a:solidFill>
          <a:ln>
            <a:solidFill>
              <a:srgbClr val="1A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2276856"/>
            <a:ext cx="1005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337560"/>
            <a:ext cx="2194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1A3754"/>
                </a:solidFill>
                <a:latin typeface="Arial"/>
              </a:defRPr>
            </a:pPr>
            <a:r>
              <a:t>CITE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3749039"/>
            <a:ext cx="197510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B6C7B"/>
                </a:solidFill>
                <a:latin typeface="Arial"/>
              </a:defRPr>
            </a:pPr>
            <a:r>
              <a:t>Re-check source authorization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03120" y="4919472"/>
            <a:ext cx="7955279" cy="621792"/>
          </a:xfrm>
          <a:prstGeom prst="roundRect">
            <a:avLst>
              <a:gd name="adj" fmla="val 8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5093208"/>
            <a:ext cx="7955279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47E20"/>
                </a:solidFill>
                <a:latin typeface="Arial"/>
              </a:defRPr>
            </a:pPr>
            <a:r>
              <a:t>Authorization is enforced before retrieval and again before opening the source.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MCP vs API Integration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148840" cy="3154680"/>
          </a:xfrm>
          <a:prstGeom prst="roundRect">
            <a:avLst>
              <a:gd name="adj" fmla="val 10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1488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7792"/>
            <a:ext cx="214884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C8DBEB"/>
                </a:solidFill>
                <a:latin typeface="Arial"/>
              </a:defRPr>
            </a:pPr>
            <a:r>
              <a:t>Intent</a:t>
            </a:r>
            <a:br/>
            <a:r>
              <a:t>Context</a:t>
            </a:r>
            <a:br/>
            <a:r>
              <a:t>Policy</a:t>
            </a:r>
            <a:br/>
            <a:r>
              <a:t>Audit</a:t>
            </a:r>
          </a:p>
        </p:txBody>
      </p:sp>
      <p:sp>
        <p:nvSpPr>
          <p:cNvPr id="9" name="Chevron 8"/>
          <p:cNvSpPr/>
          <p:nvPr/>
        </p:nvSpPr>
        <p:spPr>
          <a:xfrm>
            <a:off x="3017520" y="2962656"/>
            <a:ext cx="512064" cy="64008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67328" y="1719072"/>
            <a:ext cx="2834640" cy="132588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947672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1C70CA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395728"/>
            <a:ext cx="2834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Discoverable tools</a:t>
            </a:r>
            <a:br/>
            <a:r>
              <a:t>Standard agent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3685032"/>
            <a:ext cx="2834640" cy="1325880"/>
          </a:xfrm>
          <a:prstGeom prst="roundRect">
            <a:avLst>
              <a:gd name="adj" fmla="val 8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3913632"/>
            <a:ext cx="2834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47E20"/>
                </a:solidFill>
                <a:latin typeface="Arial"/>
              </a:defRPr>
            </a:pPr>
            <a:r>
              <a:t>REST / EVENT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361688"/>
            <a:ext cx="28346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5B6C7B"/>
                </a:solidFill>
                <a:latin typeface="Arial"/>
              </a:defRPr>
            </a:pPr>
            <a:r>
              <a:t>Explicit contract</a:t>
            </a:r>
            <a:br/>
            <a:r>
              <a:t>Workflow / transaction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6903720" y="2377440"/>
            <a:ext cx="512064" cy="64008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6903720" y="4343400"/>
            <a:ext cx="512064" cy="64008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44383" y="1783080"/>
            <a:ext cx="3840480" cy="31546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3" y="2084831"/>
            <a:ext cx="3840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82635"/>
                </a:solidFill>
                <a:latin typeface="Arial"/>
              </a:defRPr>
            </a:pPr>
            <a:r>
              <a:t>ENTERPRISE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816352"/>
            <a:ext cx="3072384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0">
                <a:solidFill>
                  <a:srgbClr val="5B6C7B"/>
                </a:solidFill>
                <a:latin typeface="Arial"/>
              </a:defRPr>
            </a:pPr>
            <a:r>
              <a:t>PeopleSoft  |  K2</a:t>
            </a:r>
            <a:br/>
            <a:r>
              <a:t>Observability  |  Databases</a:t>
            </a:r>
            <a:br/>
            <a:r>
              <a:t>Internal services  |  Automation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552297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68756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Treat MCP and APIs as governed connection patterns inside one integration layer.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AI Threat Model — Protect Data, Tools and Decisions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64008" cy="1554480"/>
          </a:xfrm>
          <a:prstGeom prst="rect">
            <a:avLst/>
          </a:prstGeom>
          <a:solidFill>
            <a:srgbClr val="BE3D3D"/>
          </a:solidFill>
          <a:ln w="1016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19842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PROMPT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1947672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Input validation</a:t>
            </a:r>
            <a:br/>
            <a:r>
              <a:t>Instruction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69164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272" y="1691640"/>
            <a:ext cx="64008" cy="1554480"/>
          </a:xfrm>
          <a:prstGeom prst="rect">
            <a:avLst/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901952"/>
            <a:ext cx="198424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DATA EXFILTRATION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404872"/>
            <a:ext cx="1947672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ACL + DLP</a:t>
            </a:r>
            <a:br/>
            <a:r>
              <a:t>Output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169164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98464" y="1691640"/>
            <a:ext cx="64008" cy="1554480"/>
          </a:xfrm>
          <a:prstGeom prst="rect">
            <a:avLst/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901952"/>
            <a:ext cx="1984247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82635"/>
                </a:solidFill>
                <a:latin typeface="Arial"/>
              </a:defRPr>
            </a:pPr>
            <a:r>
              <a:t>TOOL ABUSE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404872"/>
            <a:ext cx="1947672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B6C7B"/>
                </a:solidFill>
                <a:latin typeface="Arial"/>
              </a:defRPr>
            </a:pPr>
            <a:r>
              <a:t>Allowlist + policy</a:t>
            </a:r>
            <a:br/>
            <a:r>
              <a:t>Human approval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1691640"/>
            <a:ext cx="2651760" cy="1554480"/>
          </a:xfrm>
          <a:prstGeom prst="roundRect">
            <a:avLst>
              <a:gd name="adj" fmla="val 8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1947672"/>
            <a:ext cx="2651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25B1CD"/>
                </a:solidFill>
                <a:latin typeface="Arial"/>
              </a:defRPr>
            </a:pPr>
            <a:r>
              <a:t>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450592"/>
            <a:ext cx="26517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Identity  •  Model</a:t>
            </a:r>
            <a:br/>
            <a:r>
              <a:t>Tool  •  Action  •  Trace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3730752"/>
            <a:ext cx="10634472" cy="0"/>
          </a:xfrm>
          <a:prstGeom prst="line">
            <a:avLst/>
          </a:prstGeom>
          <a:ln w="1270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416052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34256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1C70CA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0">
                <a:solidFill>
                  <a:srgbClr val="5B6C7B"/>
                </a:solidFill>
                <a:latin typeface="Arial"/>
              </a:defRPr>
            </a:pPr>
            <a:r>
              <a:t>Validate + classify</a:t>
            </a:r>
          </a:p>
        </p:txBody>
      </p:sp>
      <p:sp>
        <p:nvSpPr>
          <p:cNvPr id="25" name="Chevron 24"/>
          <p:cNvSpPr/>
          <p:nvPr/>
        </p:nvSpPr>
        <p:spPr>
          <a:xfrm>
            <a:off x="2578608" y="4407408"/>
            <a:ext cx="219456" cy="365760"/>
          </a:xfrm>
          <a:prstGeom prst="chevron">
            <a:avLst/>
          </a:prstGeom>
          <a:solidFill>
            <a:srgbClr val="1C70CA"/>
          </a:solidFill>
          <a:ln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34639" y="416052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39" y="4334256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25B1CD"/>
                </a:solidFill>
                <a:latin typeface="Arial"/>
              </a:defRPr>
            </a:pPr>
            <a:r>
              <a:t>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79" y="4681728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0">
                <a:solidFill>
                  <a:srgbClr val="5B6C7B"/>
                </a:solidFill>
                <a:latin typeface="Arial"/>
              </a:defRPr>
            </a:pPr>
            <a:r>
              <a:t>Enforce ACL</a:t>
            </a:r>
          </a:p>
        </p:txBody>
      </p:sp>
      <p:sp>
        <p:nvSpPr>
          <p:cNvPr id="29" name="Chevron 28"/>
          <p:cNvSpPr/>
          <p:nvPr/>
        </p:nvSpPr>
        <p:spPr>
          <a:xfrm>
            <a:off x="4910327" y="4407408"/>
            <a:ext cx="219456" cy="365760"/>
          </a:xfrm>
          <a:prstGeom prst="chevron">
            <a:avLst/>
          </a:prstGeom>
          <a:solidFill>
            <a:srgbClr val="25B1CD"/>
          </a:solidFill>
          <a:ln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66359" y="416052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59" y="4334256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F47E20"/>
                </a:solidFill>
                <a:latin typeface="Arial"/>
              </a:defRPr>
            </a:pPr>
            <a:r>
              <a:t>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4681728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0">
                <a:solidFill>
                  <a:srgbClr val="5B6C7B"/>
                </a:solidFill>
                <a:latin typeface="Arial"/>
              </a:defRPr>
            </a:pPr>
            <a:r>
              <a:t>Bound instructions</a:t>
            </a:r>
          </a:p>
        </p:txBody>
      </p:sp>
      <p:sp>
        <p:nvSpPr>
          <p:cNvPr id="33" name="Chevron 32"/>
          <p:cNvSpPr/>
          <p:nvPr/>
        </p:nvSpPr>
        <p:spPr>
          <a:xfrm>
            <a:off x="7242048" y="4407408"/>
            <a:ext cx="219456" cy="365760"/>
          </a:xfrm>
          <a:prstGeom prst="chevron">
            <a:avLst/>
          </a:prstGeom>
          <a:solidFill>
            <a:srgbClr val="F47E20"/>
          </a:solidFill>
          <a:ln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79" y="416052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334256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BE3D3D"/>
                </a:solidFill>
                <a:latin typeface="Arial"/>
              </a:defRPr>
            </a:pPr>
            <a:r>
              <a:t>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4681728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0">
                <a:solidFill>
                  <a:srgbClr val="5B6C7B"/>
                </a:solidFill>
                <a:latin typeface="Arial"/>
              </a:defRPr>
            </a:pPr>
            <a:r>
              <a:t>Allowlist + least privilege</a:t>
            </a:r>
          </a:p>
        </p:txBody>
      </p:sp>
      <p:sp>
        <p:nvSpPr>
          <p:cNvPr id="37" name="Chevron 36"/>
          <p:cNvSpPr/>
          <p:nvPr/>
        </p:nvSpPr>
        <p:spPr>
          <a:xfrm>
            <a:off x="9573767" y="4407408"/>
            <a:ext cx="219456" cy="365760"/>
          </a:xfrm>
          <a:prstGeom prst="chevron">
            <a:avLst/>
          </a:prstGeom>
          <a:solidFill>
            <a:srgbClr val="BE3D3D"/>
          </a:solidFill>
          <a:ln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29800" y="416052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4334256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00" b="1">
                <a:solidFill>
                  <a:srgbClr val="249465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681728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0">
                <a:solidFill>
                  <a:srgbClr val="5B6C7B"/>
                </a:solidFill>
                <a:latin typeface="Arial"/>
              </a:defRPr>
            </a:pPr>
            <a:r>
              <a:t>DLP + evidence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1520" y="561441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7240" y="577900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Trust is earned at every step — from prompt to retrieval, tool execution and response.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3108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1C70CA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635"/>
                </a:solidFill>
                <a:latin typeface="Arial"/>
              </a:defRPr>
            </a:pPr>
            <a:r>
              <a:t>HA / DR / Backup Architecture for Local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298448"/>
            <a:ext cx="11100816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5B6C7B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27632"/>
            <a:ext cx="86410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627632"/>
            <a:ext cx="1417320" cy="566928"/>
          </a:xfrm>
          <a:prstGeom prst="roundRect">
            <a:avLst>
              <a:gd name="adj" fmla="val 4000"/>
            </a:avLst>
          </a:prstGeom>
          <a:solidFill>
            <a:srgbClr val="1C70CA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728216"/>
            <a:ext cx="127101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1737360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Load balancer   |   Health routing   |   TLS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322576"/>
            <a:ext cx="86410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322576"/>
            <a:ext cx="1417320" cy="566928"/>
          </a:xfrm>
          <a:prstGeom prst="roundRect">
            <a:avLst>
              <a:gd name="adj" fmla="val 4000"/>
            </a:avLst>
          </a:prstGeom>
          <a:solidFill>
            <a:srgbClr val="25B1CD"/>
          </a:solidFill>
          <a:ln w="10160">
            <a:solidFill>
              <a:srgbClr val="25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423160"/>
            <a:ext cx="127101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APP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432304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App replicas   |   Worker pool   |   Queue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017520"/>
            <a:ext cx="86410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3017520"/>
            <a:ext cx="1417320" cy="566928"/>
          </a:xfrm>
          <a:prstGeom prst="roundRect">
            <a:avLst>
              <a:gd name="adj" fmla="val 4000"/>
            </a:avLst>
          </a:prstGeom>
          <a:solidFill>
            <a:srgbClr val="249465"/>
          </a:solidFill>
          <a:ln w="10160">
            <a:solidFill>
              <a:srgbClr val="249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118103"/>
            <a:ext cx="127101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3127248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Database   |   Vector DB   |   Object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12463"/>
            <a:ext cx="864108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3712463"/>
            <a:ext cx="1417320" cy="566928"/>
          </a:xfrm>
          <a:prstGeom prst="roundRect">
            <a:avLst>
              <a:gd name="adj" fmla="val 4000"/>
            </a:avLst>
          </a:prstGeom>
          <a:solidFill>
            <a:srgbClr val="F47E20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3813048"/>
            <a:ext cx="1271016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822191"/>
            <a:ext cx="69037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Gateway   |   GPU nodes   |   Model cache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1627632"/>
            <a:ext cx="1444752" cy="2651760"/>
          </a:xfrm>
          <a:prstGeom prst="roundRect">
            <a:avLst>
              <a:gd name="adj" fmla="val 6000"/>
            </a:avLst>
          </a:prstGeom>
          <a:solidFill>
            <a:srgbClr val="08182B"/>
          </a:solidFill>
          <a:ln w="10160"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901952"/>
            <a:ext cx="1444752" cy="21579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RESILIENCE</a:t>
            </a:r>
            <a:br/>
            <a:br/>
            <a:r>
              <a:t>HA</a:t>
            </a:r>
            <a:br/>
            <a:r>
              <a:t>Backup set</a:t>
            </a:r>
            <a:br/>
            <a:r>
              <a:t>Restore drill</a:t>
            </a:r>
            <a:br/>
            <a:r>
              <a:t>RTO / RPO</a:t>
            </a:r>
            <a:br/>
            <a:r>
              <a:t>Monitoring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4773168"/>
            <a:ext cx="8046720" cy="0"/>
          </a:xfrm>
          <a:prstGeom prst="line">
            <a:avLst/>
          </a:prstGeom>
          <a:ln w="15240">
            <a:solidFill>
              <a:srgbClr val="B0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011680" y="4498848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E8F2FC"/>
          </a:solidFill>
          <a:ln w="10160">
            <a:solidFill>
              <a:srgbClr val="1C7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645152"/>
            <a:ext cx="29260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70CA"/>
                </a:solidFill>
                <a:latin typeface="Arial"/>
              </a:defRPr>
            </a:pPr>
            <a:r>
              <a:t>PRIMARY SITE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4498848"/>
            <a:ext cx="2926080" cy="566928"/>
          </a:xfrm>
          <a:prstGeom prst="roundRect">
            <a:avLst>
              <a:gd name="adj" fmla="val 6000"/>
            </a:avLst>
          </a:prstGeom>
          <a:solidFill>
            <a:srgbClr val="FFF2E4"/>
          </a:solidFill>
          <a:ln w="1016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645152"/>
            <a:ext cx="29260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47E20"/>
                </a:solidFill>
                <a:latin typeface="Arial"/>
              </a:defRPr>
            </a:pPr>
            <a:r>
              <a:t>RECOVERY SITE / RESTORE TARGET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614416"/>
            <a:ext cx="10698480" cy="0"/>
          </a:xfrm>
          <a:prstGeom prst="line">
            <a:avLst/>
          </a:prstGeom>
          <a:ln w="10160">
            <a:solidFill>
              <a:srgbClr val="D6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5779008"/>
            <a:ext cx="10652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C70CA"/>
                </a:solidFill>
                <a:latin typeface="Arial"/>
              </a:defRPr>
            </a:pPr>
            <a:r>
              <a:t>Backups are only proven when application data, vectors and objects restore as one consistent 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473952"/>
            <a:ext cx="7132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8291A0"/>
                </a:solidFill>
                <a:latin typeface="Arial"/>
              </a:defRPr>
            </a:pPr>
            <a:r>
              <a:t>Enterprise AI Strategy | KGI Securities Thailand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AI Platform — From Enterprise Knowledge to Intelligent Action</dc:title>
  <dc:subject>Enterprise AI strategy and solution architecture proposal</dc:subject>
  <dc:creator>Enterprise AI Strategy Team</dc:creator>
  <cp:keywords/>
  <dc:description>Prepared for KGI Securities Thailand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