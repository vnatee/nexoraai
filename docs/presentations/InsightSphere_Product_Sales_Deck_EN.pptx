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1" r:id="rId12"/>
    <p:sldId id="279" r:id="rId30"/>
    <p:sldId id="284" r:id="rId35"/>
    <p:sldId id="280" r:id="rId31"/>
    <p:sldId id="285" r:id="rId36"/>
    <p:sldId id="278" r:id="rId29"/>
    <p:sldId id="275" r:id="rId26"/>
    <p:sldId id="286" r:id="rId37"/>
    <p:sldId id="276" r:id="rId27"/>
    <p:sldId id="263" r:id="rId14"/>
    <p:sldId id="274" r:id="rId25"/>
    <p:sldId id="283" r:id="rId34"/>
    <p:sldId id="287" r:id="rId38"/>
    <p:sldId id="264" r:id="rId15"/>
    <p:sldId id="281" r:id="rId32"/>
    <p:sldId id="277" r:id="rId28"/>
    <p:sldId id="282" r:id="rId33"/>
    <p:sldId id="288" r:id="rId39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pic>
        <p:nvPicPr>
          <p:cNvPr id="4" name="Picture 3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4360"/>
            <a:ext cx="2834640" cy="7570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26280" y="1051560"/>
            <a:ext cx="6812280" cy="1508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Enterprise AI Agent</a:t>
            </a:r>
            <a:br/>
            <a:r>
              <a:rPr>
                <a:latin typeface="Arial"/>
              </a:rPr>
              <a:t>&amp; Knowledge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788920"/>
            <a:ext cx="6355080" cy="1051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100" b="0">
                <a:solidFill>
                  <a:srgbClr val="CADBEC"/>
                </a:solidFill>
                <a:latin typeface="Noto Sans Thai"/>
              </a:defRPr>
            </a:pPr>
            <a:r>
              <a:rPr>
                <a:latin typeface="Arial"/>
              </a:rPr>
              <a:t>Turn enterprise knowledge and workflows</a:t>
            </a:r>
            <a:br/>
            <a:r>
              <a:rPr>
                <a:latin typeface="Arial"/>
              </a:rPr>
              <a:t>into AI that can search, reason, and 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3712" y="4315968"/>
            <a:ext cx="2057400" cy="50292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4315968"/>
            <a:ext cx="2057400" cy="5029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5074920"/>
            <a:ext cx="52120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1">
                <a:solidFill>
                  <a:srgbClr val="8CB7E1"/>
                </a:solidFill>
                <a:latin typeface="Noto Sans Thai"/>
              </a:defRPr>
            </a:pPr>
            <a:r>
              <a:rPr>
                <a:latin typeface="Arial"/>
              </a:rPr>
              <a:t>Private • Governed • Flexible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6080760"/>
            <a:ext cx="201168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90A4B8"/>
                </a:solidFill>
                <a:latin typeface="Noto Sans Thai"/>
              </a:defRPr>
            </a:pPr>
            <a:r>
              <a:rPr>
                <a:latin typeface="Arial"/>
              </a:rPr>
              <a:t>Sales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One AI Platform for Knowledge, People, and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69848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1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Build AI agents grounded in trusted enterprise data, connected to existing systems,</a:t>
            </a:r>
            <a:br/>
            <a:r>
              <a:rPr>
                <a:latin typeface="Arial"/>
              </a:rPr>
              <a:t>with governed access and the freedom to deploy in cloud, local, or hybrid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2788920"/>
            <a:ext cx="82296" cy="214884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3017520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Search and Cite 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RAG with file- and page-level citations across Personal, Team, and Global data scopes.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3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43983" y="2788920"/>
            <a:ext cx="82296" cy="214884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00015" y="301752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0015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THINK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Analyze Multiple Content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1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Text, documents, images, OCR, and evidence matrices for requirements analysis.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5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5" y="2788920"/>
            <a:ext cx="82296" cy="214884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22207" y="301752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22207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1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Connect Agents to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3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Invoke tools, MCP, databases, APIs, mail, and messaging under enterprise policy.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394960"/>
            <a:ext cx="1092708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Outcome: Move from AI experiments to governed, operational AI workflows.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CUSTOMER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The Enterprise Challenges of Adopting Generative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3736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3736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96596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96596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93852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Fragmented 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8716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Documents span teams and systems, making trusted answers difficult to find.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73736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73736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01384" y="196596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96596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328" y="193852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Answers Without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8716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AI can respond, but users cannot verify the source file or cited page.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15468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" y="315468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38328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35584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Complex Access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0448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Teams have different confidentiality needs and cross-team exposure must be prevented.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15468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15468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01384" y="338328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335584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Disconnected from Workflows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90448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Answers alone do not streamline work if AI cannot call APIs, databases, or tools.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57200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" y="457200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77824" y="480060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0060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77316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Vendor Lock-in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2180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Cost, data, and model requirements change quickly while the platform remains locked to one vendor.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457200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45352" y="457200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01384" y="480060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80060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96328" y="4773168"/>
            <a:ext cx="41148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Production Governance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321808"/>
            <a:ext cx="4690872" cy="2103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Organizations lack centralized audit, policy, usage, agent, and model management.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 Unified Platform for Knowledge, Agents, and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50876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USER EXPERIENCE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1627632"/>
            <a:ext cx="9098280" cy="685800"/>
          </a:xfrm>
          <a:prstGeom prst="roundRect">
            <a:avLst/>
          </a:prstGeom>
          <a:solidFill>
            <a:srgbClr val="1D3753"/>
          </a:solidFill>
          <a:ln>
            <a:solidFill>
              <a:srgbClr val="1D3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773936"/>
            <a:ext cx="87325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Chat &amp; Ask  •  File / Image / Clipboard  •  Citation Viewer  •  Admin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40"/>
            <a:ext cx="1508760" cy="56692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1508760" cy="5669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AI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2606040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706624"/>
            <a:ext cx="8686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rPr>
                <a:latin typeface="Arial"/>
              </a:rPr>
              <a:t>Per-Agent Model • Prompt • RAG Policy • Tool Policy • 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10712"/>
            <a:ext cx="1508760" cy="56692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10712"/>
            <a:ext cx="1508760" cy="5669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KNOWLEDGE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3410712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3511296"/>
            <a:ext cx="8686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rPr>
                <a:latin typeface="Arial"/>
              </a:rPr>
              <a:t>Document Processing • OCR Routing • Vector Search • Evidence Matrix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215384"/>
            <a:ext cx="1508760" cy="56692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215384"/>
            <a:ext cx="1508760" cy="5669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4215384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315968"/>
            <a:ext cx="8686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rPr>
                <a:latin typeface="Arial"/>
              </a:rPr>
              <a:t>MCP • REST API • Database • Mail • Messaging • Sub-Agent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0056"/>
            <a:ext cx="1508760" cy="56692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0056"/>
            <a:ext cx="1508760" cy="56692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5020056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2" y="5120640"/>
            <a:ext cx="8686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rPr>
                <a:latin typeface="Arial"/>
              </a:rPr>
              <a:t>Local + Entra ID • Team/Data Group ACL • Audit • Usage • Secrets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89320"/>
            <a:ext cx="150876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943600"/>
            <a:ext cx="90982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Azure  |  Local Containers  |  Hybrid Providers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KNOWLEDGE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Enterprise Knowledge that Answers — and Proves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64792"/>
            <a:ext cx="3456432" cy="1600200"/>
          </a:xfrm>
          <a:prstGeom prst="roundRect">
            <a:avLst/>
          </a:prstGeom>
          <a:solidFill>
            <a:srgbClr val="E8F3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64792"/>
            <a:ext cx="82296" cy="16002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Multiple Data Scopes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Personal knowledge for individuals, Team and Data Group access for collaboration, and Global knowledge for everyone.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764792"/>
            <a:ext cx="3456432" cy="1600200"/>
          </a:xfrm>
          <a:prstGeom prst="roundRect">
            <a:avLst/>
          </a:prstGeom>
          <a:solidFill>
            <a:srgbClr val="E6FA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764792"/>
            <a:ext cx="82296" cy="160020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Document Processing &amp; OCR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Route by file type, team, and priority using local parsers, Docling, or managed OCR providers.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64792"/>
            <a:ext cx="3456432" cy="160020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764792"/>
            <a:ext cx="82296" cy="160020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Citations and Page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Answers link to source files and pages, with authorization enforced every time a document is opened.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274320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 Governed Knowledge Lifecycle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15968"/>
            <a:ext cx="17373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UPLOAD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4315968"/>
            <a:ext cx="1737360" cy="65836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EXTRACT /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93792" y="4315968"/>
            <a:ext cx="1737360" cy="65836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EMBED +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1504" y="4315968"/>
            <a:ext cx="1737360" cy="65836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29216" y="4315968"/>
            <a:ext cx="17373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29216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40680"/>
            <a:ext cx="7315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Benefit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394960"/>
            <a:ext cx="978408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Reduce search time • Improve trust • Preserve access control • Support auditability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AI Agents that Do More than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097280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9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Configure role-specific agents with the right model, prompt, data scope, and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0632"/>
            <a:ext cx="457200" cy="45720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HR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Answer employee policy questions</a:t>
            </a:r>
            <a:br/>
            <a:r>
              <a:rPr>
                <a:latin typeface="Arial"/>
              </a:rPr>
              <a:t>from authorized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4" y="2770632"/>
            <a:ext cx="457200" cy="45720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Presales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Find product knowledge</a:t>
            </a:r>
            <a:br/>
            <a:r>
              <a:rPr>
                <a:latin typeface="Arial"/>
              </a:rPr>
              <a:t>and create evidence-based responses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37376" y="2770632"/>
            <a:ext cx="457200" cy="45720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Operations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Inspect monitors and logs</a:t>
            </a:r>
            <a:br/>
            <a:r>
              <a:rPr>
                <a:latin typeface="Arial"/>
              </a:rPr>
              <a:t>through MCP and summarize incidents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53728" y="2770632"/>
            <a:ext cx="457200" cy="45720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Data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Query databases in read-only mode</a:t>
            </a:r>
            <a:br/>
            <a:r>
              <a:rPr>
                <a:latin typeface="Arial"/>
              </a:rPr>
              <a:t>and generate charts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0017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4892040"/>
            <a:ext cx="105613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Tool policies limit call volume, execution time, and permitted sources.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6752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257800"/>
            <a:ext cx="105613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Sub-agent delegation includes cycle prevention and bounded depth.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3328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5623560"/>
            <a:ext cx="105613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Audit events connect models, tools, and traces without storing raw secrets.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DOCUMENT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From Requirements Documents to an Auditable Evidence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2880360" cy="3611880"/>
          </a:xfrm>
          <a:prstGeom prst="round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57400"/>
            <a:ext cx="7315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240280" cy="1143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Requirements</a:t>
            </a:r>
            <a:br/>
            <a:r>
              <a:rPr>
                <a:latin typeface="Arial"/>
              </a:rPr>
              <a:t>TOR / RFP / Policy</a:t>
            </a:r>
            <a:br/>
            <a:r>
              <a:rPr>
                <a:latin typeface="Arial"/>
              </a:rPr>
              <a:t>Checklist / 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60520"/>
            <a:ext cx="214884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BED2E6"/>
                </a:solidFill>
                <a:latin typeface="Noto Sans Thai"/>
              </a:defRPr>
            </a:pPr>
            <a:r>
              <a:rPr>
                <a:latin typeface="Arial"/>
              </a:rPr>
              <a:t>Use temporary attachments</a:t>
            </a:r>
            <a:br/>
            <a:r>
              <a:rPr>
                <a:latin typeface="Arial"/>
              </a:rPr>
              <a:t>or governed enterprise 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200400"/>
            <a:ext cx="502920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764792"/>
            <a:ext cx="7269480" cy="3611880"/>
          </a:xfrm>
          <a:prstGeom prst="roundRect">
            <a:avLst/>
          </a:prstGeom>
          <a:solidFill>
            <a:srgbClr val="F4F8FC"/>
          </a:solidFill>
          <a:ln>
            <a:solidFill>
              <a:srgbClr val="D2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057400"/>
            <a:ext cx="1874519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148840"/>
            <a:ext cx="1783079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Requirement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057400"/>
            <a:ext cx="96012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86868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1192" y="2057400"/>
            <a:ext cx="1874519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2148840"/>
            <a:ext cx="1783079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12" y="2057400"/>
            <a:ext cx="114300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148840"/>
            <a:ext cx="105156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68712" y="2057400"/>
            <a:ext cx="105156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14432" y="2148840"/>
            <a:ext cx="960119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Confidence /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87752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9704" y="2724912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The system must provide audit trails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2587752"/>
            <a:ext cx="9601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2724912"/>
            <a:ext cx="8138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Found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51192" y="2587752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24344" y="2724912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Agent audit event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2" y="2587752"/>
            <a:ext cx="1143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2724912"/>
            <a:ext cx="99669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Guide.pdf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68712" y="2587752"/>
            <a:ext cx="1051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41864" y="2724912"/>
            <a:ext cx="905255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3300984"/>
            <a:ext cx="1874519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9704" y="3438144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Support local deployment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3300984"/>
            <a:ext cx="96012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3438144"/>
            <a:ext cx="8138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Found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51192" y="3300984"/>
            <a:ext cx="1874519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24344" y="3438144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Compose runtime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25712" y="3300984"/>
            <a:ext cx="114300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3438144"/>
            <a:ext cx="99669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Arch.pdf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68712" y="3300984"/>
            <a:ext cx="105156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41864" y="3438144"/>
            <a:ext cx="905255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High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6552" y="4014216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9704" y="4151376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Customer-specific requirement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91072" y="4014216"/>
            <a:ext cx="9601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151376"/>
            <a:ext cx="8138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C33737"/>
                </a:solidFill>
                <a:latin typeface="Noto Sans Thai"/>
              </a:defRPr>
            </a:pPr>
            <a:r>
              <a:rPr>
                <a:latin typeface="Arial"/>
              </a:rPr>
              <a:t>Not found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51192" y="4014216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24344" y="4151376"/>
            <a:ext cx="172821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25712" y="4014216"/>
            <a:ext cx="1143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98864" y="4151376"/>
            <a:ext cx="996696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68712" y="4014216"/>
            <a:ext cx="1051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41864" y="4151376"/>
            <a:ext cx="905255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C33737"/>
                </a:solidFill>
                <a:latin typeface="Noto Sans Thai"/>
              </a:defRPr>
            </a:pPr>
            <a:r>
              <a:rPr>
                <a:latin typeface="Arial"/>
              </a:rPr>
              <a:t>Gap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Benefit: Evaluate requirements systematically, expose evidence and gaps, and reduce unsupported conclusions.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Security and Governance Built into the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6968" y="1993391"/>
            <a:ext cx="566928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Local users + Microsoft Entra ID</a:t>
            </a:r>
            <a:br/>
            <a:r>
              <a:rPr>
                <a:latin typeface="Arial"/>
              </a:rPr>
              <a:t>with secure super-admin bootstrap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59" y="1993391"/>
            <a:ext cx="566928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Team, Data Group, Personal/Global ACLs</a:t>
            </a:r>
            <a:br/>
            <a:r>
              <a:rPr>
                <a:latin typeface="Arial"/>
              </a:rPr>
              <a:t>enforced for retrieval and citation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31352" y="1993391"/>
            <a:ext cx="566928" cy="34747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Fernet encryption for provider keys</a:t>
            </a:r>
            <a:br/>
            <a:r>
              <a:rPr>
                <a:latin typeface="Arial"/>
              </a:rPr>
              <a:t>secrets are never returned to the 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" y="3867911"/>
            <a:ext cx="566928" cy="34747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Allowlist, timeout, call limit</a:t>
            </a:r>
            <a:br/>
            <a:r>
              <a:rPr>
                <a:latin typeface="Arial"/>
              </a:rPr>
              <a:t>read-only database enforcement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59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9159" y="3867911"/>
            <a:ext cx="566928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59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Trace model and tool activity</a:t>
            </a:r>
            <a:br/>
            <a:r>
              <a:rPr>
                <a:latin typeface="Arial"/>
              </a:rPr>
              <a:t>without persisting raw prompts or outputs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31352" y="3867911"/>
            <a:ext cx="566928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1352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rPr>
                <a:latin typeface="Arial"/>
              </a:rPr>
              <a:t>History and attachments isolated by user,</a:t>
            </a:r>
            <a:br/>
            <a:r>
              <a:rPr>
                <a:latin typeface="Arial"/>
              </a:rPr>
              <a:t>conversation, and data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70448"/>
            <a:ext cx="1088136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Designed for enterprise control — security contracts are never weakened for convenience.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MODEL 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Choose the Right Model and Provider for Every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19072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9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Avoid a one-model-fits-all approach — separate chat, embedding, and processing providers.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3456432" cy="2240280"/>
          </a:xfrm>
          <a:prstGeom prst="roundRect">
            <a:avLst/>
          </a:prstGeom>
          <a:solidFill>
            <a:srgbClr val="E8F3FF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Cloud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Azure OpenAI</a:t>
            </a:r>
            <a:br/>
            <a:r>
              <a:rPr>
                <a:latin typeface="Arial"/>
              </a:rPr>
              <a:t>OpenAI</a:t>
            </a:r>
            <a:br/>
            <a:r>
              <a:rPr>
                <a:latin typeface="Arial"/>
              </a:rPr>
              <a:t>Gemini</a:t>
            </a:r>
            <a:br/>
            <a:r>
              <a:rPr>
                <a:latin typeface="Arial"/>
              </a:rPr>
              <a:t>Anthropic</a:t>
            </a:r>
            <a:br/>
            <a:r>
              <a:rPr>
                <a:latin typeface="Arial"/>
              </a:rPr>
              <a:t>OpenRouter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468880"/>
            <a:ext cx="3456432" cy="2240280"/>
          </a:xfrm>
          <a:prstGeom prst="roundRect">
            <a:avLst/>
          </a:prstGeom>
          <a:solidFill>
            <a:srgbClr val="E9F8F0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Local / Private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1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Ollama</a:t>
            </a:r>
            <a:br/>
            <a:r>
              <a:rPr>
                <a:latin typeface="Arial"/>
              </a:rPr>
              <a:t>vLLM</a:t>
            </a:r>
            <a:br/>
            <a:r>
              <a:rPr>
                <a:latin typeface="Arial"/>
              </a:rPr>
              <a:t>LocalAI</a:t>
            </a:r>
            <a:br/>
            <a:r>
              <a:rPr>
                <a:latin typeface="Arial"/>
              </a:rPr>
              <a:t>OpenAI-compatible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2468880"/>
            <a:ext cx="3456432" cy="2240280"/>
          </a:xfrm>
          <a:prstGeom prst="roundRect">
            <a:avLst/>
          </a:prstGeom>
          <a:solidFill>
            <a:srgbClr val="FFF4E5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Model &amp; Inference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0224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Groq</a:t>
            </a:r>
            <a:br/>
            <a:r>
              <a:rPr>
                <a:latin typeface="Arial"/>
              </a:rPr>
              <a:t>Mistral</a:t>
            </a:r>
            <a:br/>
            <a:r>
              <a:rPr>
                <a:latin typeface="Arial"/>
              </a:rPr>
              <a:t>DeepSeek</a:t>
            </a:r>
            <a:br/>
            <a:r>
              <a:rPr>
                <a:latin typeface="Arial"/>
              </a:rPr>
              <a:t>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8464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515600" cy="350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The portal tests tool-calling and vision capabilities before activation.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351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5440"/>
            <a:ext cx="10515600" cy="350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Select models per agent to balance cost, latency, privacy, and quality.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8568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75960"/>
            <a:ext cx="10515600" cy="350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Change providers while preserving agents, ACLs, and the Knowledge architecture.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Flexible Deployment: Azure, Local, or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33375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Azure OpenAI</a:t>
            </a:r>
            <a:br/>
            <a:r>
              <a:rPr>
                <a:latin typeface="Arial"/>
              </a:rPr>
              <a:t>Azure AI Search</a:t>
            </a:r>
            <a:br/>
            <a:r>
              <a:rPr>
                <a:latin typeface="Arial"/>
              </a:rPr>
              <a:t>Blob / Cosmos-compatible</a:t>
            </a:r>
            <a:br/>
            <a:r>
              <a:rPr>
                <a:latin typeface="Arial"/>
              </a:rPr>
              <a:t>Entra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07992" y="1828800"/>
            <a:ext cx="3337560" cy="65836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Docker Compose</a:t>
            </a:r>
            <a:br/>
            <a:r>
              <a:rPr>
                <a:latin typeface="Arial"/>
              </a:rPr>
              <a:t>MongoDB + MinIO</a:t>
            </a:r>
            <a:br/>
            <a:r>
              <a:rPr>
                <a:latin typeface="Arial"/>
              </a:rPr>
              <a:t>Qdrant + Ollama/BGE-M3</a:t>
            </a:r>
            <a:br/>
            <a:r>
              <a:rPr>
                <a:latin typeface="Arial"/>
              </a:rPr>
              <a:t>Local Authentication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828800"/>
            <a:ext cx="3337560" cy="65836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HYBRID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Local data plane</a:t>
            </a:r>
            <a:br/>
            <a:r>
              <a:rPr>
                <a:latin typeface="Arial"/>
              </a:rPr>
              <a:t>Cloud or local LLMs</a:t>
            </a:r>
            <a:br/>
            <a:r>
              <a:rPr>
                <a:latin typeface="Arial"/>
              </a:rPr>
              <a:t>selected per agent</a:t>
            </a:r>
            <a:br/>
            <a:r>
              <a:rPr>
                <a:latin typeface="Arial"/>
              </a:rPr>
              <a:t>and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349240"/>
            <a:ext cx="1074420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Clean provider interfaces preserve Azure behavior while enabling self-hosted deployment.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High-Value Use Cases to Start With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55648"/>
            <a:ext cx="82296" cy="162763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98424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Enterprise 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Answer policy, manual, and internal knowledge questions with citations.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1755648"/>
            <a:ext cx="82296" cy="162763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0015" y="1984248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RFP /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Compare requirements with Knowledge evidence and identify gaps.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6175" y="1755648"/>
            <a:ext cx="82296" cy="162763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22207" y="1984248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7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1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3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Search monitors and logs through MCP, summarize incidents, and recommend next steps.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3749039"/>
            <a:ext cx="82296" cy="162763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7824" y="3977639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Data 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Query governed databases, summarize results, and generate charts.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3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43983" y="3749039"/>
            <a:ext cx="82296" cy="162763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00015" y="3977639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0015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59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Presales Copilot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6591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Find product knowledge and create source-verifiable responses.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66175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66175" y="3749039"/>
            <a:ext cx="82296" cy="162763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22207" y="3977639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7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1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Workflow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3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Invoke APIs, mail, messaging, and sub-agents under tool policy.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Business Benefits Connected to Measurable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64792"/>
            <a:ext cx="1965960" cy="71323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1965960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PRODUCTIVITY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10512"/>
            <a:ext cx="512064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Reduce time spent searching, summarizing, and recreating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828800"/>
            <a:ext cx="329184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rPr>
                <a:latin typeface="Arial"/>
              </a:rPr>
              <a:t>Measure: average time per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43784"/>
            <a:ext cx="1965960" cy="71323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43784"/>
            <a:ext cx="1965960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889503"/>
            <a:ext cx="512064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Deliver evidence-backed answers and make knowledge gaps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907791"/>
            <a:ext cx="329184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rPr>
                <a:latin typeface="Arial"/>
              </a:rPr>
              <a:t>Measure: acceptance and rework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22776"/>
            <a:ext cx="1965960" cy="71323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1965960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68496"/>
            <a:ext cx="512064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Manage data, agent, and tool permissions centrally.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986784"/>
            <a:ext cx="329184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rPr>
                <a:latin typeface="Arial"/>
              </a:rPr>
              <a:t>Measure: policy violations and audit 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01768"/>
            <a:ext cx="1965960" cy="71323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01768"/>
            <a:ext cx="1965960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FLEXIBILITY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47488"/>
            <a:ext cx="512064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Choose models and deployment modes according to workload needs.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65776"/>
            <a:ext cx="329184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rPr>
                <a:latin typeface="Arial"/>
              </a:rPr>
              <a:t>Measure: cost per task and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4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Establish the customer baseline and validate pilot results before claiming ROI — no invented numbers.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 Low-Risk Path to Adoption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7048" y="2267712"/>
            <a:ext cx="749808" cy="74980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DISCOVER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Select 1–2 use cases</a:t>
            </a:r>
            <a:br/>
            <a:r>
              <a:rPr>
                <a:latin typeface="Arial"/>
              </a:rPr>
              <a:t>Define data, ACLs, and KPIs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2267712"/>
            <a:ext cx="749808" cy="74980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Connect real data</a:t>
            </a:r>
            <a:br/>
            <a:r>
              <a:rPr>
                <a:latin typeface="Arial"/>
              </a:rPr>
              <a:t>Configure agents and guardrails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96328" y="2267712"/>
            <a:ext cx="749808" cy="74980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User Acceptance</a:t>
            </a:r>
            <a:br/>
            <a:r>
              <a:rPr>
                <a:latin typeface="Arial"/>
              </a:rPr>
              <a:t>Security &amp; KPI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6228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2267712"/>
            <a:ext cx="749808" cy="74980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096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Production hardening</a:t>
            </a:r>
            <a:br/>
            <a:r>
              <a:rPr>
                <a:latin typeface="Arial"/>
              </a:rPr>
              <a:t>Operations &amp; Enablement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" y="54589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349240"/>
            <a:ext cx="1046988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Run the pilot with scoped production-like data and named data owners.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" y="5788152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678424"/>
            <a:ext cx="1046988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Production scope includes TLS, backup/restore, monitoring, capacity, and a support model.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Why InsightSphere for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64792"/>
            <a:ext cx="82296" cy="109728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93392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965960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Evidence-first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14600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Citations, page evidence, and gaps are designed into the workflow — not added later.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764792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1928" y="1764792"/>
            <a:ext cx="82296" cy="109728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37960" y="1993392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993392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1965960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Access-aware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2514600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Team and Data Group ACLs span ingestion, retrieval, and citation authorization.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154680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154680"/>
            <a:ext cx="82296" cy="109728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338328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3355848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Agentic but governed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3904488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Agents invoke real tools under policy, permission, and audit controls.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3154680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1928" y="3154680"/>
            <a:ext cx="82296" cy="109728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60" y="338328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3355848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Provider-neutral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3904488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Move between cloud, local, and hybrid providers without rebuilding the platform.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44568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544568"/>
            <a:ext cx="82296" cy="109728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477316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77316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9344" y="4745736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Built for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" y="5294376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Admin portal, model capability testing, persistent jobs, and recovery.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1928" y="4544568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81928" y="4544568"/>
            <a:ext cx="82296" cy="109728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37960" y="4773168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77316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4745736"/>
            <a:ext cx="408736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Expandable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4536" y="5294376"/>
            <a:ext cx="4663440" cy="182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MCP, LangGraph, sub-agents, and provider adapters support future growth.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943600"/>
            <a:ext cx="1083564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One platform. Your data. Your model choice. Your governance.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pic>
        <p:nvPicPr>
          <p:cNvPr id="3" name="Picture 2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743200" cy="7326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645920"/>
            <a:ext cx="8138160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3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Start with a High-Value Use Case</a:t>
            </a:r>
            <a:br/>
            <a:r>
              <a:rPr>
                <a:latin typeface="Arial"/>
              </a:rPr>
              <a:t>Then Scale into an Enterprise AI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46120"/>
            <a:ext cx="29260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Recommended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390448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3794760"/>
            <a:ext cx="754380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Workshop: Use cases, data scope, security, and KPIs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40740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297680"/>
            <a:ext cx="754380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Technical assessment: deployment and integrations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" y="491032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800600"/>
            <a:ext cx="754380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Pilot plan: scope, users, timeline, and success criteria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874519"/>
            <a:ext cx="2103120" cy="210312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874519"/>
            <a:ext cx="2103120" cy="21031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LET'S</a:t>
            </a:r>
            <a:br/>
            <a:r>
              <a:rPr>
                <a:latin typeface="Arial"/>
              </a:rPr>
              <a:t>BUILD</a:t>
            </a:r>
            <a:br/>
            <a:r>
              <a:rPr>
                <a:latin typeface="Arial"/>
              </a:rPr>
              <a:t>TRUSTED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989320"/>
            <a:ext cx="20116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1">
                <a:solidFill>
                  <a:srgbClr val="A8C2DB"/>
                </a:solidFill>
                <a:latin typeface="Noto Sans Thai"/>
              </a:defRPr>
            </a:pPr>
            <a:r>
              <a:rPr>
                <a:latin typeface="Arial"/>
              </a:rPr>
              <a:t>Thank you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BACKUP |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Capacity Planning Starts with Concurrent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9928"/>
            <a:ext cx="1083564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Account count is not the same as simultaneous AI workload.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2706624"/>
            <a:ext cx="1005840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REGISTERED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Total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Plan identity and</a:t>
            </a:r>
            <a:br/>
            <a:r>
              <a:rPr>
                <a:latin typeface="Arial"/>
              </a:rPr>
              <a:t>long-term data volume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2706624"/>
            <a:ext cx="1005840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Active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Measure daily/monthly activity</a:t>
            </a:r>
            <a:br/>
            <a:r>
              <a:rPr>
                <a:latin typeface="Arial"/>
              </a:rPr>
              <a:t>and usage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73952" y="2706624"/>
            <a:ext cx="1005840" cy="34747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CONCURRENT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In-flight requests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Size app replicas,</a:t>
            </a:r>
            <a:br/>
            <a:r>
              <a:rPr>
                <a:latin typeface="Arial"/>
              </a:rPr>
              <a:t>connections, and queues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90304" y="2706624"/>
            <a:ext cx="1005840" cy="34747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4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GENERATION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Concurrent LLM generations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Size GPU slots</a:t>
            </a:r>
            <a:br/>
            <a:r>
              <a:rPr>
                <a:latin typeface="Arial"/>
              </a:rPr>
              <a:t>or cloud quota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56048"/>
            <a:ext cx="10835640" cy="841248"/>
          </a:xfrm>
          <a:prstGeom prst="roundRect">
            <a:avLst/>
          </a:prstGeom>
          <a:solidFill>
            <a:srgbClr val="E8F3FF"/>
          </a:solidFill>
          <a:ln>
            <a:solidFill>
              <a:srgbClr val="C1D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148072"/>
            <a:ext cx="103327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Estimated capacity = peak concurrent requests × processing time × context and tool workload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925312"/>
            <a:ext cx="1069848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These figures are planning baselines—validate them with the actual use case, model, and load 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BACKUP | SIZING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Hardware Sizing Baseline for Local and Hybrid Deployments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160020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73936"/>
            <a:ext cx="1453896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7128" y="1664208"/>
            <a:ext cx="283464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773936"/>
            <a:ext cx="2688336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Compute /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1768" y="1664208"/>
            <a:ext cx="297180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773936"/>
            <a:ext cx="2825496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Storage / GPU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664208"/>
            <a:ext cx="3749039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773936"/>
            <a:ext cx="3602735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Indicative capacity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94560"/>
            <a:ext cx="16002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313432"/>
            <a:ext cx="13807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Dev /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7128" y="2194560"/>
            <a:ext cx="283464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76856" y="2313432"/>
            <a:ext cx="261518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4–8 vCPU</a:t>
            </a:r>
            <a:br/>
            <a:r>
              <a:rPr>
                <a:latin typeface="Arial"/>
              </a:rPr>
              <a:t>RAM 16 GB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2194560"/>
            <a:ext cx="29718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1496" y="2313432"/>
            <a:ext cx="27523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SSD 200 GB</a:t>
            </a:r>
            <a:br/>
            <a:r>
              <a:rPr>
                <a:latin typeface="Arial"/>
              </a:rPr>
              <a:t>GPU optional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73568" y="2194560"/>
            <a:ext cx="3749039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83296" y="2313432"/>
            <a:ext cx="3529583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1–5 concurrent users</a:t>
            </a:r>
            <a:br/>
            <a:r>
              <a:rPr>
                <a:latin typeface="Arial"/>
              </a:rPr>
              <a:t>Development and demos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090672"/>
            <a:ext cx="16002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209544"/>
            <a:ext cx="13807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Pilot</a:t>
            </a:r>
            <a:br/>
            <a:r>
              <a:rPr>
                <a:latin typeface="Arial"/>
              </a:rPr>
              <a:t>Cloud LLM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3090672"/>
            <a:ext cx="283464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3209544"/>
            <a:ext cx="261518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8 vCPU</a:t>
            </a:r>
            <a:br/>
            <a:r>
              <a:rPr>
                <a:latin typeface="Arial"/>
              </a:rPr>
              <a:t>RAM 32 GB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1768" y="3090672"/>
            <a:ext cx="29718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496" y="3209544"/>
            <a:ext cx="27523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NVMe 500 GB</a:t>
            </a:r>
            <a:br/>
            <a:r>
              <a:rPr>
                <a:latin typeface="Arial"/>
              </a:rPr>
              <a:t>Cloud-hosted LLM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3568" y="3090672"/>
            <a:ext cx="3749039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3296" y="3209544"/>
            <a:ext cx="3529583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Approx. 10–30 concurrent chats</a:t>
            </a:r>
            <a:br/>
            <a:r>
              <a:rPr>
                <a:latin typeface="Arial"/>
              </a:rPr>
              <a:t>Depends on provider quota and tools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986783"/>
            <a:ext cx="16002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4105655"/>
            <a:ext cx="13807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Pilot</a:t>
            </a:r>
            <a:br/>
            <a:r>
              <a:rPr>
                <a:latin typeface="Arial"/>
              </a:rPr>
              <a:t>Local LLM 8B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67128" y="3986783"/>
            <a:ext cx="283464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76856" y="4105655"/>
            <a:ext cx="261518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8–16 vCPU</a:t>
            </a:r>
            <a:br/>
            <a:r>
              <a:rPr>
                <a:latin typeface="Arial"/>
              </a:rPr>
              <a:t>RAM 32–64 GB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1768" y="3986783"/>
            <a:ext cx="29718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496" y="4105655"/>
            <a:ext cx="27523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NVMe 500 GB+</a:t>
            </a:r>
            <a:br/>
            <a:r>
              <a:rPr>
                <a:latin typeface="Arial"/>
              </a:rPr>
              <a:t>GPU VRAM 16–24 GB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73568" y="3986783"/>
            <a:ext cx="3749039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3296" y="4105655"/>
            <a:ext cx="3529583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1–2 concurrent local generations</a:t>
            </a:r>
            <a:br/>
            <a:r>
              <a:rPr>
                <a:latin typeface="Arial"/>
              </a:rPr>
              <a:t>Light or staggered usage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882896"/>
            <a:ext cx="16002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001768"/>
            <a:ext cx="13807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Department / HA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7128" y="4882896"/>
            <a:ext cx="283464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76856" y="5001768"/>
            <a:ext cx="261518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2+ app nodes</a:t>
            </a:r>
            <a:br/>
            <a:r>
              <a:rPr>
                <a:latin typeface="Arial"/>
              </a:rPr>
              <a:t>4–8 vCPU / 16 GB each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4882896"/>
            <a:ext cx="29718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11496" y="5001768"/>
            <a:ext cx="2752344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Dedicated stateful services</a:t>
            </a:r>
            <a:br/>
            <a:r>
              <a:rPr>
                <a:latin typeface="Arial"/>
              </a:rPr>
              <a:t>and GPU inference nodes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73568" y="4882896"/>
            <a:ext cx="3749039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3296" y="5001768"/>
            <a:ext cx="3529583" cy="7132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Approx. 30–100 concurrent users</a:t>
            </a:r>
            <a:br/>
            <a:r>
              <a:rPr>
                <a:latin typeface="Arial"/>
              </a:rPr>
              <a:t>after load-test 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961888"/>
            <a:ext cx="1083564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Storage must include source documents, vector indexes, chat and attachment retention, and backups.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BACKUP |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From a Single-Node Pilot to Production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CURRENT 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3886200" cy="32461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450592"/>
            <a:ext cx="3154680" cy="521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Single-host Compose with no automatic failover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081528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154680" cy="521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Single Hypercorn application 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602736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93008"/>
            <a:ext cx="3154680" cy="521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Ollama parallel = 1 limits local LLM throughput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23944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014216"/>
            <a:ext cx="3154680" cy="521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MongoDB, MinIO, and Qdrant are single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45152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535424"/>
            <a:ext cx="3154680" cy="521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Ingestion runs in the app, limited to three jobs per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40"/>
            <a:ext cx="502920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1737360"/>
            <a:ext cx="21031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TARGET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13248" y="2148840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96128" y="2331720"/>
            <a:ext cx="91440" cy="98755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4728" y="2331720"/>
            <a:ext cx="20574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INGRESS +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4728" y="2770632"/>
            <a:ext cx="2057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rPr>
                <a:latin typeface="Arial"/>
              </a:rPr>
              <a:t>Load balancer with 2+ app replicas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5048" y="2148840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67928" y="2331720"/>
            <a:ext cx="91440" cy="98755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96528" y="2331720"/>
            <a:ext cx="20574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ASYNC WORKERS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2770632"/>
            <a:ext cx="2057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rPr>
                <a:latin typeface="Arial"/>
              </a:rPr>
              <a:t>Dedicated queues for OCR, ingestion, and cleanup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13248" y="3776472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96128" y="3959352"/>
            <a:ext cx="91440" cy="98755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728" y="3959352"/>
            <a:ext cx="20574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SHARED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4398264"/>
            <a:ext cx="2057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rPr>
                <a:latin typeface="Arial"/>
              </a:rPr>
              <a:t>Mongo replica, Object storage, Qdrant replication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85048" y="3776472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67928" y="3959352"/>
            <a:ext cx="91440" cy="98755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96528" y="3959352"/>
            <a:ext cx="20574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398264"/>
            <a:ext cx="2057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rPr>
                <a:latin typeface="Arial"/>
              </a:rPr>
              <a:t>Cloud quota or a GPU pool with vLLM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" y="5870448"/>
            <a:ext cx="10789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Scale triggers: p95 latency, queue depth, provider throttling, GPU utilization, and ingestion backlog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Enterprise AI Guardrails and Usage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108356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Policy inheritance keeps every team and agent within the enterprise minimum.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333756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31720"/>
            <a:ext cx="82296" cy="1298448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60320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9344" y="2532888"/>
            <a:ext cx="219456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Enterprise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081528"/>
            <a:ext cx="277063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Cannot be weakened downstream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5928" y="2688336"/>
            <a:ext cx="384048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331720"/>
            <a:ext cx="333756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2331720"/>
            <a:ext cx="82296" cy="1298448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45152" y="256032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2532888"/>
            <a:ext cx="219456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Team-specific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3081528"/>
            <a:ext cx="277063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May enforce stricter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688336"/>
            <a:ext cx="384048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331720"/>
            <a:ext cx="333756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9872" y="2331720"/>
            <a:ext cx="82296" cy="1298448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75904" y="256032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5904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AGENT /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2532888"/>
            <a:ext cx="219456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Workload-level limits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081528"/>
            <a:ext cx="277063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Narrower settings and quotas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11480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315968"/>
            <a:ext cx="2935224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C33737"/>
                </a:solidFill>
                <a:latin typeface="Noto Sans Thai"/>
              </a:defRPr>
            </a:pPr>
            <a:r>
              <a:rPr>
                <a:latin typeface="Arial"/>
              </a:rPr>
              <a:t>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736592"/>
            <a:ext cx="286207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Prompt injection • Secrets • PII/DLP • Content safety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411480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4315968"/>
            <a:ext cx="2935224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USAGE QUOTAS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6864" y="4736592"/>
            <a:ext cx="286207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Tokens • Provider/model rules • Document pages • Requests/min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9872" y="411480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315968"/>
            <a:ext cx="2935224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PRIVACY-SAFE AUDIT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4736592"/>
            <a:ext cx="286207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Trace and enforcement metadata without raw prompts or outputs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" y="5815584"/>
            <a:ext cx="1078992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Atomic reservations and idempotent metering reduce quota overshoot across application replicas.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CONNECTED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Team-Scoped Integration and MCP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108356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Multiple connections per provider—isolated by Team and assignable only to authorized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2450592" cy="1078992"/>
          </a:xfrm>
          <a:prstGeom prst="roundRect">
            <a:avLst/>
          </a:prstGeom>
          <a:solidFill>
            <a:srgbClr val="182F48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87752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ADMIN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990088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Create as Unassigned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06624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395728"/>
            <a:ext cx="2450592" cy="1078992"/>
          </a:xfrm>
          <a:prstGeom prst="roundRect">
            <a:avLst/>
          </a:prstGeom>
          <a:solidFill>
            <a:srgbClr val="182F48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587752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TEAM OWNERSHIP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990088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Assign once to one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706624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395728"/>
            <a:ext cx="2450592" cy="1078992"/>
          </a:xfrm>
          <a:prstGeom prst="roundRect">
            <a:avLst/>
          </a:prstGeom>
          <a:solidFill>
            <a:srgbClr val="182F4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587752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AGENT BINDING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990088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Select approved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2706624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2395728"/>
            <a:ext cx="2450592" cy="1078992"/>
          </a:xfrm>
          <a:prstGeom prst="roundRect">
            <a:avLst/>
          </a:prstGeom>
          <a:solidFill>
            <a:srgbClr val="182F48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6" y="2587752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990088"/>
            <a:ext cx="212140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Reject cross-Team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77639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7" y="4187952"/>
            <a:ext cx="91440" cy="98755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160520"/>
            <a:ext cx="184708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DATADOG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590288"/>
            <a:ext cx="1847088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Multiple tenants and sites</a:t>
            </a:r>
            <a:br/>
            <a:r>
              <a:rPr>
                <a:latin typeface="Arial"/>
              </a:rPr>
              <a:t>Bearer or API/Application keys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3977639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4187952"/>
            <a:ext cx="91440" cy="98755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7911" y="4160520"/>
            <a:ext cx="184708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MICROSOFT AZURE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7911" y="4590288"/>
            <a:ext cx="1847088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Managed local or external MCP</a:t>
            </a:r>
            <a:br/>
            <a:r>
              <a:rPr>
                <a:latin typeface="Arial"/>
              </a:rPr>
              <a:t>Read-only inventory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977639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3952" y="4187952"/>
            <a:ext cx="91440" cy="98755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84264" y="4160520"/>
            <a:ext cx="184708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DRAW.IO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84264" y="4590288"/>
            <a:ext cx="1847088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Hosted MCP connection</a:t>
            </a:r>
            <a:br/>
            <a:r>
              <a:rPr>
                <a:latin typeface="Arial"/>
              </a:rPr>
              <a:t>Downloadable diagram artifacts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07424" y="3977639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0304" y="4187952"/>
            <a:ext cx="91440" cy="98755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4160520"/>
            <a:ext cx="1847088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ENTERPRISE SYSTEMS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4590288"/>
            <a:ext cx="1847088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REST • Database • Mail</a:t>
            </a:r>
            <a:br/>
            <a:r>
              <a:rPr>
                <a:latin typeface="Arial"/>
              </a:rPr>
              <a:t>Messaging • Sub-agents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852160"/>
            <a:ext cx="1083564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Encrypted credentials • Tool discovery • Allowlists • Timeouts • Server-enforced ownership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Azure Inventory to Draw.io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Turn live Azure inventory into an editable architecture artifact—with evidence preserved.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514600"/>
            <a:ext cx="1920240" cy="1828800"/>
          </a:xfrm>
          <a:prstGeom prst="roundRect">
            <a:avLst/>
          </a:prstGeom>
          <a:solidFill>
            <a:srgbClr val="F4F8FC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2724912"/>
            <a:ext cx="694944" cy="43891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24912"/>
            <a:ext cx="694944" cy="43891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355848"/>
            <a:ext cx="1645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AZURE TENANT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767328"/>
            <a:ext cx="1591056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Subscription and</a:t>
            </a:r>
            <a:br/>
            <a:r>
              <a:rPr>
                <a:latin typeface="Arial"/>
              </a:rPr>
              <a:t>resource 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3236976"/>
            <a:ext cx="393192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62072" y="2514600"/>
            <a:ext cx="1920240" cy="1828800"/>
          </a:xfrm>
          <a:prstGeom prst="roundRect">
            <a:avLst/>
          </a:prstGeom>
          <a:solidFill>
            <a:srgbClr val="F4F8FC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2724912"/>
            <a:ext cx="694944" cy="43891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724912"/>
            <a:ext cx="694944" cy="43891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232" y="3355848"/>
            <a:ext cx="1645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AZURE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3767328"/>
            <a:ext cx="1591056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Managed local container</a:t>
            </a:r>
            <a:br/>
            <a:r>
              <a:rPr>
                <a:latin typeface="Arial"/>
              </a:rPr>
              <a:t>Read-only tool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236976"/>
            <a:ext cx="393192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93792" y="2514600"/>
            <a:ext cx="1920240" cy="1828800"/>
          </a:xfrm>
          <a:prstGeom prst="roundRect">
            <a:avLst/>
          </a:prstGeom>
          <a:solidFill>
            <a:srgbClr val="F4F8FC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06440" y="2724912"/>
            <a:ext cx="694944" cy="43891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724912"/>
            <a:ext cx="694944" cy="43891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3355848"/>
            <a:ext cx="1645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AZURE 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3" y="3767328"/>
            <a:ext cx="1591056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Classify resources</a:t>
            </a:r>
            <a:br/>
            <a:r>
              <a:rPr>
                <a:latin typeface="Arial"/>
              </a:rPr>
              <a:t>and relationships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1" y="3236976"/>
            <a:ext cx="393192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5511" y="2514600"/>
            <a:ext cx="1920240" cy="1828800"/>
          </a:xfrm>
          <a:prstGeom prst="roundRect">
            <a:avLst/>
          </a:prstGeom>
          <a:solidFill>
            <a:srgbClr val="F4F8FC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59" y="2724912"/>
            <a:ext cx="694944" cy="43891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59" y="2724912"/>
            <a:ext cx="694944" cy="43891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1" y="3355848"/>
            <a:ext cx="1645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DRAW.IO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0103" y="3767328"/>
            <a:ext cx="1591056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Generate valid XML</a:t>
            </a:r>
            <a:br/>
            <a:r>
              <a:rPr>
                <a:latin typeface="Arial"/>
              </a:rPr>
              <a:t>with Azure icons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45751" y="3236976"/>
            <a:ext cx="393192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57232" y="2514600"/>
            <a:ext cx="1920240" cy="1828800"/>
          </a:xfrm>
          <a:prstGeom prst="roundRect">
            <a:avLst/>
          </a:prstGeom>
          <a:solidFill>
            <a:srgbClr val="F4F8FC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69880" y="2724912"/>
            <a:ext cx="694944" cy="43891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69880" y="2724912"/>
            <a:ext cx="694944" cy="43891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4392" y="3355848"/>
            <a:ext cx="16459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ARTIFACT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767328"/>
            <a:ext cx="1591056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Download and edit</a:t>
            </a:r>
            <a:br/>
            <a:r>
              <a:rPr>
                <a:latin typeface="Arial"/>
              </a:rPr>
              <a:t>.drawio file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892040"/>
            <a:ext cx="10835640" cy="841248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102352"/>
            <a:ext cx="1042416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4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Solid connectors = evidenced relationships  •  Dashed connectors = explicitly labelled inferred relationships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916168"/>
            <a:ext cx="107442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Current scope is intentionally read-only: inventory and diagram generation do not provision or modify Azure resources.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Durable Operations: History, Ingestion,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5564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55648"/>
            <a:ext cx="82296" cy="150876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98424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DATABASE CHAT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Owner-isolated conversations persist across browser sessions and devices.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175564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1755648"/>
            <a:ext cx="82296" cy="150876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0015" y="1984248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RETENTION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250545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System policy: 30/90/180/365 days or no expiry. Teams may choose a shorter period.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75564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6175" y="1755648"/>
            <a:ext cx="82296" cy="150876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22207" y="1984248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7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1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COMPLETE DELETION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3" y="250545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Manual or scheduled cleanup removes messages, citations, artifacts, attachments, and metadata.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363016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3630168"/>
            <a:ext cx="82296" cy="150876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7824" y="3858768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385876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83133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PERSISTENT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37997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Mongo-backed jobs track extraction, chunking, embedding, indexing, failure, and retry.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3" y="363016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43983" y="3630168"/>
            <a:ext cx="82296" cy="150876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00015" y="385876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0015" y="385876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59" y="383133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RESTART RECOVERY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6591" y="437997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Worker leases and recovery scans resume interrupted document and attachment processing.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66175" y="3630168"/>
            <a:ext cx="3474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66175" y="3630168"/>
            <a:ext cx="82296" cy="150876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22207" y="3858768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7" y="3858768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1" y="3831336"/>
            <a:ext cx="23317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CONSISTENT BACKUP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3" y="4379976"/>
            <a:ext cx="2907792" cy="5943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 versioned local archive captures MongoDB, MinIO, and Qdrant with checksums.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596128"/>
            <a:ext cx="10835640" cy="530352"/>
          </a:xfrm>
          <a:prstGeom prst="roundRect">
            <a:avLst/>
          </a:prstGeom>
          <a:solidFill>
            <a:srgbClr val="E6FAFC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715000"/>
            <a:ext cx="1037844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Deletion audit stores who, when, reason, and counts—never deleted prompts, responses, citations, or diagram XML.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CONNECTED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One Integration Workspace, Multiple Connection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Users work with one governed connection catalog; the platform handles each connection protocol.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04872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2633472"/>
            <a:ext cx="713232" cy="420624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7048" y="2633472"/>
            <a:ext cx="713232" cy="42062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182112"/>
            <a:ext cx="2084831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MCP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547872"/>
            <a:ext cx="2084831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Discover and invoke tools</a:t>
            </a:r>
            <a:br/>
            <a:r>
              <a:rPr>
                <a:latin typeface="Arial"/>
              </a:rPr>
              <a:t>from hosted or managed 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404872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2633472"/>
            <a:ext cx="713232" cy="420624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633472"/>
            <a:ext cx="713232" cy="42062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82112"/>
            <a:ext cx="2084831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BUSINESS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547872"/>
            <a:ext cx="2084831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REST APIs and controlled</a:t>
            </a:r>
            <a:br/>
            <a:r>
              <a:rPr>
                <a:latin typeface="Arial"/>
              </a:rPr>
              <a:t>read-only database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404872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59752" y="2633472"/>
            <a:ext cx="713232" cy="420624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2633472"/>
            <a:ext cx="713232" cy="42062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182112"/>
            <a:ext cx="2084831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PRODUCTIVITY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547872"/>
            <a:ext cx="2084831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Microsoft 365 and Google</a:t>
            </a:r>
            <a:br/>
            <a:r>
              <a:rPr>
                <a:latin typeface="Arial"/>
              </a:rPr>
              <a:t>document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07424" y="2404872"/>
            <a:ext cx="2450592" cy="14173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76104" y="2633472"/>
            <a:ext cx="713232" cy="420624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4" y="2633472"/>
            <a:ext cx="713232" cy="42062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182112"/>
            <a:ext cx="2084831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WORK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3547872"/>
            <a:ext cx="2084831" cy="5029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Jira and ServiceNow</a:t>
            </a:r>
            <a:br/>
            <a:r>
              <a:rPr>
                <a:latin typeface="Arial"/>
              </a:rPr>
              <a:t>through approved connectors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370832"/>
            <a:ext cx="10835640" cy="1024128"/>
          </a:xfrm>
          <a:prstGeom prst="roundRect">
            <a:avLst/>
          </a:prstGeom>
          <a:solidFill>
            <a:srgbClr val="182F48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590288"/>
            <a:ext cx="105156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CATALOG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590288"/>
            <a:ext cx="141732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Browse templates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572000"/>
            <a:ext cx="32004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7328" y="4590288"/>
            <a:ext cx="205740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Configure Team connection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4572000"/>
            <a:ext cx="32004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4590288"/>
            <a:ext cx="205740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Bind approved capabilities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572000"/>
            <a:ext cx="32004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590288"/>
            <a:ext cx="1554480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Agent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5806440"/>
            <a:ext cx="10744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Team ownership, encrypted credentials, connection health, allowlists, and audit remain server-enforced.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Agent Catalog: Reuse Without Sharing Mutable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Publish governed templates, control Team visibility, and install independent Team-local copies.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2450592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31720"/>
            <a:ext cx="82296" cy="155448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60320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9344" y="2532888"/>
            <a:ext cx="13075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CREATE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081528"/>
            <a:ext cx="1883664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Team or System admin</a:t>
            </a:r>
            <a:br/>
            <a:r>
              <a:rPr>
                <a:latin typeface="Arial"/>
              </a:rPr>
              <a:t>defines purpose and 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71216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331720"/>
            <a:ext cx="2450592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2331720"/>
            <a:ext cx="82296" cy="155448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30752" y="256032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0752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532888"/>
            <a:ext cx="13075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3081528"/>
            <a:ext cx="1883664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Immutable versioned</a:t>
            </a:r>
            <a:br/>
            <a:r>
              <a:rPr>
                <a:latin typeface="Arial"/>
              </a:rPr>
              <a:t>template snapshot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2871216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331720"/>
            <a:ext cx="2450592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91072" y="2331720"/>
            <a:ext cx="82296" cy="155448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47104" y="256032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532888"/>
            <a:ext cx="13075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DISCOVER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081528"/>
            <a:ext cx="1883664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Searchable cards with</a:t>
            </a:r>
            <a:br/>
            <a:r>
              <a:rPr>
                <a:latin typeface="Arial"/>
              </a:rPr>
              <a:t>safe metadata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2331720"/>
            <a:ext cx="2450592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07424" y="2331720"/>
            <a:ext cx="82296" cy="155448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63456" y="2560320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3456" y="2560320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532888"/>
            <a:ext cx="13075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INSTALL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081528"/>
            <a:ext cx="1883664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Independent Team-local</a:t>
            </a:r>
            <a:br/>
            <a:r>
              <a:rPr>
                <a:latin typeface="Arial"/>
              </a:rPr>
              <a:t>Agent copy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" y="4407408"/>
            <a:ext cx="3310128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617720"/>
            <a:ext cx="329184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553712"/>
            <a:ext cx="242316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Prompts and full configuration remain server-only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35424" y="4407408"/>
            <a:ext cx="3310128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4617720"/>
            <a:ext cx="329184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8072" y="4553712"/>
            <a:ext cx="242316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MCP connection IDs and Team bindings are never copied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6176" y="4407408"/>
            <a:ext cx="3310128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9056" y="4617720"/>
            <a:ext cx="329184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6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78824" y="4553712"/>
            <a:ext cx="242316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Installed versions remain pinned until an approved upgrade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596128"/>
            <a:ext cx="1083564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715000"/>
            <a:ext cx="1037844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Catalog cards show creator, purpose, usage guidance, category, tags, version, publisher, and dependencies.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Guided Agent Setup with Safe Draft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Configure integrations before activation—without exposing an incomplete Agent to end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24505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651760"/>
            <a:ext cx="2121408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AGENT INFO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182112"/>
            <a:ext cx="2084831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Name, model, runtime,</a:t>
            </a:r>
            <a:br/>
            <a:r>
              <a:rPr>
                <a:latin typeface="Arial"/>
              </a:rPr>
              <a:t>attachments, and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926080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395728"/>
            <a:ext cx="24505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651760"/>
            <a:ext cx="2121408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AUTO-SAVE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82112"/>
            <a:ext cx="2084831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Stable Team-scoped ID</a:t>
            </a:r>
            <a:br/>
            <a:r>
              <a:rPr>
                <a:latin typeface="Arial"/>
              </a:rPr>
              <a:t>created on tab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926080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395728"/>
            <a:ext cx="24505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651760"/>
            <a:ext cx="2121408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INTEGRATIONS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182112"/>
            <a:ext cx="2084831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Bind native tools, MCP,</a:t>
            </a:r>
            <a:br/>
            <a:r>
              <a:rPr>
                <a:latin typeface="Arial"/>
              </a:rPr>
              <a:t>data, and sub-agents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2926080"/>
            <a:ext cx="347472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2395728"/>
            <a:ext cx="24505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6" y="2651760"/>
            <a:ext cx="2121408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FINISH SETUP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3182112"/>
            <a:ext cx="2084831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Validate, save, and</a:t>
            </a:r>
            <a:br/>
            <a:r>
              <a:rPr>
                <a:latin typeface="Arial"/>
              </a:rPr>
              <a:t>activate for the Team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407408"/>
            <a:ext cx="5230368" cy="1207008"/>
          </a:xfrm>
          <a:prstGeom prst="roundRect">
            <a:avLst/>
          </a:prstGeom>
          <a:solidFill>
            <a:srgbClr val="E8F3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407408"/>
            <a:ext cx="82296" cy="1207008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590288"/>
            <a:ext cx="466344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PRIVATE UNTIL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001768"/>
            <a:ext cx="459028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Drafts cannot run in Chat or Ask, cannot be published, and cannot be selected as sub-agents.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4407408"/>
            <a:ext cx="5230368" cy="1207008"/>
          </a:xfrm>
          <a:prstGeom prst="roundRect">
            <a:avLst/>
          </a:prstGeom>
          <a:solidFill>
            <a:srgbClr val="FFF4E5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54496" y="4407408"/>
            <a:ext cx="82296" cy="1207008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4590288"/>
            <a:ext cx="466344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CLEAN CANCELLATION AND EXPIRY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5001768"/>
            <a:ext cx="459028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0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Cancel cascade-deletes bindings. Abandoned drafts expire automatically after a configurable period.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870448"/>
            <a:ext cx="107442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Result: a smoother setup experience with the same Team authorization and runtime safety boundaries.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MODEL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Managed Embedding Profiles and Safe Re-indexing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Move embedding configuration into the Portal while protecting vector compatibility and credentials.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2450592" cy="2212848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7" y="2624328"/>
            <a:ext cx="91440" cy="162763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87752"/>
            <a:ext cx="181051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MULTI-PROVIDER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246120"/>
            <a:ext cx="1810512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Azure OpenAI</a:t>
            </a:r>
            <a:br/>
            <a:r>
              <a:rPr>
                <a:latin typeface="Arial"/>
              </a:rPr>
              <a:t>OpenAI</a:t>
            </a:r>
            <a:br/>
            <a:r>
              <a:rPr>
                <a:latin typeface="Arial"/>
              </a:rPr>
              <a:t>OpenAI-compatible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377440"/>
            <a:ext cx="2450592" cy="2212848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624328"/>
            <a:ext cx="91440" cy="162763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587752"/>
            <a:ext cx="181051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ENCRYPTED CONFIG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3246120"/>
            <a:ext cx="1810512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Secrets use the existing</a:t>
            </a:r>
            <a:br/>
            <a:r>
              <a:rPr>
                <a:latin typeface="Arial"/>
              </a:rPr>
              <a:t>Fernet protection and are</a:t>
            </a:r>
            <a:br/>
            <a:r>
              <a:rPr>
                <a:latin typeface="Arial"/>
              </a:rPr>
              <a:t>never returned to the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377440"/>
            <a:ext cx="2450592" cy="2212848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3952" y="2624328"/>
            <a:ext cx="91440" cy="162763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2587752"/>
            <a:ext cx="181051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ONE ACTIVE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3246120"/>
            <a:ext cx="1810512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One system-wide vector</a:t>
            </a:r>
            <a:br/>
            <a:r>
              <a:rPr>
                <a:latin typeface="Arial"/>
              </a:rPr>
              <a:t>space avoids incompatible</a:t>
            </a:r>
            <a:br/>
            <a:r>
              <a:rPr>
                <a:latin typeface="Arial"/>
              </a:rPr>
              <a:t>embedding comparisons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2377440"/>
            <a:ext cx="2450592" cy="2212848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0304" y="2624328"/>
            <a:ext cx="91440" cy="162763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8048" y="2587752"/>
            <a:ext cx="181051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C8E5B"/>
                </a:solidFill>
                <a:latin typeface="Noto Sans Thai"/>
              </a:defRPr>
            </a:pPr>
            <a:r>
              <a:rPr>
                <a:latin typeface="Arial"/>
              </a:rPr>
              <a:t>RESTART-SAFE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8048" y="3246120"/>
            <a:ext cx="1810512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Selected and running</a:t>
            </a:r>
            <a:br/>
            <a:r>
              <a:rPr>
                <a:latin typeface="Arial"/>
              </a:rPr>
              <a:t>profiles stay distinct until</a:t>
            </a:r>
            <a:br/>
            <a:r>
              <a:rPr>
                <a:latin typeface="Arial"/>
              </a:rPr>
              <a:t>full re-index is confirmed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74920"/>
            <a:ext cx="10835640" cy="658368"/>
          </a:xfrm>
          <a:prstGeom prst="roundRect">
            <a:avLst/>
          </a:prstGeom>
          <a:solidFill>
            <a:srgbClr val="182F48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57800"/>
            <a:ext cx="1037844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2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Each managed profile defines its model, dimensions, and dedicated Qdrant collection; deleting a profile never deletes vector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925312"/>
            <a:ext cx="107442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B2C6DA"/>
                </a:solidFill>
                <a:latin typeface="Noto Sans Thai"/>
              </a:defRPr>
            </a:pPr>
            <a:r>
              <a:rPr>
                <a:latin typeface="Arial"/>
              </a:rPr>
              <a:t>The environment-based profile remains available as a read-only fallback for existing deployments.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Production Operations and Offline Licensing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Operate on-premises or in Azure with explicit health, transport security, and entitlement foundations.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3364992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59152"/>
            <a:ext cx="82296" cy="190195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87752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7752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9344" y="2560320"/>
            <a:ext cx="22219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ON-DEMAND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108960"/>
            <a:ext cx="2798064" cy="9875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CPU, memory, disk, application RSS, core services, integrations, queues, and workers—without continuous polling.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359152"/>
            <a:ext cx="3364992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359152"/>
            <a:ext cx="82296" cy="190195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45152" y="2587752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587752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0096" y="2560320"/>
            <a:ext cx="22219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OPTIONAL TLS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108960"/>
            <a:ext cx="2798064" cy="9875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Nginx overlay provides TLS 1.2/1.3, HTTP redirect, streaming-safe proxying, security headers, and health visibility.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2359152"/>
            <a:ext cx="3364992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19872" y="2359152"/>
            <a:ext cx="82296" cy="190195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5904" y="2587752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5904" y="2587752"/>
            <a:ext cx="566928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rPr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560320"/>
            <a:ext cx="2221992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OFFLINE LICENSE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108960"/>
            <a:ext cx="2798064" cy="9875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Stable Installation ID, one 14-day trial, signed NX1 imports, validity and feature claims, and metadata-only audit.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27448"/>
            <a:ext cx="108356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992624"/>
            <a:ext cx="117043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6543" y="499262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Docker Compose on Azure VM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7952" y="4965192"/>
            <a:ext cx="2286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4" y="4992624"/>
            <a:ext cx="2560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Persistent application and data volumes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65192"/>
            <a:ext cx="2286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4992624"/>
            <a:ext cx="361188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External signing keys stay outside customer runtime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7442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Current license enforcement is intentionally staged: verified entitlements are visible before contractual feature gating is enabled.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Clear, Role-Scoped Administration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83564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The Portal makes Team and System scope explicit, reducing accidental changes in the wrong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04288"/>
            <a:ext cx="5212080" cy="2194560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78608"/>
            <a:ext cx="201168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TEAM 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99232"/>
            <a:ext cx="219456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1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Presale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3611880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350215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Team members, Agents, Knowledge, and connections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01440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288" y="379171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Only Team-authorized menus and actions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4191000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08127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Destination-labelled switch to System Administration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2304288"/>
            <a:ext cx="5212080" cy="2194560"/>
          </a:xfrm>
          <a:prstGeom prst="roundRect">
            <a:avLst/>
          </a:prstGeom>
          <a:solidFill>
            <a:srgbClr val="F4F8FC"/>
          </a:solidFill>
          <a:ln>
            <a:solidFill>
              <a:srgbClr val="B4B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4" y="2578608"/>
            <a:ext cx="25603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SYSTEM ADMINISTRATION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2999232"/>
            <a:ext cx="256032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1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Platform-wide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7104" y="3611880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350215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Organization, policy, providers, health, and license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47104" y="3901440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5704" y="379171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System-wide scope chip and distinct visual treatment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47104" y="4191000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75704" y="4081272"/>
            <a:ext cx="4343400" cy="289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Return action names the destination 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19472"/>
            <a:ext cx="336499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084064"/>
            <a:ext cx="2999232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RESPONSIVE CARDS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5376672"/>
            <a:ext cx="29992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9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Catalog, Agents, users, Teams, providers, and profiles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4919472"/>
            <a:ext cx="336499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084064"/>
            <a:ext cx="2999232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rPr>
                <a:latin typeface="Arial"/>
              </a:rPr>
              <a:t>TASK-APPROPRIATE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376672"/>
            <a:ext cx="29992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9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Tables remain where comparison and bulk selection matter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4919472"/>
            <a:ext cx="336499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084064"/>
            <a:ext cx="2999232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000" b="1">
                <a:solidFill>
                  <a:srgbClr val="FF8218"/>
                </a:solidFill>
                <a:latin typeface="Noto Sans Thai"/>
              </a:defRPr>
            </a:pPr>
            <a:r>
              <a:rPr>
                <a:latin typeface="Arial"/>
              </a:rPr>
              <a:t>PREDICTABLE DIALOGS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5376672"/>
            <a:ext cx="29992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900" b="0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Explicit Close control; no accidental backdrop dismissal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943600"/>
            <a:ext cx="107442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Responsive layouts preserve readable names, identities, status badges, and actions on lower-resolution screens.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PORTAL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Portal View: Discover and Install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8356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BEC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10835640" cy="384048"/>
          </a:xfrm>
          <a:prstGeom prst="roundRect">
            <a:avLst/>
          </a:prstGeom>
          <a:solidFill>
            <a:srgbClr val="0B1827"/>
          </a:solidFill>
          <a:ln>
            <a:solidFill>
              <a:srgbClr val="0B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828800"/>
            <a:ext cx="82296" cy="82296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1828800"/>
            <a:ext cx="82296" cy="82296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1872" y="1828800"/>
            <a:ext cx="82296" cy="82296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72768" y="1801368"/>
            <a:ext cx="6675120" cy="164592"/>
          </a:xfrm>
          <a:prstGeom prst="roundRect">
            <a:avLst/>
          </a:prstGeom>
          <a:solidFill>
            <a:srgbClr val="304152"/>
          </a:solidFill>
          <a:ln>
            <a:solidFill>
              <a:srgbClr val="30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761488"/>
            <a:ext cx="65379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PORTAL SCREENSHOT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10128"/>
            <a:ext cx="8138160" cy="6858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Agent Catalog card grid with Search, Category, and Install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24528"/>
            <a:ext cx="66751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Replace this frame with a current 16:9 Portal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9888" y="4956048"/>
            <a:ext cx="937260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5084064"/>
            <a:ext cx="889711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Show creator, purpose, version, visibility, and concise capability metadata in one 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PORTAL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Portal View: Configure an Agent Before Activation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8356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BEC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10835640" cy="384048"/>
          </a:xfrm>
          <a:prstGeom prst="roundRect">
            <a:avLst/>
          </a:prstGeom>
          <a:solidFill>
            <a:srgbClr val="0B1827"/>
          </a:solidFill>
          <a:ln>
            <a:solidFill>
              <a:srgbClr val="0B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828800"/>
            <a:ext cx="82296" cy="82296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1828800"/>
            <a:ext cx="82296" cy="82296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1872" y="1828800"/>
            <a:ext cx="82296" cy="82296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72768" y="1801368"/>
            <a:ext cx="6675120" cy="164592"/>
          </a:xfrm>
          <a:prstGeom prst="roundRect">
            <a:avLst/>
          </a:prstGeom>
          <a:solidFill>
            <a:srgbClr val="304152"/>
          </a:solidFill>
          <a:ln>
            <a:solidFill>
              <a:srgbClr val="30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761488"/>
            <a:ext cx="65379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PORTAL SCREENSHOT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10128"/>
            <a:ext cx="8138160" cy="6858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Create New Agent dialog on the Integrations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24528"/>
            <a:ext cx="66751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Replace this frame with a current 16:9 Portal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9888" y="4956048"/>
            <a:ext cx="937260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5084064"/>
            <a:ext cx="889711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Show the Agent Info → Integrations flow and the final Finish setup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PORTAL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Portal View: Manage Team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8356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BEC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10835640" cy="384048"/>
          </a:xfrm>
          <a:prstGeom prst="roundRect">
            <a:avLst/>
          </a:prstGeom>
          <a:solidFill>
            <a:srgbClr val="0B1827"/>
          </a:solidFill>
          <a:ln>
            <a:solidFill>
              <a:srgbClr val="0B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828800"/>
            <a:ext cx="82296" cy="82296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1828800"/>
            <a:ext cx="82296" cy="82296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1872" y="1828800"/>
            <a:ext cx="82296" cy="82296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72768" y="1801368"/>
            <a:ext cx="6675120" cy="164592"/>
          </a:xfrm>
          <a:prstGeom prst="roundRect">
            <a:avLst/>
          </a:prstGeom>
          <a:solidFill>
            <a:srgbClr val="304152"/>
          </a:solidFill>
          <a:ln>
            <a:solidFill>
              <a:srgbClr val="30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761488"/>
            <a:ext cx="65379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PORTAL SCREENSHOT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10128"/>
            <a:ext cx="8138160" cy="6858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Team Integrations page with Installed and Catalog tabs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24528"/>
            <a:ext cx="66751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Replace this frame with a current 16:9 Portal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9888" y="4956048"/>
            <a:ext cx="937260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5084064"/>
            <a:ext cx="889711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Show Team context, connection status, provider cards, and the Add or Configure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PORTAL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Portal View: Switch Administrative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8356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BEC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10835640" cy="384048"/>
          </a:xfrm>
          <a:prstGeom prst="roundRect">
            <a:avLst/>
          </a:prstGeom>
          <a:solidFill>
            <a:srgbClr val="0B1827"/>
          </a:solidFill>
          <a:ln>
            <a:solidFill>
              <a:srgbClr val="0B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828800"/>
            <a:ext cx="82296" cy="82296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1828800"/>
            <a:ext cx="82296" cy="82296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1872" y="1828800"/>
            <a:ext cx="82296" cy="82296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72768" y="1801368"/>
            <a:ext cx="6675120" cy="164592"/>
          </a:xfrm>
          <a:prstGeom prst="roundRect">
            <a:avLst/>
          </a:prstGeom>
          <a:solidFill>
            <a:srgbClr val="304152"/>
          </a:solidFill>
          <a:ln>
            <a:solidFill>
              <a:srgbClr val="30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761488"/>
            <a:ext cx="65379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PORTAL SCREENSHOT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10128"/>
            <a:ext cx="8138160" cy="6858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Team Workspace and System Administration navigation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24528"/>
            <a:ext cx="66751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Replace this frame with a current 16:9 Portal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9888" y="4956048"/>
            <a:ext cx="937260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5084064"/>
            <a:ext cx="889711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Show the scope chip, destination-labelled switch, grouped menus, and explicit Close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PORTAL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Portal View: Verify Runtime and Entitlement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8356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BEC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10835640" cy="384048"/>
          </a:xfrm>
          <a:prstGeom prst="roundRect">
            <a:avLst/>
          </a:prstGeom>
          <a:solidFill>
            <a:srgbClr val="0B1827"/>
          </a:solidFill>
          <a:ln>
            <a:solidFill>
              <a:srgbClr val="0B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828800"/>
            <a:ext cx="82296" cy="82296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1828800"/>
            <a:ext cx="82296" cy="82296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1872" y="1828800"/>
            <a:ext cx="82296" cy="82296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72768" y="1801368"/>
            <a:ext cx="6675120" cy="164592"/>
          </a:xfrm>
          <a:prstGeom prst="roundRect">
            <a:avLst/>
          </a:prstGeom>
          <a:solidFill>
            <a:srgbClr val="304152"/>
          </a:solidFill>
          <a:ln>
            <a:solidFill>
              <a:srgbClr val="30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761488"/>
            <a:ext cx="65379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PORTAL SCREENSHOT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10128"/>
            <a:ext cx="8138160" cy="6858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rPr>
                <a:latin typeface="Arial"/>
              </a:rPr>
              <a:t>System Health or License page with sensitive values excluded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24528"/>
            <a:ext cx="66751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rPr>
                <a:latin typeface="Arial"/>
              </a:rPr>
              <a:t>Replace this frame with a current 16:9 Portal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9888" y="4956048"/>
            <a:ext cx="9372600" cy="530352"/>
          </a:xfrm>
          <a:prstGeom prst="roundRect">
            <a:avLst/>
          </a:prstGeom>
          <a:solidFill>
            <a:srgbClr val="E8F3FF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5084064"/>
            <a:ext cx="8897112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rPr>
                <a:latin typeface="Arial"/>
              </a:rPr>
              <a:t>Show an on-demand health snapshot or signed offline license status without exposing secrets.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rPr>
                <a:latin typeface="Arial"/>
              </a:rPr>
              <a:t>InsightSphere | Enterprise AI Agent &amp; Knowledge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