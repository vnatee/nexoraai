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4" r:id="rId25"/>
    <p:sldId id="275" r:id="rId26"/>
    <p:sldId id="276" r:id="rId27"/>
    <p:sldId id="277" r:id="rId28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12243A"/>
          </a:solidFill>
          <a:ln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94360"/>
            <a:ext cx="2834640" cy="7570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26280" y="1051560"/>
            <a:ext cx="6812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Noto Sans Thai"/>
              </a:defRPr>
            </a:pPr>
            <a:r>
              <a:t>Enterprise AI Agent</a:t>
            </a:r>
            <a:br/>
            <a:r>
              <a:t>&amp; Knowledge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3712" y="2788920"/>
            <a:ext cx="6355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CADBEC"/>
                </a:solidFill>
                <a:latin typeface="Noto Sans Thai"/>
              </a:defRPr>
            </a:pPr>
            <a:r>
              <a:t>Turn enterprise knowledge and workflows</a:t>
            </a:r>
            <a:br/>
            <a:r>
              <a:t>into AI that can search, reason, and 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3712" y="4315968"/>
            <a:ext cx="2057400" cy="50292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4315968"/>
            <a:ext cx="2057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PRODUCT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50749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8CB7E1"/>
                </a:solidFill>
                <a:latin typeface="Noto Sans Thai"/>
              </a:defRPr>
            </a:pPr>
            <a:r>
              <a:t>Private • Governed • Flexible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6080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0A4B8"/>
                </a:solidFill>
                <a:latin typeface="Noto Sans Thai"/>
              </a:defRPr>
            </a:pPr>
            <a:r>
              <a:t>Sales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One AI Platform for Knowledge, People, and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F2A37"/>
                </a:solidFill>
                <a:latin typeface="Noto Sans Thai"/>
              </a:defRPr>
            </a:pPr>
            <a:r>
              <a:t>Build AI agents grounded in trusted enterprise data, connected to existing systems,</a:t>
            </a:r>
            <a:br/>
            <a:r>
              <a:t>with governed access and the freedom to deploy in cloud, local, or hybrid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788920"/>
            <a:ext cx="3474720" cy="21488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788920"/>
            <a:ext cx="82296" cy="2148840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" y="3017520"/>
            <a:ext cx="566928" cy="36576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0175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KNOW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99008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Search and Cite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38728"/>
            <a:ext cx="290779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RAG with file- and page-level citations across Personal, Team, and Global data scopes.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3" y="2788920"/>
            <a:ext cx="3474720" cy="21488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43983" y="2788920"/>
            <a:ext cx="82296" cy="2148840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00015" y="3017520"/>
            <a:ext cx="566928" cy="365760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5" y="30175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THINK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299008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Analyze Multiple Content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1" y="3538728"/>
            <a:ext cx="290779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Text, documents, images, OCR, and evidence matrices for requirements analysis.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5" y="2788920"/>
            <a:ext cx="3474720" cy="21488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66175" y="2788920"/>
            <a:ext cx="82296" cy="2148840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22207" y="3017520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7" y="30175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1" y="2990088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Connect Agents to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3" y="3538728"/>
            <a:ext cx="290779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Invoke tools, MCP, databases, APIs, mail, and messaging under enterprise policy.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394960"/>
            <a:ext cx="10927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37EDA"/>
                </a:solidFill>
                <a:latin typeface="Noto Sans Thai"/>
              </a:defRPr>
            </a:pPr>
            <a:r>
              <a:t>Outcome: Move from AI experiments to governed, operational AI workflows.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CUSTOMER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The Enterprise Challenges of Adopting Generative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37360"/>
            <a:ext cx="52578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737360"/>
            <a:ext cx="82296" cy="1124712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1965960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38528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Fragmented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4690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Documents span teams and systems, making trusted answers difficult to find.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737360"/>
            <a:ext cx="52578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737360"/>
            <a:ext cx="82296" cy="1124712"/>
          </a:xfrm>
          <a:prstGeom prst="rect">
            <a:avLst/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01384" y="1965960"/>
            <a:ext cx="566928" cy="365760"/>
          </a:xfrm>
          <a:prstGeom prst="roundRect">
            <a:avLst/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96596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8" y="1938528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Answers Without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87168"/>
            <a:ext cx="4690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AI can respond, but users cannot verify the source file or cited page.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154680"/>
            <a:ext cx="52578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3154680"/>
            <a:ext cx="82296" cy="1124712"/>
          </a:xfrm>
          <a:prstGeom prst="rect">
            <a:avLst/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3383280"/>
            <a:ext cx="566928" cy="365760"/>
          </a:xfrm>
          <a:prstGeom prst="roundRect">
            <a:avLst/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3832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355848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Complex Access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04488"/>
            <a:ext cx="4690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Teams have different confidentiality needs and cross-team exposure must be prevented.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3154680"/>
            <a:ext cx="52578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3154680"/>
            <a:ext cx="82296" cy="1124712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01384" y="3383280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1384" y="33832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3355848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Disconnected from Workflows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904488"/>
            <a:ext cx="4690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Answers alone do not streamline work if AI cannot call APIs, databases, or tools.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4572000"/>
            <a:ext cx="52578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" y="4572000"/>
            <a:ext cx="82296" cy="1124712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77824" y="4800600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80060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773168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Vendor Lock-in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21808"/>
            <a:ext cx="4690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Cost, data, and model requirements change quickly while the platform remains locked to one vendor.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352" y="4572000"/>
            <a:ext cx="52578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45352" y="4572000"/>
            <a:ext cx="82296" cy="1124712"/>
          </a:xfrm>
          <a:prstGeom prst="rect">
            <a:avLst/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01384" y="4800600"/>
            <a:ext cx="566928" cy="365760"/>
          </a:xfrm>
          <a:prstGeom prst="roundRect">
            <a:avLst/>
          </a:prstGeom>
          <a:solidFill>
            <a:srgbClr val="C33737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01384" y="480060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96328" y="4773168"/>
            <a:ext cx="4114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Production Governance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321808"/>
            <a:ext cx="4690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Organizations lack centralized audit, policy, usage, agent, and model management.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2C6DA"/>
                </a:solidFill>
                <a:latin typeface="Noto Sans Thai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Thai"/>
              </a:defRPr>
            </a:pPr>
            <a:r>
              <a:t>A Unified Platform for Knowledge, Agents, and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2C6DA"/>
                </a:solidFill>
                <a:latin typeface="Noto Sans Tha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BBDE"/>
                </a:solidFill>
                <a:latin typeface="Noto Sans Thai"/>
              </a:defRPr>
            </a:pPr>
            <a:r>
              <a:t>USER 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627632"/>
            <a:ext cx="9098280" cy="685800"/>
          </a:xfrm>
          <a:prstGeom prst="roundRect">
            <a:avLst/>
          </a:prstGeom>
          <a:solidFill>
            <a:srgbClr val="1D3753"/>
          </a:solidFill>
          <a:ln>
            <a:solidFill>
              <a:srgbClr val="1D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773936"/>
            <a:ext cx="8732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</a:defRPr>
            </a:pPr>
            <a:r>
              <a:t>Chat &amp; Ask  •  File / Image / Clipboard  •  Citation Viewer  •  Admin Portal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1508760" cy="566928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1508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AI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2606040"/>
            <a:ext cx="9098280" cy="566928"/>
          </a:xfrm>
          <a:prstGeom prst="roundRect">
            <a:avLst/>
          </a:prstGeom>
          <a:solidFill>
            <a:srgbClr val="182F48"/>
          </a:solidFill>
          <a:ln>
            <a:solidFill>
              <a:srgbClr val="18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2706624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D7E3EF"/>
                </a:solidFill>
                <a:latin typeface="Noto Sans Thai"/>
              </a:defRPr>
            </a:pPr>
            <a:r>
              <a:t>Per-Agent Model • Prompt • RAG Policy • Tool Policy • LangGraph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10712"/>
            <a:ext cx="1508760" cy="566928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10712"/>
            <a:ext cx="1508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KNOWLEDGE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3410712"/>
            <a:ext cx="9098280" cy="566928"/>
          </a:xfrm>
          <a:prstGeom prst="roundRect">
            <a:avLst/>
          </a:prstGeom>
          <a:solidFill>
            <a:srgbClr val="182F48"/>
          </a:solidFill>
          <a:ln>
            <a:solidFill>
              <a:srgbClr val="18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351129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D7E3EF"/>
                </a:solidFill>
                <a:latin typeface="Noto Sans Thai"/>
              </a:defRPr>
            </a:pPr>
            <a:r>
              <a:t>Document Processing • OCR Routing • Vector Search • Evidence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15384"/>
            <a:ext cx="1508760" cy="566928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15384"/>
            <a:ext cx="1508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INTEGRATIONS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4215384"/>
            <a:ext cx="9098280" cy="566928"/>
          </a:xfrm>
          <a:prstGeom prst="roundRect">
            <a:avLst/>
          </a:prstGeom>
          <a:solidFill>
            <a:srgbClr val="182F48"/>
          </a:solidFill>
          <a:ln>
            <a:solidFill>
              <a:srgbClr val="18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50592" y="431596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D7E3EF"/>
                </a:solidFill>
                <a:latin typeface="Noto Sans Thai"/>
              </a:defRPr>
            </a:pPr>
            <a:r>
              <a:t>MCP • REST API • Database • Mail • Messaging • Sub-Agent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20056"/>
            <a:ext cx="1508760" cy="566928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020056"/>
            <a:ext cx="1508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GOVERNANCE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40280" y="5020056"/>
            <a:ext cx="9098280" cy="566928"/>
          </a:xfrm>
          <a:prstGeom prst="roundRect">
            <a:avLst/>
          </a:prstGeom>
          <a:solidFill>
            <a:srgbClr val="182F48"/>
          </a:solidFill>
          <a:ln>
            <a:solidFill>
              <a:srgbClr val="18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50592" y="51206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D7E3EF"/>
                </a:solidFill>
                <a:latin typeface="Noto Sans Thai"/>
              </a:defRPr>
            </a:pPr>
            <a:r>
              <a:t>Local + Entra ID • Team/Data Group ACL • Audit • Usage • Secrets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98932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BBDE"/>
                </a:solidFill>
                <a:latin typeface="Noto Sans Thai"/>
              </a:defRPr>
            </a:pPr>
            <a: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5943600"/>
            <a:ext cx="9098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</a:defRPr>
            </a:pPr>
            <a:r>
              <a:t>Azure  |  Local Containers  |  Hybrid Providers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6AEC6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KNOWLEDGE &amp;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Enterprise Knowledge that Answers — and Proves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64792"/>
            <a:ext cx="3456432" cy="160020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764792"/>
            <a:ext cx="82296" cy="1600200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9077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Multiple Data Scopes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88950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Personal knowledge for individuals, Team and Data Group access for collaboration, and Global knowledge for everyone.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764792"/>
            <a:ext cx="3456432" cy="1600200"/>
          </a:xfrm>
          <a:prstGeom prst="roundRect">
            <a:avLst/>
          </a:prstGeom>
          <a:solidFill>
            <a:srgbClr val="E6FA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764792"/>
            <a:ext cx="82296" cy="1600200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65960"/>
            <a:ext cx="29077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Document Processing &amp; 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14600"/>
            <a:ext cx="288950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Route by file type, team, and priority using local parsers, Docling, or managed OCR providers.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764792"/>
            <a:ext cx="3456432" cy="16002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1764792"/>
            <a:ext cx="82296" cy="1600200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65960"/>
            <a:ext cx="29077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Citations and Page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14600"/>
            <a:ext cx="288950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Answers link to source files and pages, with authorization enforced every time a document is opened.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4903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A Governed Knowledge Lifecycle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15968"/>
            <a:ext cx="1737360" cy="658368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315968"/>
            <a:ext cx="1737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UPLOAD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4015" y="4398264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4315968"/>
            <a:ext cx="1737360" cy="658368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4315968"/>
            <a:ext cx="1737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EXTRACT / OCR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398264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93792" y="4315968"/>
            <a:ext cx="1737360" cy="658368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3792" y="4315968"/>
            <a:ext cx="1737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EMBED +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398264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61504" y="4315968"/>
            <a:ext cx="1737360" cy="658368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4" y="4315968"/>
            <a:ext cx="1737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RETRIEVE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4398264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29216" y="4315968"/>
            <a:ext cx="1737360" cy="658368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29216" y="4315968"/>
            <a:ext cx="1737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CITE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4406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7EDA"/>
                </a:solidFill>
                <a:latin typeface="Noto Sans Thai"/>
              </a:defRPr>
            </a:pPr>
            <a:r>
              <a:t>Benefit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394960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A37"/>
                </a:solidFill>
                <a:latin typeface="Noto Sans Thai"/>
              </a:defRPr>
            </a:pPr>
            <a:r>
              <a:t>Reduce search time • Improve trust • Preserve access control • Support auditability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AI Agents that Do More than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190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F2A37"/>
                </a:solidFill>
                <a:latin typeface="Noto Sans Thai"/>
              </a:defRPr>
            </a:pPr>
            <a:r>
              <a:t>Configure role-specific agents with the right model, prompt, data scope, and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578608"/>
            <a:ext cx="249631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2770632"/>
            <a:ext cx="457200" cy="45720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7706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6148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A37"/>
                </a:solidFill>
                <a:latin typeface="Noto Sans Thai"/>
              </a:defRPr>
            </a:pPr>
            <a:r>
              <a:t>HR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456432"/>
            <a:ext cx="20391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Answer employee policy questions</a:t>
            </a:r>
            <a:br/>
            <a:r>
              <a:t>from authorized documents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2578608"/>
            <a:ext cx="249631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21024" y="2770632"/>
            <a:ext cx="457200" cy="457200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7706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276148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A37"/>
                </a:solidFill>
                <a:latin typeface="Noto Sans Thai"/>
              </a:defRPr>
            </a:pPr>
            <a:r>
              <a:t>Presales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3456432"/>
            <a:ext cx="20391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Find product knowledge</a:t>
            </a:r>
            <a:br/>
            <a:r>
              <a:t>and create evidence-based responses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2578608"/>
            <a:ext cx="249631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7376" y="2770632"/>
            <a:ext cx="457200" cy="45720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7706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276148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A37"/>
                </a:solidFill>
                <a:latin typeface="Noto Sans Thai"/>
              </a:defRPr>
            </a:pPr>
            <a:r>
              <a:t>Operations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3456432"/>
            <a:ext cx="20391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Inspect monitors and logs</a:t>
            </a:r>
            <a:br/>
            <a:r>
              <a:t>through MCP and summarize incidents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2578608"/>
            <a:ext cx="2496312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53728" y="2770632"/>
            <a:ext cx="457200" cy="457200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27706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6" y="2761488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A37"/>
                </a:solidFill>
                <a:latin typeface="Noto Sans Thai"/>
              </a:defRPr>
            </a:pPr>
            <a:r>
              <a:t>Data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3456432"/>
            <a:ext cx="20391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Query databases in read-only mode</a:t>
            </a:r>
            <a:br/>
            <a:r>
              <a:t>and generate charts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001768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4892040"/>
            <a:ext cx="10561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A37"/>
                </a:solidFill>
                <a:latin typeface="Noto Sans Thai"/>
              </a:defRPr>
            </a:pPr>
            <a:r>
              <a:t>Tool policies limit call volume, execution time, and permitted sources.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67528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5257800"/>
            <a:ext cx="10561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A37"/>
                </a:solidFill>
                <a:latin typeface="Noto Sans Thai"/>
              </a:defRPr>
            </a:pPr>
            <a:r>
              <a:t>Sub-agent delegation includes cycle prevention and bounded depth.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733288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23560"/>
            <a:ext cx="10561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A37"/>
                </a:solidFill>
                <a:latin typeface="Noto Sans Thai"/>
              </a:defRPr>
            </a:pPr>
            <a:r>
              <a:t>Audit events connect models, tools, and traces without storing raw secrets.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DOCUMENT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From Requirements Documents to an Auditable Evidence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64792"/>
            <a:ext cx="2880360" cy="3611880"/>
          </a:xfrm>
          <a:prstGeom prst="roundRect">
            <a:avLst/>
          </a:prstGeom>
          <a:solidFill>
            <a:srgbClr val="12243A"/>
          </a:solidFill>
          <a:ln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7BBDE"/>
                </a:solidFill>
                <a:latin typeface="Noto Sans Thai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14600"/>
            <a:ext cx="22402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Noto Sans Thai"/>
              </a:defRPr>
            </a:pPr>
            <a:r>
              <a:t>Requirements</a:t>
            </a:r>
            <a:br/>
            <a:r>
              <a:t>TOR / RFP / Policy</a:t>
            </a:r>
            <a:br/>
            <a:r>
              <a:t>Checklist / 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6052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ED2E6"/>
                </a:solidFill>
                <a:latin typeface="Noto Sans Thai"/>
              </a:defRPr>
            </a:pPr>
            <a:r>
              <a:t>Use temporary attachments</a:t>
            </a:r>
            <a:br/>
            <a:r>
              <a:t>or governed enterprise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320040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237EDA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764792"/>
            <a:ext cx="7269480" cy="3611880"/>
          </a:xfrm>
          <a:prstGeom prst="roundRect">
            <a:avLst/>
          </a:prstGeom>
          <a:solidFill>
            <a:srgbClr val="F4F8FC"/>
          </a:solidFill>
          <a:ln>
            <a:solidFill>
              <a:srgbClr val="D2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2057400"/>
            <a:ext cx="1874519" cy="530352"/>
          </a:xfrm>
          <a:prstGeom prst="rect">
            <a:avLst/>
          </a:prstGeom>
          <a:solidFill>
            <a:srgbClr val="E8F3FF"/>
          </a:solidFill>
          <a:ln>
            <a:solidFill>
              <a:srgbClr val="C3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148840"/>
            <a:ext cx="1783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Requirement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2057400"/>
            <a:ext cx="960120" cy="530352"/>
          </a:xfrm>
          <a:prstGeom prst="rect">
            <a:avLst/>
          </a:prstGeom>
          <a:solidFill>
            <a:srgbClr val="E8F3FF"/>
          </a:solidFill>
          <a:ln>
            <a:solidFill>
              <a:srgbClr val="C3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148840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51192" y="2057400"/>
            <a:ext cx="1874519" cy="530352"/>
          </a:xfrm>
          <a:prstGeom prst="rect">
            <a:avLst/>
          </a:prstGeom>
          <a:solidFill>
            <a:srgbClr val="E8F3FF"/>
          </a:solidFill>
          <a:ln>
            <a:solidFill>
              <a:srgbClr val="C3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2148840"/>
            <a:ext cx="1783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5712" y="2057400"/>
            <a:ext cx="1143000" cy="530352"/>
          </a:xfrm>
          <a:prstGeom prst="rect">
            <a:avLst/>
          </a:prstGeom>
          <a:solidFill>
            <a:srgbClr val="E8F3FF"/>
          </a:solidFill>
          <a:ln>
            <a:solidFill>
              <a:srgbClr val="C3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214884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68712" y="2057400"/>
            <a:ext cx="1051560" cy="530352"/>
          </a:xfrm>
          <a:prstGeom prst="rect">
            <a:avLst/>
          </a:prstGeom>
          <a:solidFill>
            <a:srgbClr val="E8F3FF"/>
          </a:solidFill>
          <a:ln>
            <a:solidFill>
              <a:srgbClr val="C3D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14432" y="2148840"/>
            <a:ext cx="9601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Confidence /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6552" y="2587752"/>
            <a:ext cx="1874519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9704" y="2724912"/>
            <a:ext cx="1728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The system must provide audit trails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2587752"/>
            <a:ext cx="9601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724912"/>
            <a:ext cx="813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Found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51192" y="2587752"/>
            <a:ext cx="1874519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24344" y="2724912"/>
            <a:ext cx="1728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Agent audit event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25712" y="2587752"/>
            <a:ext cx="1143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98864" y="2724912"/>
            <a:ext cx="996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Guide.pdf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68712" y="2587752"/>
            <a:ext cx="10515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41864" y="2724912"/>
            <a:ext cx="905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16552" y="3300984"/>
            <a:ext cx="1874519" cy="713232"/>
          </a:xfrm>
          <a:prstGeom prst="rect">
            <a:avLst/>
          </a:prstGeom>
          <a:solidFill>
            <a:srgbClr val="F7FAFD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438144"/>
            <a:ext cx="1728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Support local deployment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3300984"/>
            <a:ext cx="960120" cy="713232"/>
          </a:xfrm>
          <a:prstGeom prst="rect">
            <a:avLst/>
          </a:prstGeom>
          <a:solidFill>
            <a:srgbClr val="F7FAFD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3438144"/>
            <a:ext cx="813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Found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51192" y="3300984"/>
            <a:ext cx="1874519" cy="713232"/>
          </a:xfrm>
          <a:prstGeom prst="rect">
            <a:avLst/>
          </a:prstGeom>
          <a:solidFill>
            <a:srgbClr val="F7FAFD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24344" y="3438144"/>
            <a:ext cx="1728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Compose runtime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25712" y="3300984"/>
            <a:ext cx="1143000" cy="713232"/>
          </a:xfrm>
          <a:prstGeom prst="rect">
            <a:avLst/>
          </a:prstGeom>
          <a:solidFill>
            <a:srgbClr val="F7FAFD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98864" y="3438144"/>
            <a:ext cx="996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Arch.pdf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68712" y="3300984"/>
            <a:ext cx="1051560" cy="713232"/>
          </a:xfrm>
          <a:prstGeom prst="rect">
            <a:avLst/>
          </a:prstGeom>
          <a:solidFill>
            <a:srgbClr val="F7FAFD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41864" y="3438144"/>
            <a:ext cx="905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2A37"/>
                </a:solidFill>
                <a:latin typeface="Noto Sans Thai"/>
              </a:defRPr>
            </a:pPr>
            <a:r>
              <a:t>High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16552" y="4014216"/>
            <a:ext cx="1874519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9704" y="4151376"/>
            <a:ext cx="1728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Customer-specific requirement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91072" y="4014216"/>
            <a:ext cx="9601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64224" y="4151376"/>
            <a:ext cx="813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C33737"/>
                </a:solidFill>
                <a:latin typeface="Noto Sans Thai"/>
              </a:defRPr>
            </a:pPr>
            <a:r>
              <a:t>Not found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51192" y="4014216"/>
            <a:ext cx="1874519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24344" y="4151376"/>
            <a:ext cx="17282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25712" y="4014216"/>
            <a:ext cx="1143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98864" y="4151376"/>
            <a:ext cx="996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68712" y="4014216"/>
            <a:ext cx="10515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41864" y="4151376"/>
            <a:ext cx="905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C33737"/>
                </a:solidFill>
                <a:latin typeface="Noto Sans Thai"/>
              </a:defRPr>
            </a:pPr>
            <a:r>
              <a:t>Gap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715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37EDA"/>
                </a:solidFill>
                <a:latin typeface="Noto Sans Thai"/>
              </a:defRPr>
            </a:pPr>
            <a:r>
              <a:t>Benefit: Evaluate requirements systematically, expose evidence and gaps, and reduce unsupported conclusions.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2C6DA"/>
                </a:solidFill>
                <a:latin typeface="Noto Sans Thai"/>
              </a:defRPr>
            </a:pPr>
            <a: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Thai"/>
              </a:defRPr>
            </a:pPr>
            <a:r>
              <a:t>Security and Governance Built into the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2C6DA"/>
                </a:solidFill>
                <a:latin typeface="Noto Sans Thai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64792"/>
            <a:ext cx="3456432" cy="155448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1"/>
            <a:ext cx="566928" cy="347472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93391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78024"/>
            <a:ext cx="29992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AE6F1"/>
                </a:solidFill>
                <a:latin typeface="Noto Sans Thai"/>
              </a:defRPr>
            </a:pPr>
            <a:r>
              <a:t>Local users + Microsoft Entra ID</a:t>
            </a:r>
            <a:br/>
            <a:r>
              <a:t>with secure super-admin bootstrap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764792"/>
            <a:ext cx="3456432" cy="155448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09159" y="1993391"/>
            <a:ext cx="566928" cy="347472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993391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478024"/>
            <a:ext cx="29992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AE6F1"/>
                </a:solidFill>
                <a:latin typeface="Noto Sans Thai"/>
              </a:defRPr>
            </a:pPr>
            <a:r>
              <a:t>Team, Data Group, Personal/Global ACLs</a:t>
            </a:r>
            <a:br/>
            <a:r>
              <a:t>enforced for retrieval and citation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764792"/>
            <a:ext cx="3456432" cy="155448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31352" y="1993391"/>
            <a:ext cx="566928" cy="347472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1993391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SECRETS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478024"/>
            <a:ext cx="29992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AE6F1"/>
                </a:solidFill>
                <a:latin typeface="Noto Sans Thai"/>
              </a:defRPr>
            </a:pPr>
            <a:r>
              <a:t>Fernet encryption for provider keys</a:t>
            </a:r>
            <a:br/>
            <a:r>
              <a:t>secrets are never returned to the frontend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39311"/>
            <a:ext cx="3456432" cy="155448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3867911"/>
            <a:ext cx="566928" cy="347472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867911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352544"/>
            <a:ext cx="29992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AE6F1"/>
                </a:solidFill>
                <a:latin typeface="Noto Sans Thai"/>
              </a:defRPr>
            </a:pPr>
            <a:r>
              <a:t>Allowlist, timeout, call limit</a:t>
            </a:r>
            <a:br/>
            <a:r>
              <a:t>read-only database enforcement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639311"/>
            <a:ext cx="3456432" cy="155448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09159" y="3867911"/>
            <a:ext cx="566928" cy="347472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3867911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4352544"/>
            <a:ext cx="29992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AE6F1"/>
                </a:solidFill>
                <a:latin typeface="Noto Sans Thai"/>
              </a:defRPr>
            </a:pPr>
            <a:r>
              <a:t>Trace model and tool activity</a:t>
            </a:r>
            <a:br/>
            <a:r>
              <a:t>without persisting raw prompts or outputs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2752" y="3639311"/>
            <a:ext cx="3456432" cy="155448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31352" y="3867911"/>
            <a:ext cx="566928" cy="347472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1352" y="3867911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ISOLATION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4352544"/>
            <a:ext cx="299923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AE6F1"/>
                </a:solidFill>
                <a:latin typeface="Noto Sans Thai"/>
              </a:defRPr>
            </a:pPr>
            <a:r>
              <a:t>History and attachments isolated by user,</a:t>
            </a:r>
            <a:br/>
            <a:r>
              <a:t>conversation, and data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8704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Thai"/>
              </a:defRPr>
            </a:pPr>
            <a:r>
              <a:t>Designed for enterprise control — security contracts are never weakened for convenience.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6AEC6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MODEL FLEXIBILITY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Choose the Right Model and Provider for Every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10835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F2A37"/>
                </a:solidFill>
                <a:latin typeface="Noto Sans Thai"/>
              </a:defRPr>
            </a:pPr>
            <a:r>
              <a:t>Avoid a one-model-fits-all approach — separate chat, embedding, and processing providers.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68880"/>
            <a:ext cx="3456432" cy="2240280"/>
          </a:xfrm>
          <a:prstGeom prst="roundRect">
            <a:avLst/>
          </a:prstGeom>
          <a:solidFill>
            <a:srgbClr val="E8F3FF"/>
          </a:solidFill>
          <a:ln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24912"/>
            <a:ext cx="29992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EDA"/>
                </a:solidFill>
                <a:latin typeface="Noto Sans Thai"/>
              </a:defRPr>
            </a:pPr>
            <a:r>
              <a:t>Cloud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76148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Azure OpenAI</a:t>
            </a:r>
            <a:br/>
            <a:r>
              <a:t>OpenAI</a:t>
            </a:r>
            <a:br/>
            <a:r>
              <a:t>Gemini</a:t>
            </a:r>
            <a:br/>
            <a:r>
              <a:t>Anthropic</a:t>
            </a:r>
            <a:br/>
            <a:r>
              <a:t>OpenRouter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468880"/>
            <a:ext cx="3456432" cy="2240280"/>
          </a:xfrm>
          <a:prstGeom prst="roundRect">
            <a:avLst/>
          </a:prstGeom>
          <a:solidFill>
            <a:srgbClr val="E9F8F0"/>
          </a:solidFill>
          <a:ln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724912"/>
            <a:ext cx="29992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C8E5B"/>
                </a:solidFill>
                <a:latin typeface="Noto Sans Thai"/>
              </a:defRPr>
            </a:pPr>
            <a:r>
              <a:t>Local / Private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3246120"/>
            <a:ext cx="276148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Ollama</a:t>
            </a:r>
            <a:br/>
            <a:r>
              <a:t>vLLM</a:t>
            </a:r>
            <a:br/>
            <a:r>
              <a:t>LocalAI</a:t>
            </a:r>
            <a:br/>
            <a:r>
              <a:t>OpenAI-compatible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2468880"/>
            <a:ext cx="3456432" cy="2240280"/>
          </a:xfrm>
          <a:prstGeom prst="roundRect">
            <a:avLst/>
          </a:prstGeom>
          <a:solidFill>
            <a:srgbClr val="FFF4E5"/>
          </a:solidFill>
          <a:ln>
            <a:solidFill>
              <a:srgbClr val="D8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2724912"/>
            <a:ext cx="29992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8218"/>
                </a:solidFill>
                <a:latin typeface="Noto Sans Thai"/>
              </a:defRPr>
            </a:pPr>
            <a:r>
              <a:t>Specialized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0224" y="3246120"/>
            <a:ext cx="276148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Groq</a:t>
            </a:r>
            <a:br/>
            <a:r>
              <a:t>Mistral</a:t>
            </a:r>
            <a:br/>
            <a:r>
              <a:t>DeepSeek</a:t>
            </a:r>
            <a:br/>
            <a:r>
              <a:t>Together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184648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515600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A37"/>
                </a:solidFill>
                <a:latin typeface="Noto Sans Thai"/>
              </a:defRPr>
            </a:pPr>
            <a:r>
              <a:t>The portal tests tool-calling and vision capabilities before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535168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25440"/>
            <a:ext cx="10515600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A37"/>
                </a:solidFill>
                <a:latin typeface="Noto Sans Thai"/>
              </a:defRPr>
            </a:pPr>
            <a:r>
              <a:t>Select models per agent to balance cost, latency, privacy, and quality.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885688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75960"/>
            <a:ext cx="10515600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F2A37"/>
                </a:solidFill>
                <a:latin typeface="Noto Sans Thai"/>
              </a:defRPr>
            </a:pPr>
            <a:r>
              <a:t>Change providers while preserving agents, ACLs, and the Knowledge architecture.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Flexible Deployment: Azure, Local, or Hybrid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33375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F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3337560" cy="658368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3337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Noto Sans Thai"/>
              </a:defRPr>
            </a:pPr>
            <a:r>
              <a:t>AZURE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834640"/>
            <a:ext cx="2642616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1F2A37"/>
                </a:solidFill>
                <a:latin typeface="Noto Sans Thai"/>
              </a:defRPr>
            </a:pPr>
            <a:r>
              <a:t>Azure OpenAI</a:t>
            </a:r>
            <a:br/>
            <a:r>
              <a:t>Azure AI Search</a:t>
            </a:r>
            <a:br/>
            <a:r>
              <a:t>Blob / Cosmos-compatible</a:t>
            </a:r>
            <a:br/>
            <a:r>
              <a:t>Entra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828800"/>
            <a:ext cx="33375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F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07992" y="1828800"/>
            <a:ext cx="3337560" cy="658368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828800"/>
            <a:ext cx="3337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Noto Sans Thai"/>
              </a:defRPr>
            </a:pPr>
            <a:r>
              <a:t>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2834640"/>
            <a:ext cx="2642616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1F2A37"/>
                </a:solidFill>
                <a:latin typeface="Noto Sans Thai"/>
              </a:defRPr>
            </a:pPr>
            <a:r>
              <a:t>Docker Compose</a:t>
            </a:r>
            <a:br/>
            <a:r>
              <a:t>MongoDB + MinIO</a:t>
            </a:r>
            <a:br/>
            <a:r>
              <a:t>Qdrant + Ollama/BGE-M3</a:t>
            </a:r>
            <a:br/>
            <a:r>
              <a:t>Local Authentication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828800"/>
            <a:ext cx="33375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F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02752" y="1828800"/>
            <a:ext cx="3337560" cy="658368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828800"/>
            <a:ext cx="3337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Noto Sans Thai"/>
              </a:defRPr>
            </a:pPr>
            <a:r>
              <a:t>HYBRID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0224" y="2834640"/>
            <a:ext cx="2642616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1F2A37"/>
                </a:solidFill>
                <a:latin typeface="Noto Sans Thai"/>
              </a:defRPr>
            </a:pPr>
            <a:r>
              <a:t>Local data plane</a:t>
            </a:r>
            <a:br/>
            <a:r>
              <a:t>Cloud or local LLMs</a:t>
            </a:r>
            <a:br/>
            <a:r>
              <a:t>selected per agent</a:t>
            </a:r>
            <a:br/>
            <a:r>
              <a:t>and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349240"/>
            <a:ext cx="10744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237EDA"/>
                </a:solidFill>
                <a:latin typeface="Noto Sans Thai"/>
              </a:defRPr>
            </a:pPr>
            <a:r>
              <a:t>Clean provider interfaces preserve Azure behavior while enabling self-hosted deployment.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High-Value Use Cases to Start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55648"/>
            <a:ext cx="3474720" cy="162763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755648"/>
            <a:ext cx="82296" cy="1627632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1984248"/>
            <a:ext cx="566928" cy="36576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8424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5681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Enterprise 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05456"/>
            <a:ext cx="290779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Answer policy, manual, and internal knowledge questions with citations.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3" y="1755648"/>
            <a:ext cx="3474720" cy="162763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3" y="1755648"/>
            <a:ext cx="82296" cy="1627632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0015" y="1984248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5" y="198424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195681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RFP /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2505456"/>
            <a:ext cx="290779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Compare requirements with Knowledge evidence and identify gaps.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1755648"/>
            <a:ext cx="3474720" cy="162763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5" y="1755648"/>
            <a:ext cx="82296" cy="1627632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22207" y="1984248"/>
            <a:ext cx="566928" cy="365760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7" y="198424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1" y="195681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IT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8783" y="2505456"/>
            <a:ext cx="290779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Search monitors and logs through MCP, summarize incidents, and recommend next steps.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749039"/>
            <a:ext cx="3474720" cy="162763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" y="3749039"/>
            <a:ext cx="82296" cy="1627632"/>
          </a:xfrm>
          <a:prstGeom prst="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7824" y="3977639"/>
            <a:ext cx="566928" cy="365760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3977639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950207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Data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98847"/>
            <a:ext cx="290779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Query governed databases, summarize results, and generate charts.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3983" y="3749039"/>
            <a:ext cx="3474720" cy="162763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43983" y="3749039"/>
            <a:ext cx="82296" cy="1627632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00015" y="3977639"/>
            <a:ext cx="566928" cy="36576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0015" y="3977639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59" y="3950207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Presales Copilot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6591" y="4498847"/>
            <a:ext cx="290779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Find product knowledge and create source-verifiable responses.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66175" y="3749039"/>
            <a:ext cx="3474720" cy="162763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66175" y="3749039"/>
            <a:ext cx="82296" cy="1627632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22207" y="3977639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7" y="3977639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1" y="3950207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Workflow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8783" y="4498847"/>
            <a:ext cx="290779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Invoke APIs, mail, messaging, and sub-agents under tool policy.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2C6DA"/>
                </a:solidFill>
                <a:latin typeface="Noto Sans Thai"/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Thai"/>
              </a:defRPr>
            </a:pPr>
            <a:r>
              <a:t>Business Benefits Connected to Measurable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2C6DA"/>
                </a:solidFill>
                <a:latin typeface="Noto Sans Thai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64792"/>
            <a:ext cx="1965960" cy="713232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1965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PRODUCTIVITY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10512"/>
            <a:ext cx="5120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Thai"/>
              </a:defRPr>
            </a:pPr>
            <a:r>
              <a:t>Reduce time spent searching, summarizing, and recreating answers.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82880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>
                <a:solidFill>
                  <a:srgbClr val="AFCCE7"/>
                </a:solidFill>
                <a:latin typeface="Noto Sans Thai"/>
              </a:defRPr>
            </a:pPr>
            <a:r>
              <a:t>Measure: average time per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43784"/>
            <a:ext cx="1965960" cy="713232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43784"/>
            <a:ext cx="1965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889503"/>
            <a:ext cx="5120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Thai"/>
              </a:defRPr>
            </a:pPr>
            <a:r>
              <a:t>Deliver evidence-backed answers and make knowledge gaps 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907791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>
                <a:solidFill>
                  <a:srgbClr val="AFCCE7"/>
                </a:solidFill>
                <a:latin typeface="Noto Sans Thai"/>
              </a:defRPr>
            </a:pPr>
            <a:r>
              <a:t>Measure: acceptance and rework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22776"/>
            <a:ext cx="1965960" cy="713232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1965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968496"/>
            <a:ext cx="5120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Thai"/>
              </a:defRPr>
            </a:pPr>
            <a:r>
              <a:t>Manage data, agent, and tool permissions centrally.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986784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>
                <a:solidFill>
                  <a:srgbClr val="AFCCE7"/>
                </a:solidFill>
                <a:latin typeface="Noto Sans Thai"/>
              </a:defRPr>
            </a:pPr>
            <a:r>
              <a:t>Measure: policy violations and audit coverage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001768"/>
            <a:ext cx="1965960" cy="713232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01768"/>
            <a:ext cx="1965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FLEXIBILITY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047488"/>
            <a:ext cx="5120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Noto Sans Thai"/>
              </a:defRPr>
            </a:pPr>
            <a:r>
              <a:t>Choose models and deployment modes according to workload needs.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5065776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>
                <a:solidFill>
                  <a:srgbClr val="AFCCE7"/>
                </a:solidFill>
                <a:latin typeface="Noto Sans Thai"/>
              </a:defRPr>
            </a:pPr>
            <a:r>
              <a:t>Measure: cost per task and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7BBDE"/>
                </a:solidFill>
                <a:latin typeface="Noto Sans Thai"/>
              </a:defRPr>
            </a:pPr>
            <a:r>
              <a:t>Establish the customer baseline and validate pilot results before claiming ROI — no invented numbers.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6AEC6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A Low-Risk Path to Adoption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2487168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27048" y="2267712"/>
            <a:ext cx="749808" cy="749808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7048" y="226771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19751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37EDA"/>
                </a:solidFill>
                <a:latin typeface="Noto Sans Thai"/>
              </a:defRPr>
            </a:pPr>
            <a: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886200"/>
            <a:ext cx="193852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Select 1–2 use cases</a:t>
            </a:r>
            <a:br/>
            <a:r>
              <a:t>Define data, ACLs, and 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5536" y="3072384"/>
            <a:ext cx="338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1965960"/>
            <a:ext cx="2487168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1688" y="2267712"/>
            <a:ext cx="749808" cy="749808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26771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310128"/>
            <a:ext cx="19751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7BBDE"/>
                </a:solidFill>
                <a:latin typeface="Noto Sans Thai"/>
              </a:defRPr>
            </a:pPr>
            <a:r>
              <a:t>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886200"/>
            <a:ext cx="193852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Connect real data</a:t>
            </a:r>
            <a:br/>
            <a:r>
              <a:t>Configure agents and 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3072384"/>
            <a:ext cx="338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1965960"/>
            <a:ext cx="2487168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96328" y="2267712"/>
            <a:ext cx="749808" cy="749808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6328" y="226771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10128"/>
            <a:ext cx="19751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8218"/>
                </a:solidFill>
                <a:latin typeface="Noto Sans Thai"/>
              </a:defRPr>
            </a:pPr>
            <a: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886200"/>
            <a:ext cx="193852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User Acceptance</a:t>
            </a:r>
            <a:br/>
            <a:r>
              <a:t>Security &amp; KPI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4816" y="3072384"/>
            <a:ext cx="338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62288" y="1965960"/>
            <a:ext cx="2487168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5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30968" y="2267712"/>
            <a:ext cx="749808" cy="749808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0968" y="226771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Thai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310128"/>
            <a:ext cx="19751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C8E5B"/>
                </a:solidFill>
                <a:latin typeface="Noto Sans Thai"/>
              </a:defRPr>
            </a:pPr>
            <a: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3886200"/>
            <a:ext cx="193852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Production hardening</a:t>
            </a:r>
            <a:br/>
            <a:r>
              <a:t>Operations &amp; Enablement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5458968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" y="5349240"/>
            <a:ext cx="10469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Run the pilot with scoped production-like data and named data owners.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5788152"/>
            <a:ext cx="100584" cy="10058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5678424"/>
            <a:ext cx="10469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2A37"/>
                </a:solidFill>
                <a:latin typeface="Noto Sans Thai"/>
              </a:defRPr>
            </a:pPr>
            <a:r>
              <a:t>Production scope includes TLS, backup/restore, monitoring, capacity, and a support model.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Why InsightSphere for Enterprise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64792"/>
            <a:ext cx="5230368" cy="10972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64792"/>
            <a:ext cx="82296" cy="1097280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93392"/>
            <a:ext cx="566928" cy="36576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1965960"/>
            <a:ext cx="4087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Evidence-first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514600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Citations, page evidence, and gaps are designed into the workflow — not added later.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764792"/>
            <a:ext cx="5230368" cy="10972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8" y="1764792"/>
            <a:ext cx="82296" cy="1097280"/>
          </a:xfrm>
          <a:prstGeom prst="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60" y="1993392"/>
            <a:ext cx="566928" cy="365760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93392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1965960"/>
            <a:ext cx="4087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Access-aware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2514600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Team and Data Group ACLs span ingestion, retrieval, and citation authorization.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54680"/>
            <a:ext cx="5230368" cy="10972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154680"/>
            <a:ext cx="82296" cy="1097280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3383280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3832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3355848"/>
            <a:ext cx="4087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Agentic but governed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3904488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Agents invoke real tools under policy, permission, and audit controls.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1928" y="3154680"/>
            <a:ext cx="5230368" cy="10972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81928" y="3154680"/>
            <a:ext cx="82296" cy="1097280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7960" y="3383280"/>
            <a:ext cx="566928" cy="365760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3832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2904" y="3355848"/>
            <a:ext cx="4087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Provider-neutral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36" y="3904488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Move between cloud, local, and hybrid providers without rebuilding the platform.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44568"/>
            <a:ext cx="5230368" cy="10972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544568"/>
            <a:ext cx="82296" cy="1097280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4773168"/>
            <a:ext cx="566928" cy="36576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77316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9344" y="4745736"/>
            <a:ext cx="4087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Built for 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" y="5294376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Admin portal, model capability testing, persistent jobs, and recovery.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1928" y="4544568"/>
            <a:ext cx="5230368" cy="10972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81928" y="4544568"/>
            <a:ext cx="82296" cy="1097280"/>
          </a:xfrm>
          <a:prstGeom prst="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37960" y="4773168"/>
            <a:ext cx="566928" cy="365760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77316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2904" y="4745736"/>
            <a:ext cx="4087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Expandable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74536" y="5294376"/>
            <a:ext cx="4663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MCP, LangGraph, sub-agents, and provider adapters support future growth.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943600"/>
            <a:ext cx="10835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EDA"/>
                </a:solidFill>
                <a:latin typeface="Noto Sans Thai"/>
              </a:defRPr>
            </a:pPr>
            <a:r>
              <a:t>One platform. Your data. Your model choice. Your governance.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2743200" cy="7326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1645920"/>
            <a:ext cx="81381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Noto Sans Thai"/>
              </a:defRPr>
            </a:pPr>
            <a:r>
              <a:t>Start with a High-Value Use Case</a:t>
            </a:r>
            <a:br/>
            <a:r>
              <a:t>Then Scale into an Enterprise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46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7BBDE"/>
                </a:solidFill>
                <a:latin typeface="Noto Sans Thai"/>
              </a:defRPr>
            </a:pPr>
            <a:r>
              <a:t>Recommended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3904488"/>
            <a:ext cx="100584" cy="100584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3794760"/>
            <a:ext cx="7543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Noto Sans Thai"/>
              </a:defRPr>
            </a:pPr>
            <a:r>
              <a:t>Workshop: Use cases, data scope, security, and KPIs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4407408"/>
            <a:ext cx="100584" cy="100584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4297680"/>
            <a:ext cx="7543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Noto Sans Thai"/>
              </a:defRPr>
            </a:pPr>
            <a:r>
              <a:t>Technical assessment: deployment and integrations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4910328"/>
            <a:ext cx="100584" cy="100584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800600"/>
            <a:ext cx="7543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Noto Sans Thai"/>
              </a:defRPr>
            </a:pPr>
            <a:r>
              <a:t>Pilot plan: scope, users, timeline, and success criteria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874519"/>
            <a:ext cx="2103120" cy="210312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874519"/>
            <a:ext cx="21031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Thai"/>
              </a:defRPr>
            </a:pPr>
            <a:r>
              <a:t>LET'S</a:t>
            </a:r>
            <a:br/>
            <a:r>
              <a:t>BUILD</a:t>
            </a:r>
            <a:br/>
            <a:r>
              <a:t>TRUSTED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9893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A8C2DB"/>
                </a:solidFill>
                <a:latin typeface="Noto Sans Tha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BACKUP |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Capacity Planning Starts with Concurrent Workload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09928"/>
            <a:ext cx="10835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F2A37"/>
                </a:solidFill>
                <a:latin typeface="Noto Sans Thai"/>
              </a:defRPr>
            </a:pPr>
            <a:r>
              <a:t>Account count is not the same as simultaneous AI workload.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2496312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706624"/>
            <a:ext cx="1005840" cy="347472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706624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REGISTERED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24612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F2A37"/>
                </a:solidFill>
                <a:latin typeface="Noto Sans Thai"/>
              </a:defRPr>
            </a:pPr>
            <a:r>
              <a:t>Total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749039"/>
            <a:ext cx="2057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07080"/>
                </a:solidFill>
                <a:latin typeface="Noto Sans Thai"/>
              </a:defRPr>
            </a:pPr>
            <a:r>
              <a:t>Plan identity and</a:t>
            </a:r>
            <a:br/>
            <a:r>
              <a:t>long-term data volume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2487168"/>
            <a:ext cx="2496312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2706624"/>
            <a:ext cx="1005840" cy="347472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706624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4612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F2A37"/>
                </a:solidFill>
                <a:latin typeface="Noto Sans Thai"/>
              </a:defRPr>
            </a:pPr>
            <a:r>
              <a:t>Active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49039"/>
            <a:ext cx="2057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07080"/>
                </a:solidFill>
                <a:latin typeface="Noto Sans Thai"/>
              </a:defRPr>
            </a:pPr>
            <a:r>
              <a:t>Measure daily/monthly activity</a:t>
            </a:r>
            <a:br/>
            <a:r>
              <a:t>and usage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2487168"/>
            <a:ext cx="2496312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73952" y="2706624"/>
            <a:ext cx="1005840" cy="347472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706624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CONCURRENT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24612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F2A37"/>
                </a:solidFill>
                <a:latin typeface="Noto Sans Thai"/>
              </a:defRPr>
            </a:pPr>
            <a:r>
              <a:t>In-flight requests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749039"/>
            <a:ext cx="2057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07080"/>
                </a:solidFill>
                <a:latin typeface="Noto Sans Thai"/>
              </a:defRPr>
            </a:pPr>
            <a:r>
              <a:t>Size app replicas,</a:t>
            </a:r>
            <a:br/>
            <a:r>
              <a:t>connections, and queues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2487168"/>
            <a:ext cx="2496312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8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90304" y="2706624"/>
            <a:ext cx="1005840" cy="347472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4" y="2706624"/>
            <a:ext cx="1005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Noto Sans Thai"/>
              </a:defRPr>
            </a:pPr>
            <a:r>
              <a:t>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3246120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F2A37"/>
                </a:solidFill>
                <a:latin typeface="Noto Sans Thai"/>
              </a:defRPr>
            </a:pPr>
            <a:r>
              <a:t>Concurrent LLM generations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3749039"/>
            <a:ext cx="2057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07080"/>
                </a:solidFill>
                <a:latin typeface="Noto Sans Thai"/>
              </a:defRPr>
            </a:pPr>
            <a:r>
              <a:t>Size GPU slots</a:t>
            </a:r>
            <a:br/>
            <a:r>
              <a:t>or cloud quota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956048"/>
            <a:ext cx="10835640" cy="841248"/>
          </a:xfrm>
          <a:prstGeom prst="roundRect">
            <a:avLst/>
          </a:prstGeom>
          <a:solidFill>
            <a:srgbClr val="E8F3FF"/>
          </a:solidFill>
          <a:ln>
            <a:solidFill>
              <a:srgbClr val="C1D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148072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37EDA"/>
                </a:solidFill>
                <a:latin typeface="Noto Sans Thai"/>
              </a:defRPr>
            </a:pPr>
            <a:r>
              <a:t>Estimated capacity = peak concurrent requests × processing time × context and tool workload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25312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07080"/>
                </a:solidFill>
                <a:latin typeface="Noto Sans Thai"/>
              </a:defRPr>
            </a:pPr>
            <a:r>
              <a:t>These figures are planning baselines—validate them with the actual use case, model, and load test.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BACKUP |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Hardware Sizing Baseline for Local and Hybrid Deployments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1600200" cy="530352"/>
          </a:xfrm>
          <a:prstGeom prst="rect">
            <a:avLst/>
          </a:prstGeom>
          <a:solidFill>
            <a:srgbClr val="12243A"/>
          </a:solidFill>
          <a:ln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73936"/>
            <a:ext cx="1453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7128" y="1664208"/>
            <a:ext cx="2834640" cy="530352"/>
          </a:xfrm>
          <a:prstGeom prst="rect">
            <a:avLst/>
          </a:prstGeom>
          <a:solidFill>
            <a:srgbClr val="12243A"/>
          </a:solidFill>
          <a:ln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773936"/>
            <a:ext cx="26883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Compute / Memory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1768" y="1664208"/>
            <a:ext cx="2971800" cy="530352"/>
          </a:xfrm>
          <a:prstGeom prst="rect">
            <a:avLst/>
          </a:prstGeom>
          <a:solidFill>
            <a:srgbClr val="12243A"/>
          </a:solidFill>
          <a:ln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773936"/>
            <a:ext cx="2825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Storage / GPU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664208"/>
            <a:ext cx="3749039" cy="530352"/>
          </a:xfrm>
          <a:prstGeom prst="rect">
            <a:avLst/>
          </a:prstGeom>
          <a:solidFill>
            <a:srgbClr val="12243A"/>
          </a:solidFill>
          <a:ln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773936"/>
            <a:ext cx="360273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Thai"/>
              </a:defRPr>
            </a:pPr>
            <a:r>
              <a:t>Indicative capacity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94560"/>
            <a:ext cx="16002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313432"/>
            <a:ext cx="13807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7EDA"/>
                </a:solidFill>
                <a:latin typeface="Noto Sans Thai"/>
              </a:defRPr>
            </a:pPr>
            <a:r>
              <a:t>Dev / Demo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7128" y="2194560"/>
            <a:ext cx="283464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76856" y="2313432"/>
            <a:ext cx="2615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4–8 vCPU</a:t>
            </a:r>
            <a:br/>
            <a:r>
              <a:t>RAM 16 GB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1768" y="2194560"/>
            <a:ext cx="29718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1496" y="2313432"/>
            <a:ext cx="27523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SSD 200 GB</a:t>
            </a:r>
            <a:br/>
            <a:r>
              <a:t>GPU optional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73568" y="2194560"/>
            <a:ext cx="3749039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313432"/>
            <a:ext cx="352958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1–5 concurrent users</a:t>
            </a:r>
            <a:br/>
            <a:r>
              <a:t>Development and demos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090672"/>
            <a:ext cx="1600200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209544"/>
            <a:ext cx="13807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7EDA"/>
                </a:solidFill>
                <a:latin typeface="Noto Sans Thai"/>
              </a:defRPr>
            </a:pPr>
            <a:r>
              <a:t>Pilot</a:t>
            </a:r>
            <a:br/>
            <a:r>
              <a:t>Cloud LLM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67128" y="3090672"/>
            <a:ext cx="2834640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76856" y="3209544"/>
            <a:ext cx="2615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8 vCPU</a:t>
            </a:r>
            <a:br/>
            <a:r>
              <a:t>RAM 32 GB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01768" y="3090672"/>
            <a:ext cx="2971800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1496" y="3209544"/>
            <a:ext cx="27523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NVMe 500 GB</a:t>
            </a:r>
            <a:br/>
            <a:r>
              <a:t>Cloud-hosted LLM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73568" y="3090672"/>
            <a:ext cx="3749039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3209544"/>
            <a:ext cx="352958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Approx. 10–30 concurrent chats</a:t>
            </a:r>
            <a:br/>
            <a:r>
              <a:t>Depends on provider quota and 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986783"/>
            <a:ext cx="16002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4105655"/>
            <a:ext cx="13807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7EDA"/>
                </a:solidFill>
                <a:latin typeface="Noto Sans Thai"/>
              </a:defRPr>
            </a:pPr>
            <a:r>
              <a:t>Pilot</a:t>
            </a:r>
            <a:br/>
            <a:r>
              <a:t>Local LLM 8B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67128" y="3986783"/>
            <a:ext cx="283464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76856" y="4105655"/>
            <a:ext cx="2615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8–16 vCPU</a:t>
            </a:r>
            <a:br/>
            <a:r>
              <a:t>RAM 32–64 GB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1768" y="3986783"/>
            <a:ext cx="297180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11496" y="4105655"/>
            <a:ext cx="27523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NVMe 500 GB+</a:t>
            </a:r>
            <a:br/>
            <a:r>
              <a:t>GPU VRAM 16–24 GB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73568" y="3986783"/>
            <a:ext cx="3749039" cy="896112"/>
          </a:xfrm>
          <a:prstGeom prst="rect">
            <a:avLst/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3296" y="4105655"/>
            <a:ext cx="352958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1–2 concurrent local generations</a:t>
            </a:r>
            <a:br/>
            <a:r>
              <a:t>Light or staggered usage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882896"/>
            <a:ext cx="1600200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5001768"/>
            <a:ext cx="13807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7EDA"/>
                </a:solidFill>
                <a:latin typeface="Noto Sans Thai"/>
              </a:defRPr>
            </a:pPr>
            <a:r>
              <a:t>Department / HA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67128" y="4882896"/>
            <a:ext cx="2834640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76856" y="5001768"/>
            <a:ext cx="2615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2+ app nodes</a:t>
            </a:r>
            <a:br/>
            <a:r>
              <a:t>4–8 vCPU / 16 GB each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1768" y="4882896"/>
            <a:ext cx="2971800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11496" y="5001768"/>
            <a:ext cx="27523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Dedicated stateful services</a:t>
            </a:r>
            <a:br/>
            <a:r>
              <a:t>and GPU inference nodes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73568" y="4882896"/>
            <a:ext cx="3749039" cy="896112"/>
          </a:xfrm>
          <a:prstGeom prst="rect">
            <a:avLst/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83296" y="5001768"/>
            <a:ext cx="352958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Approx. 30–100 concurrent users</a:t>
            </a:r>
            <a:br/>
            <a:r>
              <a:t>after load-test validation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961888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07080"/>
                </a:solidFill>
                <a:latin typeface="Noto Sans Thai"/>
              </a:defRPr>
            </a:pPr>
            <a:r>
              <a:t>Storage must include source documents, vector indexes, chat and attachment retention, and backups.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_spher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2C6DA"/>
                </a:solidFill>
                <a:latin typeface="Noto Sans Thai"/>
              </a:defRPr>
            </a:pPr>
            <a:r>
              <a:t>BACKUP |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Thai"/>
              </a:defRPr>
            </a:pPr>
            <a:r>
              <a:t>From a Single-Node Pilot to Production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2C6DA"/>
                </a:solidFill>
                <a:latin typeface="Noto Sans Thai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7BBDE"/>
                </a:solidFill>
                <a:latin typeface="Noto Sans Thai"/>
              </a:defRPr>
            </a:pPr>
            <a:r>
              <a:t>CURRENT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3886200" cy="324612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100584" cy="100584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450592"/>
            <a:ext cx="315468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Thai"/>
              </a:defRPr>
            </a:pPr>
            <a:r>
              <a:t>Single-host Compose with no automatic failover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81528"/>
            <a:ext cx="100584" cy="100584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971800"/>
            <a:ext cx="315468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Thai"/>
              </a:defRPr>
            </a:pPr>
            <a:r>
              <a:t>Single Hypercorn application process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02736"/>
            <a:ext cx="100584" cy="100584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93008"/>
            <a:ext cx="315468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Thai"/>
              </a:defRPr>
            </a:pPr>
            <a:r>
              <a:t>Ollama parallel = 1 limits local LLM throughput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23944"/>
            <a:ext cx="100584" cy="100584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014216"/>
            <a:ext cx="315468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Thai"/>
              </a:defRPr>
            </a:pPr>
            <a:r>
              <a:t>MongoDB, MinIO, and Qdrant are single instances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645152"/>
            <a:ext cx="100584" cy="100584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535424"/>
            <a:ext cx="315468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oto Sans Thai"/>
              </a:defRPr>
            </a:pPr>
            <a:r>
              <a:t>Ingestion runs in the app, limited to three jobs per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29184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27BBDE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17373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7BBDE"/>
                </a:solidFill>
                <a:latin typeface="Noto Sans Thai"/>
              </a:defRPr>
            </a:pPr>
            <a:r>
              <a:t>TARGET PRODUCTION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13248" y="2148840"/>
            <a:ext cx="2697480" cy="1353312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96128" y="2331720"/>
            <a:ext cx="91440" cy="987552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24728" y="233172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Noto Sans Thai"/>
              </a:defRPr>
            </a:pPr>
            <a:r>
              <a:t>INGRESS +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277063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5D8EA"/>
                </a:solidFill>
                <a:latin typeface="Noto Sans Thai"/>
              </a:defRPr>
            </a:pPr>
            <a:r>
              <a:t>Load balancer with 2+ app replicas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5048" y="2148840"/>
            <a:ext cx="2697480" cy="1353312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67928" y="2331720"/>
            <a:ext cx="91440" cy="987552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33172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Noto Sans Thai"/>
              </a:defRPr>
            </a:pPr>
            <a:r>
              <a:t>ASYNC 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277063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5D8EA"/>
                </a:solidFill>
                <a:latin typeface="Noto Sans Thai"/>
              </a:defRPr>
            </a:pPr>
            <a:r>
              <a:t>Dedicated queues for OCR, ingestion, and cleanup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13248" y="3776472"/>
            <a:ext cx="2697480" cy="1353312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96128" y="3959352"/>
            <a:ext cx="91440" cy="987552"/>
          </a:xfrm>
          <a:prstGeom prst="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24728" y="395935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Noto Sans Thai"/>
              </a:defRPr>
            </a:pPr>
            <a:r>
              <a:t>SHARED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24728" y="4398264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5D8EA"/>
                </a:solidFill>
                <a:latin typeface="Noto Sans Thai"/>
              </a:defRPr>
            </a:pPr>
            <a:r>
              <a:t>Mongo replica, Object storage, Qdrant replication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85048" y="3776472"/>
            <a:ext cx="2697480" cy="1353312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67928" y="3959352"/>
            <a:ext cx="91440" cy="987552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96528" y="395935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Noto Sans Thai"/>
              </a:defRPr>
            </a:pPr>
            <a:r>
              <a:t>INFERENCE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398264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5D8EA"/>
                </a:solidFill>
                <a:latin typeface="Noto Sans Thai"/>
              </a:defRPr>
            </a:pPr>
            <a:r>
              <a:t>Cloud quota or a GPU pool with vLLM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" y="58704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7BBDE"/>
                </a:solidFill>
                <a:latin typeface="Noto Sans Thai"/>
              </a:defRPr>
            </a:pPr>
            <a:r>
              <a:t>Scale triggers: p95 latency, queue depth, provider throttling, GPU utilization, and ingestion backlog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6AEC6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FEATURE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Enterprise AI Guardrails and Usage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00784"/>
            <a:ext cx="10835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Policy inheritance keeps every team and agent within the enterprise minimum.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33375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331720"/>
            <a:ext cx="82296" cy="1298448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560320"/>
            <a:ext cx="566928" cy="36576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9344" y="253288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Enterprise minimum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081528"/>
            <a:ext cx="2770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Cannot be weakened downstream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5928" y="2688336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331720"/>
            <a:ext cx="33375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331720"/>
            <a:ext cx="82296" cy="1298448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45152" y="2560320"/>
            <a:ext cx="566928" cy="365760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25603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53288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Team-specific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081528"/>
            <a:ext cx="2770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May enforce stricter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688336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2331720"/>
            <a:ext cx="33375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9872" y="2331720"/>
            <a:ext cx="82296" cy="1298448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75904" y="2560320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5904" y="25603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AGENT /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2532888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Workload-level limits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081528"/>
            <a:ext cx="2770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Narrower settings and quotas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1148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3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4315968"/>
            <a:ext cx="29352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33737"/>
                </a:solidFill>
                <a:latin typeface="Noto Sans Thai"/>
              </a:defRPr>
            </a:pPr>
            <a:r>
              <a:t>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736592"/>
            <a:ext cx="28620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Prompt injection • Secrets • PII/DLP • Content safety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1148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4315968"/>
            <a:ext cx="29352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C8E5B"/>
                </a:solidFill>
                <a:latin typeface="Noto Sans Thai"/>
              </a:defRPr>
            </a:pPr>
            <a:r>
              <a:t>USAGE QUOTAS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864" y="4736592"/>
            <a:ext cx="28620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Tokens • Provider/model rules • Document pages • Requests/min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2" y="41148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315968"/>
            <a:ext cx="293522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37EDA"/>
                </a:solidFill>
                <a:latin typeface="Noto Sans Thai"/>
              </a:defRPr>
            </a:pPr>
            <a:r>
              <a:t>PRIVACY-SAFE 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4736592"/>
            <a:ext cx="28620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F2A37"/>
                </a:solidFill>
                <a:latin typeface="Noto Sans Thai"/>
              </a:defRPr>
            </a:pPr>
            <a:r>
              <a:t>Trace and enforcement metadata without raw prompts or outputs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" y="5815584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7EDA"/>
                </a:solidFill>
                <a:latin typeface="Noto Sans Thai"/>
              </a:defRPr>
            </a:pPr>
            <a:r>
              <a:t>Atomic reservations and idempotent metering reduce quota overshoot across application replicas.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B2C6DA"/>
                </a:solidFill>
                <a:latin typeface="Noto Sans Thai"/>
              </a:defRPr>
            </a:pPr>
            <a:r>
              <a:t>FEATURE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Thai"/>
              </a:defRPr>
            </a:pPr>
            <a:r>
              <a:t>Team-Scoped Integration and MCP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2C6DA"/>
                </a:solidFill>
                <a:latin typeface="Noto Sans Thai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91640"/>
            <a:ext cx="10835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Noto Sans Thai"/>
              </a:defRPr>
            </a:pPr>
            <a:r>
              <a:t>Multiple connections per provider—isolated by Team and assignable only to authorized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95728"/>
            <a:ext cx="2450592" cy="1078992"/>
          </a:xfrm>
          <a:prstGeom prst="roundRect">
            <a:avLst/>
          </a:prstGeom>
          <a:solidFill>
            <a:srgbClr val="182F48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587752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37EDA"/>
                </a:solidFill>
                <a:latin typeface="Noto Sans Thai"/>
              </a:defRPr>
            </a:pPr>
            <a:r>
              <a:t>ADMIN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90088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Noto Sans Thai"/>
              </a:defRPr>
            </a:pPr>
            <a:r>
              <a:t>Create as Unassigned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706624"/>
            <a:ext cx="3474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7BBDE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395728"/>
            <a:ext cx="2450592" cy="1078992"/>
          </a:xfrm>
          <a:prstGeom prst="roundRect">
            <a:avLst/>
          </a:prstGeom>
          <a:solidFill>
            <a:srgbClr val="182F48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2587752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7BBDE"/>
                </a:solidFill>
                <a:latin typeface="Noto Sans Thai"/>
              </a:defRPr>
            </a:pPr>
            <a:r>
              <a:t>TEAM 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990088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Noto Sans Thai"/>
              </a:defRPr>
            </a:pPr>
            <a:r>
              <a:t>Assign once to one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706624"/>
            <a:ext cx="3474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7BBDE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395728"/>
            <a:ext cx="2450592" cy="1078992"/>
          </a:xfrm>
          <a:prstGeom prst="roundRect">
            <a:avLst/>
          </a:prstGeom>
          <a:solidFill>
            <a:srgbClr val="182F4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587752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8218"/>
                </a:solidFill>
                <a:latin typeface="Noto Sans Thai"/>
              </a:defRPr>
            </a:pPr>
            <a:r>
              <a:t>AGENT BINDING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990088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Noto Sans Thai"/>
              </a:defRPr>
            </a:pPr>
            <a:r>
              <a:t>Select approved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2706624"/>
            <a:ext cx="3474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7BBDE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7424" y="2395728"/>
            <a:ext cx="2450592" cy="1078992"/>
          </a:xfrm>
          <a:prstGeom prst="roundRect">
            <a:avLst/>
          </a:prstGeom>
          <a:solidFill>
            <a:srgbClr val="182F48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6" y="2587752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8E5B"/>
                </a:solidFill>
                <a:latin typeface="Noto Sans Thai"/>
              </a:defRPr>
            </a:pPr>
            <a:r>
              <a:t>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2990088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Noto Sans Thai"/>
              </a:defRPr>
            </a:pPr>
            <a:r>
              <a:t>Reject cross-Team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77639"/>
            <a:ext cx="2450592" cy="141732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7" y="4187952"/>
            <a:ext cx="91440" cy="987552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160520"/>
            <a:ext cx="1847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8218"/>
                </a:solidFill>
                <a:latin typeface="Noto Sans Thai"/>
              </a:defRPr>
            </a:pPr>
            <a:r>
              <a:t>DATADOG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590288"/>
            <a:ext cx="184708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Noto Sans Thai"/>
              </a:defRPr>
            </a:pPr>
            <a:r>
              <a:t>Multiple tenants and sites</a:t>
            </a:r>
            <a:br/>
            <a:r>
              <a:t>Bearer or API/Application keys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977639"/>
            <a:ext cx="2450592" cy="141732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0" y="4187952"/>
            <a:ext cx="91440" cy="987552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67911" y="4160520"/>
            <a:ext cx="1847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7EDA"/>
                </a:solidFill>
                <a:latin typeface="Noto Sans Thai"/>
              </a:defRPr>
            </a:pPr>
            <a:r>
              <a:t>MICROSOFT AZURE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67911" y="4590288"/>
            <a:ext cx="184708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Noto Sans Thai"/>
              </a:defRPr>
            </a:pPr>
            <a:r>
              <a:t>Managed local or external MCP</a:t>
            </a:r>
            <a:br/>
            <a:r>
              <a:t>Read-only inventory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3977639"/>
            <a:ext cx="2450592" cy="141732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73952" y="4187952"/>
            <a:ext cx="91440" cy="987552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84264" y="4160520"/>
            <a:ext cx="1847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BBDE"/>
                </a:solidFill>
                <a:latin typeface="Noto Sans Thai"/>
              </a:defRPr>
            </a:pPr>
            <a:r>
              <a:t>DRAW.IO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84264" y="4590288"/>
            <a:ext cx="184708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Noto Sans Thai"/>
              </a:defRPr>
            </a:pPr>
            <a:r>
              <a:t>Hosted MCP connection</a:t>
            </a:r>
            <a:br/>
            <a:r>
              <a:t>Downloadable diagram artifacts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07424" y="3977639"/>
            <a:ext cx="2450592" cy="1417320"/>
          </a:xfrm>
          <a:prstGeom prst="roundRect">
            <a:avLst/>
          </a:prstGeom>
          <a:solidFill>
            <a:srgbClr val="182F48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90304" y="4187952"/>
            <a:ext cx="91440" cy="987552"/>
          </a:xfrm>
          <a:prstGeom prst="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0616" y="4160520"/>
            <a:ext cx="1847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C8E5B"/>
                </a:solidFill>
                <a:latin typeface="Noto Sans Thai"/>
              </a:defRPr>
            </a:pPr>
            <a:r>
              <a:t>ENTERPRISE SYSTEMS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0616" y="4590288"/>
            <a:ext cx="184708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Noto Sans Thai"/>
              </a:defRPr>
            </a:pPr>
            <a:r>
              <a:t>REST • Database • Mail</a:t>
            </a:r>
            <a:br/>
            <a:r>
              <a:t>Messaging • Sub-agents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852160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7BBDE"/>
                </a:solidFill>
                <a:latin typeface="Noto Sans Thai"/>
              </a:defRPr>
            </a:pPr>
            <a:r>
              <a:t>Encrypted credentials • Tool discovery • Allowlists • Timeouts • Server-enforced ownership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6AEC6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FEATURE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Azure Inventory to Draw.io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10835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Turn live Azure inventory into an editable architecture artifact—with evidence preserved.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514600"/>
            <a:ext cx="192024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2724912"/>
            <a:ext cx="694944" cy="438912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24912"/>
            <a:ext cx="69494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Noto Sans Tha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35584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37EDA"/>
                </a:solidFill>
                <a:latin typeface="Noto Sans Thai"/>
              </a:defRPr>
            </a:pPr>
            <a:r>
              <a:t>AZURE TENANT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767328"/>
            <a:ext cx="15910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Subscription and</a:t>
            </a:r>
            <a:br/>
            <a:r>
              <a:t>resource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" y="3236976"/>
            <a:ext cx="3931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62072" y="2514600"/>
            <a:ext cx="192024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2724912"/>
            <a:ext cx="694944" cy="438912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724912"/>
            <a:ext cx="69494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Noto Sans Tha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335584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7BBDE"/>
                </a:solidFill>
                <a:latin typeface="Noto Sans Thai"/>
              </a:defRPr>
            </a:pPr>
            <a:r>
              <a:t>AZURE 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4" y="3767328"/>
            <a:ext cx="15910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Managed local container</a:t>
            </a:r>
            <a:br/>
            <a:r>
              <a:t>Read-only tool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236976"/>
            <a:ext cx="3931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93792" y="2514600"/>
            <a:ext cx="192024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06440" y="2724912"/>
            <a:ext cx="694944" cy="438912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724912"/>
            <a:ext cx="69494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Noto Sans Tha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2" y="335584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8218"/>
                </a:solidFill>
                <a:latin typeface="Noto Sans Thai"/>
              </a:defRPr>
            </a:pPr>
            <a:r>
              <a:t>AZURE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3" y="3767328"/>
            <a:ext cx="15910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Classify resources</a:t>
            </a:r>
            <a:br/>
            <a:r>
              <a:t>and relationships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1" y="3236976"/>
            <a:ext cx="3931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1" y="2514600"/>
            <a:ext cx="192024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59" y="2724912"/>
            <a:ext cx="694944" cy="438912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59" y="2724912"/>
            <a:ext cx="69494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Noto Sans Tha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1" y="335584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C8E5B"/>
                </a:solidFill>
                <a:latin typeface="Noto Sans Thai"/>
              </a:defRPr>
            </a:pPr>
            <a:r>
              <a:t>DRAW.IO MCP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3" y="3767328"/>
            <a:ext cx="15910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Generate valid XML</a:t>
            </a:r>
            <a:br/>
            <a:r>
              <a:t>with Azure icons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1" y="3236976"/>
            <a:ext cx="3931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607080"/>
                </a:solidFill>
                <a:latin typeface="Noto Sans Tha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57232" y="2514600"/>
            <a:ext cx="192024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469880" y="2724912"/>
            <a:ext cx="694944" cy="438912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69880" y="2724912"/>
            <a:ext cx="69494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Noto Sans Tha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4392" y="335584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37EDA"/>
                </a:solidFill>
                <a:latin typeface="Noto Sans Thai"/>
              </a:defRPr>
            </a:pPr>
            <a:r>
              <a:t>ARTIFACT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21824" y="3767328"/>
            <a:ext cx="15910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F2A37"/>
                </a:solidFill>
                <a:latin typeface="Noto Sans Thai"/>
              </a:defRPr>
            </a:pPr>
            <a:r>
              <a:t>Download and edit</a:t>
            </a:r>
            <a:br/>
            <a:r>
              <a:t>.drawio file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892040"/>
            <a:ext cx="10835640" cy="841248"/>
          </a:xfrm>
          <a:prstGeom prst="roundRect">
            <a:avLst/>
          </a:prstGeom>
          <a:solidFill>
            <a:srgbClr val="E8F3FF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102352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37EDA"/>
                </a:solidFill>
                <a:latin typeface="Noto Sans Thai"/>
              </a:defRPr>
            </a:pPr>
            <a:r>
              <a:t>Solid connectors = evidenced relationships  •  Dashed connectors = explicitly labelled inferred relationships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916168"/>
            <a:ext cx="10744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07080"/>
                </a:solidFill>
                <a:latin typeface="Noto Sans Thai"/>
              </a:defRPr>
            </a:pPr>
            <a:r>
              <a:t>Current scope is intentionally read-only: inventory and diagram generation do not provision or modify Azure resources.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2057400" cy="5494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64040" y="28346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07080"/>
                </a:solidFill>
                <a:latin typeface="Noto Sans Thai"/>
              </a:defRPr>
            </a:pPr>
            <a:r>
              <a:t>FEATURE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F2A37"/>
                </a:solidFill>
                <a:latin typeface="Noto Sans Thai"/>
              </a:defRPr>
            </a:pPr>
            <a:r>
              <a:t>Durable Operations: History, Ingestion,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685800" cy="54864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37392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07080"/>
                </a:solidFill>
                <a:latin typeface="Noto Sans Thai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55648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755648"/>
            <a:ext cx="82296" cy="1508760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1984248"/>
            <a:ext cx="566928" cy="36576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8424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5681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DATABASE CHAT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05456"/>
            <a:ext cx="29077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Owner-isolated conversations persist across browser sessions and devices.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3" y="1755648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3" y="1755648"/>
            <a:ext cx="82296" cy="1508760"/>
          </a:xfrm>
          <a:prstGeom prst="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0015" y="1984248"/>
            <a:ext cx="566928" cy="365760"/>
          </a:xfrm>
          <a:prstGeom prst="roundRect">
            <a:avLst/>
          </a:prstGeom>
          <a:solidFill>
            <a:srgbClr val="27BBDE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5" y="198424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195681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RETENTION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2505456"/>
            <a:ext cx="29077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System policy: 30/90/180/365 days or no expiry. Teams may choose a shorter period.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1755648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5" y="1755648"/>
            <a:ext cx="82296" cy="1508760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22207" y="1984248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7" y="198424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1" y="195681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COMPLETE DELETION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8783" y="2505456"/>
            <a:ext cx="29077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Manual or scheduled cleanup removes messages, citations, artifacts, attachments, and metadata.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630168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" y="3630168"/>
            <a:ext cx="82296" cy="1508760"/>
          </a:xfrm>
          <a:prstGeom prst="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7824" y="3858768"/>
            <a:ext cx="566928" cy="365760"/>
          </a:xfrm>
          <a:prstGeom prst="roundRect">
            <a:avLst/>
          </a:prstGeom>
          <a:solidFill>
            <a:srgbClr val="1C8E5B"/>
          </a:solidFill>
          <a:ln>
            <a:solidFill>
              <a:srgbClr val="1C8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385876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8313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PERSISTENT INGESTION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379976"/>
            <a:ext cx="29077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Mongo-backed jobs track extraction, chunking, embedding, indexing, failure, and retry.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3983" y="3630168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43983" y="3630168"/>
            <a:ext cx="82296" cy="1508760"/>
          </a:xfrm>
          <a:prstGeom prst="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00015" y="3858768"/>
            <a:ext cx="566928" cy="365760"/>
          </a:xfrm>
          <a:prstGeom prst="roundRect">
            <a:avLst/>
          </a:prstGeom>
          <a:solidFill>
            <a:srgbClr val="237EDA"/>
          </a:solidFill>
          <a:ln>
            <a:solidFill>
              <a:srgbClr val="237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0015" y="385876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59" y="38313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RESTART RECOVERY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6591" y="4379976"/>
            <a:ext cx="29077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Worker leases and recovery scans resume interrupted document and attachment processing.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66175" y="3630168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66175" y="3630168"/>
            <a:ext cx="82296" cy="1508760"/>
          </a:xfrm>
          <a:prstGeom prst="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22207" y="3858768"/>
            <a:ext cx="566928" cy="365760"/>
          </a:xfrm>
          <a:prstGeom prst="roundRect">
            <a:avLst/>
          </a:prstGeom>
          <a:solidFill>
            <a:srgbClr val="FF8218"/>
          </a:solidFill>
          <a:ln>
            <a:solidFill>
              <a:srgbClr val="FF8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7" y="3858768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Thai"/>
              </a:defRPr>
            </a:pPr>
            <a: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1" y="3831336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F2A37"/>
                </a:solidFill>
                <a:latin typeface="Noto Sans Thai"/>
              </a:defRPr>
            </a:pPr>
            <a:r>
              <a:t>CONSISTENT BACKUP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8783" y="4379976"/>
            <a:ext cx="290779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Noto Sans Thai"/>
              </a:defRPr>
            </a:pPr>
            <a:r>
              <a:t>A versioned local archive captures MongoDB, MinIO, and Qdrant with checksums.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96128"/>
            <a:ext cx="10835640" cy="530352"/>
          </a:xfrm>
          <a:prstGeom prst="roundRect">
            <a:avLst/>
          </a:prstGeom>
          <a:solidFill>
            <a:srgbClr val="E6FAFC"/>
          </a:solidFill>
          <a:ln>
            <a:solidFill>
              <a:srgbClr val="27B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715000"/>
            <a:ext cx="10378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F2A37"/>
                </a:solidFill>
                <a:latin typeface="Noto Sans Thai"/>
              </a:defRPr>
            </a:pPr>
            <a:r>
              <a:t>Deletion audit stores who, when, reason, and counts—never deleted prompts, responses, citations, or diagram XML.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41908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794A0"/>
                </a:solidFill>
                <a:latin typeface="Noto Sans Thai"/>
              </a:defRPr>
            </a:pPr>
            <a:r>
              <a:t>InsightSphere | Enterprise AI Agent &amp; Knowledge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